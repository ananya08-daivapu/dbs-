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28.xml" ContentType="application/vnd.openxmlformats-officedocument.presentationml.slide+xml"/>
  <Override PartName="/ppt/slides/slide1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4" r:id="rId35"/>
    <p:sldId id="258" r:id="rId4"/>
    <p:sldId id="259" r:id="rId5"/>
    <p:sldId id="260" r:id="rId6"/>
    <p:sldId id="276" r:id="rId22"/>
    <p:sldId id="277" r:id="rId23"/>
    <p:sldId id="273" r:id="rId19"/>
    <p:sldId id="266" r:id="rId12"/>
    <p:sldId id="271" r:id="rId17"/>
    <p:sldId id="268" r:id="rId14"/>
    <p:sldId id="267" r:id="rId13"/>
    <p:sldId id="264" r:id="rId10"/>
    <p:sldId id="272" r:id="rId18"/>
    <p:sldId id="278" r:id="rId24"/>
    <p:sldId id="279" r:id="rId25"/>
    <p:sldId id="265" r:id="rId11"/>
    <p:sldId id="285" r:id="rId36"/>
    <p:sldId id="262" r:id="rId8"/>
    <p:sldId id="286" r:id="rId37"/>
    <p:sldId id="280" r:id="rId26"/>
    <p:sldId id="281" r:id="rId27"/>
    <p:sldId id="282" r:id="rId28"/>
    <p:sldId id="291" r:id="rId98"/>
    <p:sldId id="290" r:id="rId9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  <Relationship Id="rId35" Type="http://schemas.openxmlformats.org/officeDocument/2006/relationships/slide" Target="slides/slide29.xml"/>
  <Relationship Id="rId36" Type="http://schemas.openxmlformats.org/officeDocument/2006/relationships/slide" Target="slides/slide30.xml"/>
  <Relationship Id="rId37" Type="http://schemas.openxmlformats.org/officeDocument/2006/relationships/slide" Target="slides/slide31.xml"/>
<Relationship Id="rId99" Type="http://schemas.openxmlformats.org/officeDocument/2006/relationships/slide" Target="slides/slide28.xml"/><Relationship Id="rId98" Type="http://schemas.openxmlformats.org/officeDocument/2006/relationships/slide" Target="slides/slide1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KLH logo sits in the slide master header, so it appears on every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73152"/>
            <a:ext cx="1097280" cy="576072"/>
          </a:xfrm>
          <a:prstGeom prst="rect">
            <a:avLst>
              <a:gd name="adj" fmla="val 9524"/>
            </a:avLst>
          </a:prstGeom>
          <a:solidFill>
            <a:srgbClr val="FFFFFF"/>
          </a:solidFill>
          <a:ln/>
        </p:spPr>
      </p:sp>
      <p:pic>
        <p:nvPicPr>
          <p:cNvPr id="3" name="Image 0" descr="/mnt/user-data/uploads/1790226834432_image.png">    </p:cNvPr>
          <p:cNvPicPr>
            <a:picLocks noChangeAspect="1"/>
          </p:cNvPicPr>
          <p:nvPr/>
        </p:nvPicPr>
        <p:blipFill>
          <a:blip r:embed="rId1"/>
          <a:stretch>
            <a:fillRect/>
          </a:stretch>
        </p:blipFill>
        <p:spPr>
          <a:xfrm>
            <a:off x="365760" y="86868"/>
            <a:ext cx="1005840" cy="546811"/>
          </a:xfrm>
          <a:prstGeom prst="rect">
            <a:avLst/>
          </a:prstGeom>
        </p:spPr>
      </p:pic>
      <p:sp>
        <p:nvSpPr>
          <p:cNvPr id="4" name="Text 1"/>
          <p:cNvSpPr/>
          <p:nvPr/>
        </p:nvSpPr>
        <p:spPr>
          <a:xfrm>
            <a:off x="1554480" y="155448"/>
            <a:ext cx="4206240" cy="25603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Koneru Lakshmaiah Education Foundation</a:t>
            </a:r>
            <a:endParaRPr lang="en-US" sz="1200" dirty="0"/>
          </a:p>
        </p:txBody>
      </p:sp>
      <p:sp>
        <p:nvSpPr>
          <p:cNvPr id="5" name="Text 2"/>
          <p:cNvSpPr/>
          <p:nvPr/>
        </p:nvSpPr>
        <p:spPr>
          <a:xfrm>
            <a:off x="1554480" y="393192"/>
            <a:ext cx="4206240" cy="20116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Project Based Learning  ·  Project Review</a:t>
            </a:r>
            <a:endParaRPr lang="en-US" sz="1000" dirty="0"/>
          </a:p>
        </p:txBody>
      </p:sp>
      <p:sp>
        <p:nvSpPr>
          <p:cNvPr id="6" name="Text 3"/>
          <p:cNvSpPr/>
          <p:nvPr/>
        </p:nvSpPr>
        <p:spPr>
          <a:xfrm>
            <a:off x="457200" y="4818888"/>
            <a:ext cx="6400800" cy="201168"/>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Hostel Management System  |  Section 13 · Team 2  |  25CS1302E</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320040" y="73152"/>
            <a:ext cx="1097280" cy="576072"/>
          </a:xfrm>
          <a:prstGeom prst="rect">
            <a:avLst>
              <a:gd name="adj" fmla="val 9524"/>
            </a:avLst>
          </a:prstGeom>
          <a:solidFill>
            <a:srgbClr val="FFFFFF"/>
          </a:solidFill>
          <a:ln/>
        </p:spPr>
      </p:sp>
      <p:pic>
        <p:nvPicPr>
          <p:cNvPr id="3" name="Image 0" descr="/mnt/user-data/uploads/1790226834432_image.png">    </p:cNvPr>
          <p:cNvPicPr>
            <a:picLocks noChangeAspect="1"/>
          </p:cNvPicPr>
          <p:nvPr/>
        </p:nvPicPr>
        <p:blipFill>
          <a:blip r:embed="rId1"/>
          <a:stretch>
            <a:fillRect/>
          </a:stretch>
        </p:blipFill>
        <p:spPr>
          <a:xfrm>
            <a:off x="365760" y="86868"/>
            <a:ext cx="1005840" cy="546811"/>
          </a:xfrm>
          <a:prstGeom prst="rect">
            <a:avLst/>
          </a:prstGeom>
        </p:spPr>
      </p:pic>
      <p:sp>
        <p:nvSpPr>
          <p:cNvPr id="4" name="Text 1"/>
          <p:cNvSpPr/>
          <p:nvPr/>
        </p:nvSpPr>
        <p:spPr>
          <a:xfrm>
            <a:off x="1554480" y="155448"/>
            <a:ext cx="42062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Koneru Lakshmaiah Education Foundation</a:t>
            </a:r>
            <a:endParaRPr lang="en-US" sz="1200" dirty="0"/>
          </a:p>
        </p:txBody>
      </p:sp>
      <p:sp>
        <p:nvSpPr>
          <p:cNvPr id="5" name="Text 2"/>
          <p:cNvSpPr/>
          <p:nvPr/>
        </p:nvSpPr>
        <p:spPr>
          <a:xfrm>
            <a:off x="1554480" y="393192"/>
            <a:ext cx="4206240" cy="201168"/>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Project Based Learning  ·  Project Review</a:t>
            </a:r>
            <a:endParaRPr lang="en-US" sz="1000" dirty="0"/>
          </a:p>
        </p:txBody>
      </p:sp>
      <p:sp>
        <p:nvSpPr>
          <p:cNvPr id="6" name="Text 3"/>
          <p:cNvSpPr/>
          <p:nvPr/>
        </p:nvSpPr>
        <p:spPr>
          <a:xfrm>
            <a:off x="457200" y="4818888"/>
            <a:ext cx="6400800" cy="201168"/>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Smart Hostel Management System  |  Section 13 · Team 2  |  25CS1302E</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3.xml"/><Relationship Id="rId9"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2.xml"/><Relationship Id="rId1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2.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2.xml"/><Relationship Id="rId1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2.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2.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3.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833872" y="219456"/>
            <a:ext cx="2852928" cy="274320"/>
          </a:xfrm>
          <a:prstGeom prst="roundRect">
            <a:avLst>
              <a:gd name="adj" fmla="val 50000"/>
            </a:avLst>
          </a:prstGeom>
          <a:solidFill>
            <a:srgbClr val="2F6DB5"/>
          </a:solidFill>
          <a:ln/>
        </p:spPr>
      </p:sp>
      <p:sp>
        <p:nvSpPr>
          <p:cNvPr id="3" name="Text 1"/>
          <p:cNvSpPr txBox="1"/>
          <p:nvPr/>
        </p:nvSpPr>
        <p:spPr>
          <a:xfrm>
            <a:off x="5833872" y="219456"/>
            <a:ext cx="28529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 REVIEW · PROPOSED SYSTEM</a:t>
            </a:r>
            <a:endParaRPr lang="en-US" sz="1000" dirty="0"/>
          </a:p>
        </p:txBody>
      </p:sp>
      <p:sp>
        <p:nvSpPr>
          <p:cNvPr id="5" name="Text 2"/>
          <p:cNvSpPr txBox="1"/>
          <p:nvPr/>
        </p:nvSpPr>
        <p:spPr>
          <a:xfrm>
            <a:off x="548640" y="914400"/>
            <a:ext cx="5303520" cy="11887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SMART HOSTEL</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MANAGEMENT SYSTEM</a:t>
            </a:r>
            <a:endParaRPr lang="en-US" sz="3000" dirty="0"/>
          </a:p>
        </p:txBody>
      </p:sp>
      <p:sp>
        <p:nvSpPr>
          <p:cNvPr id="6" name="Text 3"/>
          <p:cNvSpPr txBox="1"/>
          <p:nvPr/>
        </p:nvSpPr>
        <p:spPr>
          <a:xfrm>
            <a:off x="548640" y="2194560"/>
            <a:ext cx="5120640" cy="50292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Database Systems Engineering and Distributed Backend Development</a:t>
            </a:r>
            <a:endParaRPr lang="en-US" sz="1400" dirty="0"/>
          </a:p>
        </p:txBody>
      </p:sp>
      <p:sp>
        <p:nvSpPr>
          <p:cNvPr id="7" name="Text 4"/>
          <p:cNvSpPr txBox="1"/>
          <p:nvPr/>
        </p:nvSpPr>
        <p:spPr>
          <a:xfrm>
            <a:off x="548640" y="2788920"/>
            <a:ext cx="5120640" cy="777240"/>
          </a:xfrm>
          <a:prstGeom prst="rect">
            <a:avLst/>
          </a:prstGeom>
          <a:noFill/>
          <a:ln/>
        </p:spPr>
        <p:txBody>
          <a:bodyPr wrap="square" lIns="0" tIns="0" rIns="0" bIns="0" rtlCol="0" anchor="t"/>
          <a:lstStyle/>
          <a:p>
            <a:pPr indent="0" marL="0">
              <a:spcAft>
                <a:spcPts val="300"/>
              </a:spcAft>
              <a:buNone/>
            </a:pPr>
            <a:r>
              <a:rPr lang="en-US" sz="1250" b="1" dirty="0">
                <a:solidFill>
                  <a:srgbClr val="FFFFFF"/>
                </a:solidFill>
                <a:latin typeface="Calibri" pitchFamily="34" charset="0"/>
                <a:ea typeface="Calibri" pitchFamily="34" charset="-122"/>
                <a:cs typeface="Calibri" pitchFamily="34" charset="-120"/>
              </a:rPr>
              <a:t>Course Code: 25CS1302E</a:t>
            </a:r>
            <a:endParaRPr lang="en-US" sz="1250" dirty="0"/>
          </a:p>
          <a:p>
            <a:pPr indent="0" marL="0">
              <a:spcAft>
                <a:spcPts val="300"/>
              </a:spcAft>
              <a:buNone/>
            </a:pPr>
            <a:r>
              <a:rPr lang="en-US" sz="1250" dirty="0">
                <a:solidFill>
                  <a:srgbClr val="CADCFC"/>
                </a:solidFill>
                <a:latin typeface="Calibri" pitchFamily="34" charset="0"/>
                <a:ea typeface="Calibri" pitchFamily="34" charset="-122"/>
                <a:cs typeface="Calibri" pitchFamily="34" charset="-120"/>
              </a:rPr>
              <a:t>Koneru Lakshmaiah Education Foundation</a:t>
            </a:r>
            <a:endParaRPr lang="en-US" sz="1250" dirty="0"/>
          </a:p>
          <a:p>
            <a:pPr indent="0" marL="0">
              <a:spcAft>
                <a:spcPts val="300"/>
              </a:spcAft>
              <a:buNone/>
            </a:pPr>
            <a:r>
              <a:rPr lang="en-US" sz="1250" dirty="0">
                <a:solidFill>
                  <a:srgbClr val="CADCFC"/>
                </a:solidFill>
                <a:latin typeface="Calibri" pitchFamily="34" charset="0"/>
                <a:ea typeface="Calibri" pitchFamily="34" charset="-122"/>
                <a:cs typeface="Calibri" pitchFamily="34" charset="-120"/>
              </a:rPr>
              <a:t>Section No: 13   |   Team No: 2</a:t>
            </a:r>
            <a:endParaRPr lang="en-US" sz="1250" dirty="0"/>
          </a:p>
        </p:txBody>
      </p:sp>
      <p:sp>
        <p:nvSpPr>
          <p:cNvPr id="8" name="Shape 5"/>
          <p:cNvSpPr/>
          <p:nvPr/>
        </p:nvSpPr>
        <p:spPr>
          <a:xfrm>
            <a:off x="548640" y="3749040"/>
            <a:ext cx="1691640" cy="777240"/>
          </a:xfrm>
          <a:prstGeom prst="roundRect">
            <a:avLst>
              <a:gd name="adj" fmla="val 9412"/>
            </a:avLst>
          </a:prstGeom>
          <a:solidFill>
            <a:srgbClr val="12335F"/>
          </a:solidFill>
          <a:ln/>
        </p:spPr>
      </p:sp>
      <p:sp>
        <p:nvSpPr>
          <p:cNvPr id="9" name="Text 6"/>
          <p:cNvSpPr txBox="1"/>
          <p:nvPr/>
        </p:nvSpPr>
        <p:spPr>
          <a:xfrm>
            <a:off x="658368" y="3840480"/>
            <a:ext cx="146304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Ananya</a:t>
            </a:r>
            <a:endParaRPr lang="en-US" sz="1300" dirty="0"/>
          </a:p>
        </p:txBody>
      </p:sp>
      <p:sp>
        <p:nvSpPr>
          <p:cNvPr id="10" name="Text 7"/>
          <p:cNvSpPr txBox="1"/>
          <p:nvPr/>
        </p:nvSpPr>
        <p:spPr>
          <a:xfrm>
            <a:off x="658368" y="4133088"/>
            <a:ext cx="1463040" cy="2743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2520090011</a:t>
            </a:r>
            <a:endParaRPr lang="en-US" sz="1200" dirty="0"/>
          </a:p>
        </p:txBody>
      </p:sp>
      <p:sp>
        <p:nvSpPr>
          <p:cNvPr id="11" name="Shape 8"/>
          <p:cNvSpPr/>
          <p:nvPr/>
        </p:nvSpPr>
        <p:spPr>
          <a:xfrm>
            <a:off x="2331720" y="3749040"/>
            <a:ext cx="1691640" cy="777240"/>
          </a:xfrm>
          <a:prstGeom prst="roundRect">
            <a:avLst>
              <a:gd name="adj" fmla="val 9412"/>
            </a:avLst>
          </a:prstGeom>
          <a:solidFill>
            <a:srgbClr val="12335F"/>
          </a:solidFill>
          <a:ln/>
        </p:spPr>
      </p:sp>
      <p:sp>
        <p:nvSpPr>
          <p:cNvPr id="12" name="Text 9"/>
          <p:cNvSpPr txBox="1"/>
          <p:nvPr/>
        </p:nvSpPr>
        <p:spPr>
          <a:xfrm>
            <a:off x="2441448" y="3840480"/>
            <a:ext cx="146304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B. Srivalli</a:t>
            </a:r>
            <a:endParaRPr lang="en-US" sz="1300" dirty="0"/>
          </a:p>
        </p:txBody>
      </p:sp>
      <p:sp>
        <p:nvSpPr>
          <p:cNvPr id="13" name="Text 10"/>
          <p:cNvSpPr txBox="1"/>
          <p:nvPr/>
        </p:nvSpPr>
        <p:spPr>
          <a:xfrm>
            <a:off x="2441448" y="4133088"/>
            <a:ext cx="1463040" cy="2743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2520090220</a:t>
            </a:r>
            <a:endParaRPr lang="en-US" sz="1200" dirty="0"/>
          </a:p>
        </p:txBody>
      </p:sp>
      <p:sp>
        <p:nvSpPr>
          <p:cNvPr id="14" name="Shape 11"/>
          <p:cNvSpPr/>
          <p:nvPr/>
        </p:nvSpPr>
        <p:spPr>
          <a:xfrm>
            <a:off x="4114800" y="3749040"/>
            <a:ext cx="1691640" cy="777240"/>
          </a:xfrm>
          <a:prstGeom prst="roundRect">
            <a:avLst>
              <a:gd name="adj" fmla="val 9412"/>
            </a:avLst>
          </a:prstGeom>
          <a:solidFill>
            <a:srgbClr val="12335F"/>
          </a:solidFill>
          <a:ln/>
        </p:spPr>
      </p:sp>
      <p:sp>
        <p:nvSpPr>
          <p:cNvPr id="15" name="Text 12"/>
          <p:cNvSpPr txBox="1"/>
          <p:nvPr/>
        </p:nvSpPr>
        <p:spPr>
          <a:xfrm>
            <a:off x="4224528" y="3840480"/>
            <a:ext cx="146304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Shanmukhi</a:t>
            </a:r>
            <a:endParaRPr lang="en-US" sz="1300" dirty="0"/>
          </a:p>
        </p:txBody>
      </p:sp>
      <p:sp>
        <p:nvSpPr>
          <p:cNvPr id="16" name="Text 13"/>
          <p:cNvSpPr txBox="1"/>
          <p:nvPr/>
        </p:nvSpPr>
        <p:spPr>
          <a:xfrm>
            <a:off x="4224528" y="4133088"/>
            <a:ext cx="1463040" cy="2743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2520090076</a:t>
            </a:r>
            <a:endParaRPr lang="en-US" sz="1200" dirty="0"/>
          </a:p>
        </p:txBody>
      </p:sp>
      <p:sp>
        <p:nvSpPr>
          <p:cNvPr id="17" name="Shape 14"/>
          <p:cNvSpPr/>
          <p:nvPr/>
        </p:nvSpPr>
        <p:spPr>
          <a:xfrm>
            <a:off x="5760720" y="1463040"/>
            <a:ext cx="2651760" cy="2651760"/>
          </a:xfrm>
          <a:prstGeom prst="ellipse">
            <a:avLst/>
          </a:prstGeom>
          <a:ln w="15875">
            <a:solidFill>
              <a:srgbClr val="3B6FB0"/>
            </a:solidFill>
            <a:prstDash val="dash"/>
          </a:ln>
        </p:spPr>
      </p:sp>
      <p:sp>
        <p:nvSpPr>
          <p:cNvPr id="18" name="Shape 15"/>
          <p:cNvSpPr/>
          <p:nvPr/>
        </p:nvSpPr>
        <p:spPr>
          <a:xfrm>
            <a:off x="6172200" y="1874520"/>
            <a:ext cx="1828800" cy="1828800"/>
          </a:xfrm>
          <a:prstGeom prst="ellipse">
            <a:avLst/>
          </a:prstGeom>
          <a:solidFill>
            <a:srgbClr val="12335F"/>
          </a:solidFill>
          <a:ln/>
        </p:spPr>
      </p:sp>
      <p:sp>
        <p:nvSpPr>
          <p:cNvPr id="19" name="Shape 16"/>
          <p:cNvSpPr/>
          <p:nvPr/>
        </p:nvSpPr>
        <p:spPr>
          <a:xfrm>
            <a:off x="6583680" y="2286000"/>
            <a:ext cx="1005840" cy="1005840"/>
          </a:xfrm>
          <a:prstGeom prst="ellipse">
            <a:avLst/>
          </a:prstGeom>
          <a:solidFill>
            <a:srgbClr val="2F6DB5"/>
          </a:solidFill>
          <a:ln/>
        </p:spPr>
      </p:sp>
      <p:pic>
        <p:nvPicPr>
          <p:cNvPr id="20" name="Image 0" descr="preencoded.png">    </p:cNvPr>
          <p:cNvPicPr>
            <a:picLocks noChangeAspect="1"/>
          </p:cNvPicPr>
          <p:nvPr/>
        </p:nvPicPr>
        <p:blipFill>
          <a:blip r:embed="rId1"/>
          <a:stretch>
            <a:fillRect/>
          </a:stretch>
        </p:blipFill>
        <p:spPr>
          <a:xfrm>
            <a:off x="6825082" y="2527402"/>
            <a:ext cx="523037" cy="523037"/>
          </a:xfrm>
          <a:prstGeom prst="rect">
            <a:avLst/>
          </a:prstGeom>
        </p:spPr>
      </p:pic>
      <p:sp>
        <p:nvSpPr>
          <p:cNvPr id="21" name="Shape 17"/>
          <p:cNvSpPr/>
          <p:nvPr/>
        </p:nvSpPr>
        <p:spPr>
          <a:xfrm>
            <a:off x="6821424" y="1197864"/>
            <a:ext cx="530352" cy="530352"/>
          </a:xfrm>
          <a:prstGeom prst="ellipse">
            <a:avLst/>
          </a:prstGeom>
          <a:solidFill>
            <a:srgbClr val="FFFFFF"/>
          </a:solidFill>
          <a:ln/>
        </p:spPr>
      </p:sp>
      <p:pic>
        <p:nvPicPr>
          <p:cNvPr id="22" name="Image 1" descr="preencoded.png">    </p:cNvPr>
          <p:cNvPicPr>
            <a:picLocks noChangeAspect="1"/>
          </p:cNvPicPr>
          <p:nvPr/>
        </p:nvPicPr>
        <p:blipFill>
          <a:blip r:embed="rId2"/>
          <a:stretch>
            <a:fillRect/>
          </a:stretch>
        </p:blipFill>
        <p:spPr>
          <a:xfrm>
            <a:off x="6948708" y="1325148"/>
            <a:ext cx="275783" cy="275783"/>
          </a:xfrm>
          <a:prstGeom prst="rect">
            <a:avLst/>
          </a:prstGeom>
        </p:spPr>
      </p:pic>
      <p:sp>
        <p:nvSpPr>
          <p:cNvPr id="23" name="Shape 18"/>
          <p:cNvSpPr/>
          <p:nvPr/>
        </p:nvSpPr>
        <p:spPr>
          <a:xfrm>
            <a:off x="7969670" y="1860804"/>
            <a:ext cx="530352" cy="530352"/>
          </a:xfrm>
          <a:prstGeom prst="ellipse">
            <a:avLst/>
          </a:prstGeom>
          <a:solidFill>
            <a:srgbClr val="FFFFFF"/>
          </a:solidFill>
          <a:ln/>
        </p:spPr>
      </p:sp>
      <p:pic>
        <p:nvPicPr>
          <p:cNvPr id="24" name="Image 2" descr="preencoded.png">    </p:cNvPr>
          <p:cNvPicPr>
            <a:picLocks noChangeAspect="1"/>
          </p:cNvPicPr>
          <p:nvPr/>
        </p:nvPicPr>
        <p:blipFill>
          <a:blip r:embed="rId3"/>
          <a:stretch>
            <a:fillRect/>
          </a:stretch>
        </p:blipFill>
        <p:spPr>
          <a:xfrm>
            <a:off x="8096954" y="1988088"/>
            <a:ext cx="275783" cy="275783"/>
          </a:xfrm>
          <a:prstGeom prst="rect">
            <a:avLst/>
          </a:prstGeom>
        </p:spPr>
      </p:pic>
      <p:sp>
        <p:nvSpPr>
          <p:cNvPr id="25" name="Shape 19"/>
          <p:cNvSpPr/>
          <p:nvPr/>
        </p:nvSpPr>
        <p:spPr>
          <a:xfrm>
            <a:off x="7969670" y="3186684"/>
            <a:ext cx="530352" cy="530352"/>
          </a:xfrm>
          <a:prstGeom prst="ellipse">
            <a:avLst/>
          </a:prstGeom>
          <a:solidFill>
            <a:srgbClr val="FFFFFF"/>
          </a:solidFill>
          <a:ln/>
        </p:spPr>
      </p:sp>
      <p:pic>
        <p:nvPicPr>
          <p:cNvPr id="26" name="Image 3" descr="preencoded.png">    </p:cNvPr>
          <p:cNvPicPr>
            <a:picLocks noChangeAspect="1"/>
          </p:cNvPicPr>
          <p:nvPr/>
        </p:nvPicPr>
        <p:blipFill>
          <a:blip r:embed="rId4"/>
          <a:stretch>
            <a:fillRect/>
          </a:stretch>
        </p:blipFill>
        <p:spPr>
          <a:xfrm>
            <a:off x="8096954" y="3313968"/>
            <a:ext cx="275783" cy="275783"/>
          </a:xfrm>
          <a:prstGeom prst="rect">
            <a:avLst/>
          </a:prstGeom>
        </p:spPr>
      </p:pic>
      <p:sp>
        <p:nvSpPr>
          <p:cNvPr id="27" name="Shape 20"/>
          <p:cNvSpPr/>
          <p:nvPr/>
        </p:nvSpPr>
        <p:spPr>
          <a:xfrm>
            <a:off x="6821424" y="3849624"/>
            <a:ext cx="530352" cy="530352"/>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6948708" y="3976908"/>
            <a:ext cx="275783" cy="275783"/>
          </a:xfrm>
          <a:prstGeom prst="rect">
            <a:avLst/>
          </a:prstGeom>
        </p:spPr>
      </p:pic>
      <p:sp>
        <p:nvSpPr>
          <p:cNvPr id="29" name="Shape 21"/>
          <p:cNvSpPr/>
          <p:nvPr/>
        </p:nvSpPr>
        <p:spPr>
          <a:xfrm>
            <a:off x="5673178" y="3186684"/>
            <a:ext cx="530352" cy="530352"/>
          </a:xfrm>
          <a:prstGeom prst="ellipse">
            <a:avLst/>
          </a:prstGeom>
          <a:solidFill>
            <a:srgbClr val="FFFFFF"/>
          </a:solidFill>
          <a:ln/>
        </p:spPr>
      </p:sp>
      <p:pic>
        <p:nvPicPr>
          <p:cNvPr id="30" name="Image 5" descr="preencoded.png">    </p:cNvPr>
          <p:cNvPicPr>
            <a:picLocks noChangeAspect="1"/>
          </p:cNvPicPr>
          <p:nvPr/>
        </p:nvPicPr>
        <p:blipFill>
          <a:blip r:embed="rId6"/>
          <a:stretch>
            <a:fillRect/>
          </a:stretch>
        </p:blipFill>
        <p:spPr>
          <a:xfrm>
            <a:off x="5800463" y="3313968"/>
            <a:ext cx="275783" cy="275783"/>
          </a:xfrm>
          <a:prstGeom prst="rect">
            <a:avLst/>
          </a:prstGeom>
        </p:spPr>
      </p:pic>
      <p:sp>
        <p:nvSpPr>
          <p:cNvPr id="31" name="Shape 22"/>
          <p:cNvSpPr/>
          <p:nvPr/>
        </p:nvSpPr>
        <p:spPr>
          <a:xfrm>
            <a:off x="5673178" y="1860804"/>
            <a:ext cx="530352" cy="530352"/>
          </a:xfrm>
          <a:prstGeom prst="ellipse">
            <a:avLst/>
          </a:prstGeom>
          <a:solidFill>
            <a:srgbClr val="FFFFFF"/>
          </a:solidFill>
          <a:ln/>
        </p:spPr>
      </p:sp>
      <p:pic>
        <p:nvPicPr>
          <p:cNvPr id="32" name="Image 6" descr="preencoded.png">    </p:cNvPr>
          <p:cNvPicPr>
            <a:picLocks noChangeAspect="1"/>
          </p:cNvPicPr>
          <p:nvPr/>
        </p:nvPicPr>
        <p:blipFill>
          <a:blip r:embed="rId7"/>
          <a:stretch>
            <a:fillRect/>
          </a:stretch>
        </p:blipFill>
        <p:spPr>
          <a:xfrm>
            <a:off x="5800463" y="1988088"/>
            <a:ext cx="275783" cy="275783"/>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1112" y="219456"/>
            <a:ext cx="2075688" cy="274320"/>
          </a:xfrm>
          <a:prstGeom prst="roundRect">
            <a:avLst>
              <a:gd name="adj" fmla="val 50000"/>
            </a:avLst>
          </a:prstGeom>
          <a:solidFill>
            <a:srgbClr val="B3261E"/>
          </a:solidFill>
          <a:ln/>
        </p:spPr>
      </p:sp>
      <p:sp>
        <p:nvSpPr>
          <p:cNvPr id="3" name="Text 1"/>
          <p:cNvSpPr txBox="1"/>
          <p:nvPr/>
        </p:nvSpPr>
        <p:spPr>
          <a:xfrm>
            <a:off x="6611112" y="219456"/>
            <a:ext cx="207568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EXISTING / TRADITIONAL</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Problem Statement</a:t>
            </a:r>
            <a:endParaRPr lang="en-US" sz="2600" dirty="0"/>
          </a:p>
        </p:txBody>
      </p:sp>
      <p:sp>
        <p:nvSpPr>
          <p:cNvPr id="5" name="Shape 3"/>
          <p:cNvSpPr/>
          <p:nvPr/>
        </p:nvSpPr>
        <p:spPr>
          <a:xfrm>
            <a:off x="457200" y="128016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6" name="Shape 4"/>
          <p:cNvSpPr/>
          <p:nvPr/>
        </p:nvSpPr>
        <p:spPr>
          <a:xfrm>
            <a:off x="594360" y="1417320"/>
            <a:ext cx="457200" cy="457200"/>
          </a:xfrm>
          <a:prstGeom prst="ellipse">
            <a:avLst/>
          </a:prstGeom>
          <a:solidFill>
            <a:srgbClr val="B3261E"/>
          </a:solidFill>
          <a:ln/>
        </p:spPr>
      </p:sp>
      <p:pic>
        <p:nvPicPr>
          <p:cNvPr id="7" name="Image 0" descr="preencoded.png">    </p:cNvPr>
          <p:cNvPicPr>
            <a:picLocks noChangeAspect="1"/>
          </p:cNvPicPr>
          <p:nvPr/>
        </p:nvPicPr>
        <p:blipFill>
          <a:blip r:embed="rId1"/>
          <a:stretch>
            <a:fillRect/>
          </a:stretch>
        </p:blipFill>
        <p:spPr>
          <a:xfrm>
            <a:off x="704088" y="1527048"/>
            <a:ext cx="237744" cy="237744"/>
          </a:xfrm>
          <a:prstGeom prst="rect">
            <a:avLst/>
          </a:prstGeom>
        </p:spPr>
      </p:pic>
      <p:sp>
        <p:nvSpPr>
          <p:cNvPr id="8" name="Text 5"/>
          <p:cNvSpPr txBox="1"/>
          <p:nvPr/>
        </p:nvSpPr>
        <p:spPr>
          <a:xfrm>
            <a:off x="594360" y="199339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Student records</a:t>
            </a:r>
            <a:pPr indent="0" marL="0">
              <a:buNone/>
            </a:pPr>
            <a:r>
              <a:rPr lang="en-US" sz="1200" dirty="0">
                <a:solidFill>
                  <a:srgbClr val="1F2937"/>
                </a:solidFill>
                <a:latin typeface="Calibri" pitchFamily="34" charset="0"/>
                <a:ea typeface="Calibri" pitchFamily="34" charset="-122"/>
                <a:cs typeface="Calibri" pitchFamily="34" charset="-120"/>
              </a:rPr>
              <a:t> may be maintained manually</a:t>
            </a:r>
            <a:endParaRPr lang="en-US" sz="1200" dirty="0"/>
          </a:p>
        </p:txBody>
      </p:sp>
      <p:sp>
        <p:nvSpPr>
          <p:cNvPr id="9" name="Shape 6"/>
          <p:cNvSpPr/>
          <p:nvPr/>
        </p:nvSpPr>
        <p:spPr>
          <a:xfrm>
            <a:off x="2560320" y="128016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10" name="Shape 7"/>
          <p:cNvSpPr/>
          <p:nvPr/>
        </p:nvSpPr>
        <p:spPr>
          <a:xfrm>
            <a:off x="2697480" y="1417320"/>
            <a:ext cx="457200" cy="457200"/>
          </a:xfrm>
          <a:prstGeom prst="ellipse">
            <a:avLst/>
          </a:prstGeom>
          <a:solidFill>
            <a:srgbClr val="B3261E"/>
          </a:solidFill>
          <a:ln/>
        </p:spPr>
      </p:sp>
      <p:pic>
        <p:nvPicPr>
          <p:cNvPr id="11" name="Image 1" descr="preencoded.png">    </p:cNvPr>
          <p:cNvPicPr>
            <a:picLocks noChangeAspect="1"/>
          </p:cNvPicPr>
          <p:nvPr/>
        </p:nvPicPr>
        <p:blipFill>
          <a:blip r:embed="rId2"/>
          <a:stretch>
            <a:fillRect/>
          </a:stretch>
        </p:blipFill>
        <p:spPr>
          <a:xfrm>
            <a:off x="2807208" y="1527048"/>
            <a:ext cx="237744" cy="237744"/>
          </a:xfrm>
          <a:prstGeom prst="rect">
            <a:avLst/>
          </a:prstGeom>
        </p:spPr>
      </p:pic>
      <p:sp>
        <p:nvSpPr>
          <p:cNvPr id="12" name="Text 8"/>
          <p:cNvSpPr txBox="1"/>
          <p:nvPr/>
        </p:nvSpPr>
        <p:spPr>
          <a:xfrm>
            <a:off x="2697480" y="199339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Room allocation</a:t>
            </a:r>
            <a:pPr indent="0" marL="0">
              <a:buNone/>
            </a:pPr>
            <a:r>
              <a:rPr lang="en-US" sz="1200" dirty="0">
                <a:solidFill>
                  <a:srgbClr val="1F2937"/>
                </a:solidFill>
                <a:latin typeface="Calibri" pitchFamily="34" charset="0"/>
                <a:ea typeface="Calibri" pitchFamily="34" charset="-122"/>
                <a:cs typeface="Calibri" pitchFamily="34" charset="-120"/>
              </a:rPr>
              <a:t> can become difficult to track</a:t>
            </a:r>
            <a:endParaRPr lang="en-US" sz="1200" dirty="0"/>
          </a:p>
        </p:txBody>
      </p:sp>
      <p:sp>
        <p:nvSpPr>
          <p:cNvPr id="13" name="Shape 9"/>
          <p:cNvSpPr/>
          <p:nvPr/>
        </p:nvSpPr>
        <p:spPr>
          <a:xfrm>
            <a:off x="4663440" y="128016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14" name="Shape 10"/>
          <p:cNvSpPr/>
          <p:nvPr/>
        </p:nvSpPr>
        <p:spPr>
          <a:xfrm>
            <a:off x="4800600" y="1417320"/>
            <a:ext cx="457200" cy="457200"/>
          </a:xfrm>
          <a:prstGeom prst="ellipse">
            <a:avLst/>
          </a:prstGeom>
          <a:solidFill>
            <a:srgbClr val="B3261E"/>
          </a:solidFill>
          <a:ln/>
        </p:spPr>
      </p:sp>
      <p:pic>
        <p:nvPicPr>
          <p:cNvPr id="15" name="Image 2" descr="preencoded.png">    </p:cNvPr>
          <p:cNvPicPr>
            <a:picLocks noChangeAspect="1"/>
          </p:cNvPicPr>
          <p:nvPr/>
        </p:nvPicPr>
        <p:blipFill>
          <a:blip r:embed="rId3"/>
          <a:stretch>
            <a:fillRect/>
          </a:stretch>
        </p:blipFill>
        <p:spPr>
          <a:xfrm>
            <a:off x="4910328" y="1527048"/>
            <a:ext cx="237744" cy="237744"/>
          </a:xfrm>
          <a:prstGeom prst="rect">
            <a:avLst/>
          </a:prstGeom>
        </p:spPr>
      </p:pic>
      <p:sp>
        <p:nvSpPr>
          <p:cNvPr id="16" name="Text 11"/>
          <p:cNvSpPr txBox="1"/>
          <p:nvPr/>
        </p:nvSpPr>
        <p:spPr>
          <a:xfrm>
            <a:off x="4800600" y="199339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Room availability</a:t>
            </a:r>
            <a:pPr indent="0" marL="0">
              <a:buNone/>
            </a:pPr>
            <a:r>
              <a:rPr lang="en-US" sz="1200" dirty="0">
                <a:solidFill>
                  <a:srgbClr val="1F2937"/>
                </a:solidFill>
                <a:latin typeface="Calibri" pitchFamily="34" charset="0"/>
                <a:ea typeface="Calibri" pitchFamily="34" charset="-122"/>
                <a:cs typeface="Calibri" pitchFamily="34" charset="-120"/>
              </a:rPr>
              <a:t> may not be updated quickly</a:t>
            </a:r>
            <a:endParaRPr lang="en-US" sz="1200" dirty="0"/>
          </a:p>
        </p:txBody>
      </p:sp>
      <p:sp>
        <p:nvSpPr>
          <p:cNvPr id="17" name="Shape 12"/>
          <p:cNvSpPr/>
          <p:nvPr/>
        </p:nvSpPr>
        <p:spPr>
          <a:xfrm>
            <a:off x="6766560" y="128016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18" name="Shape 13"/>
          <p:cNvSpPr/>
          <p:nvPr/>
        </p:nvSpPr>
        <p:spPr>
          <a:xfrm>
            <a:off x="6903720" y="1417320"/>
            <a:ext cx="457200" cy="457200"/>
          </a:xfrm>
          <a:prstGeom prst="ellipse">
            <a:avLst/>
          </a:prstGeom>
          <a:solidFill>
            <a:srgbClr val="B3261E"/>
          </a:solidFill>
          <a:ln/>
        </p:spPr>
      </p:sp>
      <p:pic>
        <p:nvPicPr>
          <p:cNvPr id="19" name="Image 3" descr="preencoded.png">    </p:cNvPr>
          <p:cNvPicPr>
            <a:picLocks noChangeAspect="1"/>
          </p:cNvPicPr>
          <p:nvPr/>
        </p:nvPicPr>
        <p:blipFill>
          <a:blip r:embed="rId4"/>
          <a:stretch>
            <a:fillRect/>
          </a:stretch>
        </p:blipFill>
        <p:spPr>
          <a:xfrm>
            <a:off x="7013448" y="1527048"/>
            <a:ext cx="237744" cy="237744"/>
          </a:xfrm>
          <a:prstGeom prst="rect">
            <a:avLst/>
          </a:prstGeom>
        </p:spPr>
      </p:pic>
      <p:sp>
        <p:nvSpPr>
          <p:cNvPr id="20" name="Text 14"/>
          <p:cNvSpPr txBox="1"/>
          <p:nvPr/>
        </p:nvSpPr>
        <p:spPr>
          <a:xfrm>
            <a:off x="6903720" y="199339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Fee records</a:t>
            </a:r>
            <a:pPr indent="0" marL="0">
              <a:buNone/>
            </a:pPr>
            <a:r>
              <a:rPr lang="en-US" sz="1200" dirty="0">
                <a:solidFill>
                  <a:srgbClr val="1F2937"/>
                </a:solidFill>
                <a:latin typeface="Calibri" pitchFamily="34" charset="0"/>
                <a:ea typeface="Calibri" pitchFamily="34" charset="-122"/>
                <a:cs typeface="Calibri" pitchFamily="34" charset="-120"/>
              </a:rPr>
              <a:t> can become difficult to manage</a:t>
            </a:r>
            <a:endParaRPr lang="en-US" sz="1200" dirty="0"/>
          </a:p>
        </p:txBody>
      </p:sp>
      <p:sp>
        <p:nvSpPr>
          <p:cNvPr id="21" name="Shape 15"/>
          <p:cNvSpPr/>
          <p:nvPr/>
        </p:nvSpPr>
        <p:spPr>
          <a:xfrm>
            <a:off x="457200" y="274320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22" name="Shape 16"/>
          <p:cNvSpPr/>
          <p:nvPr/>
        </p:nvSpPr>
        <p:spPr>
          <a:xfrm>
            <a:off x="594360" y="2880360"/>
            <a:ext cx="457200" cy="457200"/>
          </a:xfrm>
          <a:prstGeom prst="ellipse">
            <a:avLst/>
          </a:prstGeom>
          <a:solidFill>
            <a:srgbClr val="B3261E"/>
          </a:solidFill>
          <a:ln/>
        </p:spPr>
      </p:sp>
      <p:pic>
        <p:nvPicPr>
          <p:cNvPr id="23" name="Image 4" descr="preencoded.png">    </p:cNvPr>
          <p:cNvPicPr>
            <a:picLocks noChangeAspect="1"/>
          </p:cNvPicPr>
          <p:nvPr/>
        </p:nvPicPr>
        <p:blipFill>
          <a:blip r:embed="rId5"/>
          <a:stretch>
            <a:fillRect/>
          </a:stretch>
        </p:blipFill>
        <p:spPr>
          <a:xfrm>
            <a:off x="704088" y="2990088"/>
            <a:ext cx="237744" cy="237744"/>
          </a:xfrm>
          <a:prstGeom prst="rect">
            <a:avLst/>
          </a:prstGeom>
        </p:spPr>
      </p:pic>
      <p:sp>
        <p:nvSpPr>
          <p:cNvPr id="24" name="Text 17"/>
          <p:cNvSpPr txBox="1"/>
          <p:nvPr/>
        </p:nvSpPr>
        <p:spPr>
          <a:xfrm>
            <a:off x="594360" y="345643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Complaints</a:t>
            </a:r>
            <a:pPr indent="0" marL="0">
              <a:buNone/>
            </a:pPr>
            <a:r>
              <a:rPr lang="en-US" sz="1200" dirty="0">
                <a:solidFill>
                  <a:srgbClr val="1F2937"/>
                </a:solidFill>
                <a:latin typeface="Calibri" pitchFamily="34" charset="0"/>
                <a:ea typeface="Calibri" pitchFamily="34" charset="-122"/>
                <a:cs typeface="Calibri" pitchFamily="34" charset="-120"/>
              </a:rPr>
              <a:t> may be hard to track systematically</a:t>
            </a:r>
            <a:endParaRPr lang="en-US" sz="1200" dirty="0"/>
          </a:p>
        </p:txBody>
      </p:sp>
      <p:sp>
        <p:nvSpPr>
          <p:cNvPr id="25" name="Shape 18"/>
          <p:cNvSpPr/>
          <p:nvPr/>
        </p:nvSpPr>
        <p:spPr>
          <a:xfrm>
            <a:off x="2560320" y="274320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26" name="Shape 19"/>
          <p:cNvSpPr/>
          <p:nvPr/>
        </p:nvSpPr>
        <p:spPr>
          <a:xfrm>
            <a:off x="2697480" y="2880360"/>
            <a:ext cx="457200" cy="457200"/>
          </a:xfrm>
          <a:prstGeom prst="ellipse">
            <a:avLst/>
          </a:prstGeom>
          <a:solidFill>
            <a:srgbClr val="B3261E"/>
          </a:solidFill>
          <a:ln/>
        </p:spPr>
      </p:sp>
      <p:pic>
        <p:nvPicPr>
          <p:cNvPr id="27" name="Image 5" descr="preencoded.png">    </p:cNvPr>
          <p:cNvPicPr>
            <a:picLocks noChangeAspect="1"/>
          </p:cNvPicPr>
          <p:nvPr/>
        </p:nvPicPr>
        <p:blipFill>
          <a:blip r:embed="rId6"/>
          <a:stretch>
            <a:fillRect/>
          </a:stretch>
        </p:blipFill>
        <p:spPr>
          <a:xfrm>
            <a:off x="2807208" y="2990088"/>
            <a:ext cx="237744" cy="237744"/>
          </a:xfrm>
          <a:prstGeom prst="rect">
            <a:avLst/>
          </a:prstGeom>
        </p:spPr>
      </p:pic>
      <p:sp>
        <p:nvSpPr>
          <p:cNvPr id="28" name="Text 20"/>
          <p:cNvSpPr txBox="1"/>
          <p:nvPr/>
        </p:nvSpPr>
        <p:spPr>
          <a:xfrm>
            <a:off x="2697480" y="3456432"/>
            <a:ext cx="1664208" cy="56692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Manual records can lead to </a:t>
            </a:r>
            <a:pPr indent="0" marL="0">
              <a:buNone/>
            </a:pPr>
            <a:r>
              <a:rPr lang="en-US" sz="1200" b="1" dirty="0">
                <a:solidFill>
                  <a:srgbClr val="B3261E"/>
                </a:solidFill>
                <a:latin typeface="Calibri" pitchFamily="34" charset="0"/>
                <a:ea typeface="Calibri" pitchFamily="34" charset="-122"/>
                <a:cs typeface="Calibri" pitchFamily="34" charset="-120"/>
              </a:rPr>
              <a:t>duplication and errors</a:t>
            </a:r>
            <a:endParaRPr lang="en-US" sz="1200" dirty="0"/>
          </a:p>
        </p:txBody>
      </p:sp>
      <p:sp>
        <p:nvSpPr>
          <p:cNvPr id="29" name="Shape 21"/>
          <p:cNvSpPr/>
          <p:nvPr/>
        </p:nvSpPr>
        <p:spPr>
          <a:xfrm>
            <a:off x="4663440" y="274320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30" name="Shape 22"/>
          <p:cNvSpPr/>
          <p:nvPr/>
        </p:nvSpPr>
        <p:spPr>
          <a:xfrm>
            <a:off x="4800600" y="2880360"/>
            <a:ext cx="457200" cy="457200"/>
          </a:xfrm>
          <a:prstGeom prst="ellipse">
            <a:avLst/>
          </a:prstGeom>
          <a:solidFill>
            <a:srgbClr val="B3261E"/>
          </a:solidFill>
          <a:ln/>
        </p:spPr>
      </p:sp>
      <p:pic>
        <p:nvPicPr>
          <p:cNvPr id="31" name="Image 6" descr="preencoded.png">    </p:cNvPr>
          <p:cNvPicPr>
            <a:picLocks noChangeAspect="1"/>
          </p:cNvPicPr>
          <p:nvPr/>
        </p:nvPicPr>
        <p:blipFill>
          <a:blip r:embed="rId7"/>
          <a:stretch>
            <a:fillRect/>
          </a:stretch>
        </p:blipFill>
        <p:spPr>
          <a:xfrm>
            <a:off x="4910328" y="2990088"/>
            <a:ext cx="237744" cy="237744"/>
          </a:xfrm>
          <a:prstGeom prst="rect">
            <a:avLst/>
          </a:prstGeom>
        </p:spPr>
      </p:pic>
      <p:sp>
        <p:nvSpPr>
          <p:cNvPr id="32" name="Text 23"/>
          <p:cNvSpPr txBox="1"/>
          <p:nvPr/>
        </p:nvSpPr>
        <p:spPr>
          <a:xfrm>
            <a:off x="4800600" y="345643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Searching and updating</a:t>
            </a:r>
            <a:pPr indent="0" marL="0">
              <a:buNone/>
            </a:pPr>
            <a:r>
              <a:rPr lang="en-US" sz="1200" dirty="0">
                <a:solidFill>
                  <a:srgbClr val="1F2937"/>
                </a:solidFill>
                <a:latin typeface="Calibri" pitchFamily="34" charset="0"/>
                <a:ea typeface="Calibri" pitchFamily="34" charset="-122"/>
                <a:cs typeface="Calibri" pitchFamily="34" charset="-120"/>
              </a:rPr>
              <a:t> may take more time</a:t>
            </a:r>
            <a:endParaRPr lang="en-US" sz="1200" dirty="0"/>
          </a:p>
        </p:txBody>
      </p:sp>
      <p:sp>
        <p:nvSpPr>
          <p:cNvPr id="33" name="Shape 24"/>
          <p:cNvSpPr/>
          <p:nvPr/>
        </p:nvSpPr>
        <p:spPr>
          <a:xfrm>
            <a:off x="6766560" y="274320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34" name="Shape 25"/>
          <p:cNvSpPr/>
          <p:nvPr/>
        </p:nvSpPr>
        <p:spPr>
          <a:xfrm>
            <a:off x="6903720" y="2880360"/>
            <a:ext cx="457200" cy="457200"/>
          </a:xfrm>
          <a:prstGeom prst="ellipse">
            <a:avLst/>
          </a:prstGeom>
          <a:solidFill>
            <a:srgbClr val="B3261E"/>
          </a:solidFill>
          <a:ln/>
        </p:spPr>
      </p:sp>
      <p:pic>
        <p:nvPicPr>
          <p:cNvPr id="35" name="Image 7" descr="preencoded.png">    </p:cNvPr>
          <p:cNvPicPr>
            <a:picLocks noChangeAspect="1"/>
          </p:cNvPicPr>
          <p:nvPr/>
        </p:nvPicPr>
        <p:blipFill>
          <a:blip r:embed="rId8"/>
          <a:stretch>
            <a:fillRect/>
          </a:stretch>
        </p:blipFill>
        <p:spPr>
          <a:xfrm>
            <a:off x="7013448" y="2990088"/>
            <a:ext cx="237744" cy="237744"/>
          </a:xfrm>
          <a:prstGeom prst="rect">
            <a:avLst/>
          </a:prstGeom>
        </p:spPr>
      </p:pic>
      <p:sp>
        <p:nvSpPr>
          <p:cNvPr id="36" name="Text 26"/>
          <p:cNvSpPr txBox="1"/>
          <p:nvPr/>
        </p:nvSpPr>
        <p:spPr>
          <a:xfrm>
            <a:off x="6903720" y="345643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Lack of centralized information</a:t>
            </a:r>
            <a:pPr indent="0" marL="0">
              <a:buNone/>
            </a:pPr>
            <a:r>
              <a:rPr lang="en-US" sz="1200" dirty="0">
                <a:solidFill>
                  <a:srgbClr val="1F2937"/>
                </a:solidFill>
                <a:latin typeface="Calibri" pitchFamily="34" charset="0"/>
                <a:ea typeface="Calibri" pitchFamily="34" charset="-122"/>
                <a:cs typeface="Calibri" pitchFamily="34" charset="-120"/>
              </a:rPr>
              <a:t> affects efficiency</a:t>
            </a:r>
            <a:endParaRPr lang="en-US" sz="1200" dirty="0"/>
          </a:p>
        </p:txBody>
      </p:sp>
      <p:sp>
        <p:nvSpPr>
          <p:cNvPr id="37" name="Shape 27"/>
          <p:cNvSpPr/>
          <p:nvPr/>
        </p:nvSpPr>
        <p:spPr>
          <a:xfrm>
            <a:off x="457200" y="4251960"/>
            <a:ext cx="8229600" cy="384048"/>
          </a:xfrm>
          <a:prstGeom prst="roundRect">
            <a:avLst>
              <a:gd name="adj" fmla="val 19048"/>
            </a:avLst>
          </a:prstGeom>
          <a:solidFill>
            <a:srgbClr val="B3261E"/>
          </a:solidFill>
          <a:ln/>
        </p:spPr>
      </p:sp>
      <p:sp>
        <p:nvSpPr>
          <p:cNvPr id="38" name="Text 28"/>
          <p:cNvSpPr txBox="1"/>
          <p:nvPr/>
        </p:nvSpPr>
        <p:spPr>
          <a:xfrm>
            <a:off x="457200" y="4251960"/>
            <a:ext cx="82296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Traditional management  →  data errors  ·  delays  ·  reduced administrative efficiency</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922008" y="219456"/>
            <a:ext cx="1764792" cy="274320"/>
          </a:xfrm>
          <a:prstGeom prst="roundRect">
            <a:avLst>
              <a:gd name="adj" fmla="val 50000"/>
            </a:avLst>
          </a:prstGeom>
          <a:solidFill>
            <a:srgbClr val="13478F"/>
          </a:solidFill>
          <a:ln/>
        </p:spPr>
      </p:sp>
      <p:sp>
        <p:nvSpPr>
          <p:cNvPr id="3" name="Text 1"/>
          <p:cNvSpPr txBox="1"/>
          <p:nvPr/>
        </p:nvSpPr>
        <p:spPr>
          <a:xfrm>
            <a:off x="6922008" y="219456"/>
            <a:ext cx="176479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 MOTIVATION</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Motivation</a:t>
            </a:r>
            <a:endParaRPr lang="en-US" sz="2600" dirty="0"/>
          </a:p>
        </p:txBody>
      </p:sp>
      <p:sp>
        <p:nvSpPr>
          <p:cNvPr id="5" name="Shape 3"/>
          <p:cNvSpPr/>
          <p:nvPr/>
        </p:nvSpPr>
        <p:spPr>
          <a:xfrm>
            <a:off x="457200" y="1280160"/>
            <a:ext cx="2651760" cy="777240"/>
          </a:xfrm>
          <a:prstGeom prst="roundRect">
            <a:avLst>
              <a:gd name="adj" fmla="val 9412"/>
            </a:avLst>
          </a:prstGeom>
          <a:solidFill>
            <a:srgbClr val="F2F4F8"/>
          </a:solidFill>
          <a:ln/>
          <a:effectLst>
            <a:outerShdw sx="100000" sy="100000" kx="0" ky="0" algn="bl" rotWithShape="0" blurRad="76200" dist="25400" dir="5400000">
              <a:srgbClr val="000000">
                <a:alpha val="12000"/>
              </a:srgbClr>
            </a:outerShdw>
          </a:effectLst>
        </p:spPr>
      </p:sp>
      <p:sp>
        <p:nvSpPr>
          <p:cNvPr id="6" name="Shape 4"/>
          <p:cNvSpPr/>
          <p:nvPr/>
        </p:nvSpPr>
        <p:spPr>
          <a:xfrm>
            <a:off x="566928" y="1463040"/>
            <a:ext cx="411480" cy="411480"/>
          </a:xfrm>
          <a:prstGeom prst="ellipse">
            <a:avLst/>
          </a:prstGeom>
          <a:solidFill>
            <a:srgbClr val="13478F"/>
          </a:solidFill>
          <a:ln/>
        </p:spPr>
      </p:sp>
      <p:pic>
        <p:nvPicPr>
          <p:cNvPr id="7" name="Image 0" descr="preencoded.png">    </p:cNvPr>
          <p:cNvPicPr>
            <a:picLocks noChangeAspect="1"/>
          </p:cNvPicPr>
          <p:nvPr/>
        </p:nvPicPr>
        <p:blipFill>
          <a:blip r:embed="rId1"/>
          <a:stretch>
            <a:fillRect/>
          </a:stretch>
        </p:blipFill>
        <p:spPr>
          <a:xfrm>
            <a:off x="665683" y="1561795"/>
            <a:ext cx="213970" cy="213970"/>
          </a:xfrm>
          <a:prstGeom prst="rect">
            <a:avLst/>
          </a:prstGeom>
        </p:spPr>
      </p:pic>
      <p:sp>
        <p:nvSpPr>
          <p:cNvPr id="8" name="Text 5"/>
          <p:cNvSpPr txBox="1"/>
          <p:nvPr/>
        </p:nvSpPr>
        <p:spPr>
          <a:xfrm>
            <a:off x="1078992" y="1325880"/>
            <a:ext cx="196596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Growing hostel records need </a:t>
            </a:r>
            <a:pPr indent="0" marL="0">
              <a:buNone/>
            </a:pPr>
            <a:r>
              <a:rPr lang="en-US" sz="1150" b="1" dirty="0">
                <a:solidFill>
                  <a:srgbClr val="13478F"/>
                </a:solidFill>
                <a:latin typeface="Calibri" pitchFamily="34" charset="0"/>
                <a:ea typeface="Calibri" pitchFamily="34" charset="-122"/>
                <a:cs typeface="Calibri" pitchFamily="34" charset="-120"/>
              </a:rPr>
              <a:t>systematic management</a:t>
            </a:r>
            <a:endParaRPr lang="en-US" sz="1150" dirty="0"/>
          </a:p>
        </p:txBody>
      </p:sp>
      <p:sp>
        <p:nvSpPr>
          <p:cNvPr id="9" name="Shape 6"/>
          <p:cNvSpPr/>
          <p:nvPr/>
        </p:nvSpPr>
        <p:spPr>
          <a:xfrm>
            <a:off x="3246120" y="1280160"/>
            <a:ext cx="2651760" cy="777240"/>
          </a:xfrm>
          <a:prstGeom prst="roundRect">
            <a:avLst>
              <a:gd name="adj" fmla="val 9412"/>
            </a:avLst>
          </a:prstGeom>
          <a:solidFill>
            <a:srgbClr val="F2F4F8"/>
          </a:solidFill>
          <a:ln/>
          <a:effectLst>
            <a:outerShdw sx="100000" sy="100000" kx="0" ky="0" algn="bl" rotWithShape="0" blurRad="76200" dist="25400" dir="5400000">
              <a:srgbClr val="000000">
                <a:alpha val="12000"/>
              </a:srgbClr>
            </a:outerShdw>
          </a:effectLst>
        </p:spPr>
      </p:sp>
      <p:sp>
        <p:nvSpPr>
          <p:cNvPr id="10" name="Shape 7"/>
          <p:cNvSpPr/>
          <p:nvPr/>
        </p:nvSpPr>
        <p:spPr>
          <a:xfrm>
            <a:off x="3355848" y="1463040"/>
            <a:ext cx="411480" cy="411480"/>
          </a:xfrm>
          <a:prstGeom prst="ellipse">
            <a:avLst/>
          </a:prstGeom>
          <a:solidFill>
            <a:srgbClr val="13478F"/>
          </a:solidFill>
          <a:ln/>
        </p:spPr>
      </p:sp>
      <p:pic>
        <p:nvPicPr>
          <p:cNvPr id="11" name="Image 1" descr="preencoded.png">    </p:cNvPr>
          <p:cNvPicPr>
            <a:picLocks noChangeAspect="1"/>
          </p:cNvPicPr>
          <p:nvPr/>
        </p:nvPicPr>
        <p:blipFill>
          <a:blip r:embed="rId2"/>
          <a:stretch>
            <a:fillRect/>
          </a:stretch>
        </p:blipFill>
        <p:spPr>
          <a:xfrm>
            <a:off x="3454603" y="1561795"/>
            <a:ext cx="213970" cy="213970"/>
          </a:xfrm>
          <a:prstGeom prst="rect">
            <a:avLst/>
          </a:prstGeom>
        </p:spPr>
      </p:pic>
      <p:sp>
        <p:nvSpPr>
          <p:cNvPr id="12" name="Text 8"/>
          <p:cNvSpPr txBox="1"/>
          <p:nvPr/>
        </p:nvSpPr>
        <p:spPr>
          <a:xfrm>
            <a:off x="3867912" y="1325880"/>
            <a:ext cx="196596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Administrators need </a:t>
            </a:r>
            <a:pPr indent="0" marL="0">
              <a:buNone/>
            </a:pPr>
            <a:r>
              <a:rPr lang="en-US" sz="1150" b="1" dirty="0">
                <a:solidFill>
                  <a:srgbClr val="13478F"/>
                </a:solidFill>
                <a:latin typeface="Calibri" pitchFamily="34" charset="0"/>
                <a:ea typeface="Calibri" pitchFamily="34" charset="-122"/>
                <a:cs typeface="Calibri" pitchFamily="34" charset="-120"/>
              </a:rPr>
              <a:t>quick access</a:t>
            </a:r>
            <a:pPr indent="0" marL="0">
              <a:buNone/>
            </a:pPr>
            <a:r>
              <a:rPr lang="en-US" sz="1150" dirty="0">
                <a:solidFill>
                  <a:srgbClr val="1F2937"/>
                </a:solidFill>
                <a:latin typeface="Calibri" pitchFamily="34" charset="0"/>
                <a:ea typeface="Calibri" pitchFamily="34" charset="-122"/>
                <a:cs typeface="Calibri" pitchFamily="34" charset="-120"/>
              </a:rPr>
              <a:t> to student and room data</a:t>
            </a:r>
            <a:endParaRPr lang="en-US" sz="1150" dirty="0"/>
          </a:p>
        </p:txBody>
      </p:sp>
      <p:sp>
        <p:nvSpPr>
          <p:cNvPr id="13" name="Shape 9"/>
          <p:cNvSpPr/>
          <p:nvPr/>
        </p:nvSpPr>
        <p:spPr>
          <a:xfrm>
            <a:off x="6035040" y="1280160"/>
            <a:ext cx="2651760" cy="777240"/>
          </a:xfrm>
          <a:prstGeom prst="roundRect">
            <a:avLst>
              <a:gd name="adj" fmla="val 9412"/>
            </a:avLst>
          </a:prstGeom>
          <a:solidFill>
            <a:srgbClr val="F2F4F8"/>
          </a:solidFill>
          <a:ln/>
          <a:effectLst>
            <a:outerShdw sx="100000" sy="100000" kx="0" ky="0" algn="bl" rotWithShape="0" blurRad="76200" dist="25400" dir="5400000">
              <a:srgbClr val="000000">
                <a:alpha val="12000"/>
              </a:srgbClr>
            </a:outerShdw>
          </a:effectLst>
        </p:spPr>
      </p:sp>
      <p:sp>
        <p:nvSpPr>
          <p:cNvPr id="14" name="Shape 10"/>
          <p:cNvSpPr/>
          <p:nvPr/>
        </p:nvSpPr>
        <p:spPr>
          <a:xfrm>
            <a:off x="6144768" y="1463040"/>
            <a:ext cx="411480" cy="411480"/>
          </a:xfrm>
          <a:prstGeom prst="ellipse">
            <a:avLst/>
          </a:prstGeom>
          <a:solidFill>
            <a:srgbClr val="13478F"/>
          </a:solidFill>
          <a:ln/>
        </p:spPr>
      </p:sp>
      <p:pic>
        <p:nvPicPr>
          <p:cNvPr id="15" name="Image 2" descr="preencoded.png">    </p:cNvPr>
          <p:cNvPicPr>
            <a:picLocks noChangeAspect="1"/>
          </p:cNvPicPr>
          <p:nvPr/>
        </p:nvPicPr>
        <p:blipFill>
          <a:blip r:embed="rId3"/>
          <a:stretch>
            <a:fillRect/>
          </a:stretch>
        </p:blipFill>
        <p:spPr>
          <a:xfrm>
            <a:off x="6243523" y="1561795"/>
            <a:ext cx="213970" cy="213970"/>
          </a:xfrm>
          <a:prstGeom prst="rect">
            <a:avLst/>
          </a:prstGeom>
        </p:spPr>
      </p:pic>
      <p:sp>
        <p:nvSpPr>
          <p:cNvPr id="16" name="Text 11"/>
          <p:cNvSpPr txBox="1"/>
          <p:nvPr/>
        </p:nvSpPr>
        <p:spPr>
          <a:xfrm>
            <a:off x="6656832" y="1325880"/>
            <a:ext cx="196596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Centralized storage can improve </a:t>
            </a:r>
            <a:pPr indent="0" marL="0">
              <a:buNone/>
            </a:pPr>
            <a:r>
              <a:rPr lang="en-US" sz="1150" b="1" dirty="0">
                <a:solidFill>
                  <a:srgbClr val="13478F"/>
                </a:solidFill>
                <a:latin typeface="Calibri" pitchFamily="34" charset="0"/>
                <a:ea typeface="Calibri" pitchFamily="34" charset="-122"/>
                <a:cs typeface="Calibri" pitchFamily="34" charset="-120"/>
              </a:rPr>
              <a:t>consistency</a:t>
            </a:r>
            <a:endParaRPr lang="en-US" sz="1150" dirty="0"/>
          </a:p>
        </p:txBody>
      </p:sp>
      <p:sp>
        <p:nvSpPr>
          <p:cNvPr id="17" name="Shape 12"/>
          <p:cNvSpPr/>
          <p:nvPr/>
        </p:nvSpPr>
        <p:spPr>
          <a:xfrm>
            <a:off x="457200" y="2194560"/>
            <a:ext cx="2651760" cy="777240"/>
          </a:xfrm>
          <a:prstGeom prst="roundRect">
            <a:avLst>
              <a:gd name="adj" fmla="val 9412"/>
            </a:avLst>
          </a:prstGeom>
          <a:solidFill>
            <a:srgbClr val="F2F4F8"/>
          </a:solidFill>
          <a:ln/>
          <a:effectLst>
            <a:outerShdw sx="100000" sy="100000" kx="0" ky="0" algn="bl" rotWithShape="0" blurRad="76200" dist="25400" dir="5400000">
              <a:srgbClr val="000000">
                <a:alpha val="12000"/>
              </a:srgbClr>
            </a:outerShdw>
          </a:effectLst>
        </p:spPr>
      </p:sp>
      <p:sp>
        <p:nvSpPr>
          <p:cNvPr id="18" name="Shape 13"/>
          <p:cNvSpPr/>
          <p:nvPr/>
        </p:nvSpPr>
        <p:spPr>
          <a:xfrm>
            <a:off x="566928" y="2377440"/>
            <a:ext cx="411480" cy="411480"/>
          </a:xfrm>
          <a:prstGeom prst="ellipse">
            <a:avLst/>
          </a:prstGeom>
          <a:solidFill>
            <a:srgbClr val="13478F"/>
          </a:solidFill>
          <a:ln/>
        </p:spPr>
      </p:sp>
      <p:pic>
        <p:nvPicPr>
          <p:cNvPr id="19" name="Image 3" descr="preencoded.png">    </p:cNvPr>
          <p:cNvPicPr>
            <a:picLocks noChangeAspect="1"/>
          </p:cNvPicPr>
          <p:nvPr/>
        </p:nvPicPr>
        <p:blipFill>
          <a:blip r:embed="rId4"/>
          <a:stretch>
            <a:fillRect/>
          </a:stretch>
        </p:blipFill>
        <p:spPr>
          <a:xfrm>
            <a:off x="665683" y="2476195"/>
            <a:ext cx="213970" cy="213970"/>
          </a:xfrm>
          <a:prstGeom prst="rect">
            <a:avLst/>
          </a:prstGeom>
        </p:spPr>
      </p:pic>
      <p:sp>
        <p:nvSpPr>
          <p:cNvPr id="20" name="Text 14"/>
          <p:cNvSpPr txBox="1"/>
          <p:nvPr/>
        </p:nvSpPr>
        <p:spPr>
          <a:xfrm>
            <a:off x="1078992" y="2240280"/>
            <a:ext cx="196596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Digital records can reduce </a:t>
            </a:r>
            <a:pPr indent="0" marL="0">
              <a:buNone/>
            </a:pPr>
            <a:r>
              <a:rPr lang="en-US" sz="1150" b="1" dirty="0">
                <a:solidFill>
                  <a:srgbClr val="13478F"/>
                </a:solidFill>
                <a:latin typeface="Calibri" pitchFamily="34" charset="0"/>
                <a:ea typeface="Calibri" pitchFamily="34" charset="-122"/>
                <a:cs typeface="Calibri" pitchFamily="34" charset="-120"/>
              </a:rPr>
              <a:t>repetitive manual work</a:t>
            </a:r>
            <a:endParaRPr lang="en-US" sz="1150" dirty="0"/>
          </a:p>
        </p:txBody>
      </p:sp>
      <p:sp>
        <p:nvSpPr>
          <p:cNvPr id="21" name="Shape 15"/>
          <p:cNvSpPr/>
          <p:nvPr/>
        </p:nvSpPr>
        <p:spPr>
          <a:xfrm>
            <a:off x="3246120" y="2194560"/>
            <a:ext cx="2651760" cy="777240"/>
          </a:xfrm>
          <a:prstGeom prst="roundRect">
            <a:avLst>
              <a:gd name="adj" fmla="val 9412"/>
            </a:avLst>
          </a:prstGeom>
          <a:solidFill>
            <a:srgbClr val="F2F4F8"/>
          </a:solidFill>
          <a:ln/>
          <a:effectLst>
            <a:outerShdw sx="100000" sy="100000" kx="0" ky="0" algn="bl" rotWithShape="0" blurRad="76200" dist="25400" dir="5400000">
              <a:srgbClr val="000000">
                <a:alpha val="12000"/>
              </a:srgbClr>
            </a:outerShdw>
          </a:effectLst>
        </p:spPr>
      </p:sp>
      <p:sp>
        <p:nvSpPr>
          <p:cNvPr id="22" name="Shape 16"/>
          <p:cNvSpPr/>
          <p:nvPr/>
        </p:nvSpPr>
        <p:spPr>
          <a:xfrm>
            <a:off x="3355848" y="2377440"/>
            <a:ext cx="411480" cy="411480"/>
          </a:xfrm>
          <a:prstGeom prst="ellipse">
            <a:avLst/>
          </a:prstGeom>
          <a:solidFill>
            <a:srgbClr val="13478F"/>
          </a:solidFill>
          <a:ln/>
        </p:spPr>
      </p:sp>
      <p:pic>
        <p:nvPicPr>
          <p:cNvPr id="23" name="Image 4" descr="preencoded.png">    </p:cNvPr>
          <p:cNvPicPr>
            <a:picLocks noChangeAspect="1"/>
          </p:cNvPicPr>
          <p:nvPr/>
        </p:nvPicPr>
        <p:blipFill>
          <a:blip r:embed="rId5"/>
          <a:stretch>
            <a:fillRect/>
          </a:stretch>
        </p:blipFill>
        <p:spPr>
          <a:xfrm>
            <a:off x="3454603" y="2476195"/>
            <a:ext cx="213970" cy="213970"/>
          </a:xfrm>
          <a:prstGeom prst="rect">
            <a:avLst/>
          </a:prstGeom>
        </p:spPr>
      </p:pic>
      <p:sp>
        <p:nvSpPr>
          <p:cNvPr id="24" name="Text 17"/>
          <p:cNvSpPr txBox="1"/>
          <p:nvPr/>
        </p:nvSpPr>
        <p:spPr>
          <a:xfrm>
            <a:off x="3867912" y="2240280"/>
            <a:ext cx="196596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Structured data supports </a:t>
            </a:r>
            <a:pPr indent="0" marL="0">
              <a:buNone/>
            </a:pPr>
            <a:r>
              <a:rPr lang="en-US" sz="1150" b="1" dirty="0">
                <a:solidFill>
                  <a:srgbClr val="13478F"/>
                </a:solidFill>
                <a:latin typeface="Calibri" pitchFamily="34" charset="0"/>
                <a:ea typeface="Calibri" pitchFamily="34" charset="-122"/>
                <a:cs typeface="Calibri" pitchFamily="34" charset="-120"/>
              </a:rPr>
              <a:t>faster retrieval</a:t>
            </a:r>
            <a:endParaRPr lang="en-US" sz="1150" dirty="0"/>
          </a:p>
        </p:txBody>
      </p:sp>
      <p:sp>
        <p:nvSpPr>
          <p:cNvPr id="25" name="Shape 18"/>
          <p:cNvSpPr/>
          <p:nvPr/>
        </p:nvSpPr>
        <p:spPr>
          <a:xfrm>
            <a:off x="6035040" y="2194560"/>
            <a:ext cx="2651760" cy="777240"/>
          </a:xfrm>
          <a:prstGeom prst="roundRect">
            <a:avLst>
              <a:gd name="adj" fmla="val 9412"/>
            </a:avLst>
          </a:prstGeom>
          <a:solidFill>
            <a:srgbClr val="F2F4F8"/>
          </a:solidFill>
          <a:ln/>
          <a:effectLst>
            <a:outerShdw sx="100000" sy="100000" kx="0" ky="0" algn="bl" rotWithShape="0" blurRad="76200" dist="25400" dir="5400000">
              <a:srgbClr val="000000">
                <a:alpha val="12000"/>
              </a:srgbClr>
            </a:outerShdw>
          </a:effectLst>
        </p:spPr>
      </p:sp>
      <p:sp>
        <p:nvSpPr>
          <p:cNvPr id="26" name="Shape 19"/>
          <p:cNvSpPr/>
          <p:nvPr/>
        </p:nvSpPr>
        <p:spPr>
          <a:xfrm>
            <a:off x="6144768" y="2377440"/>
            <a:ext cx="411480" cy="411480"/>
          </a:xfrm>
          <a:prstGeom prst="ellipse">
            <a:avLst/>
          </a:prstGeom>
          <a:solidFill>
            <a:srgbClr val="13478F"/>
          </a:solidFill>
          <a:ln/>
        </p:spPr>
      </p:sp>
      <p:pic>
        <p:nvPicPr>
          <p:cNvPr id="27" name="Image 5" descr="preencoded.png">    </p:cNvPr>
          <p:cNvPicPr>
            <a:picLocks noChangeAspect="1"/>
          </p:cNvPicPr>
          <p:nvPr/>
        </p:nvPicPr>
        <p:blipFill>
          <a:blip r:embed="rId6"/>
          <a:stretch>
            <a:fillRect/>
          </a:stretch>
        </p:blipFill>
        <p:spPr>
          <a:xfrm>
            <a:off x="6243523" y="2476195"/>
            <a:ext cx="213970" cy="213970"/>
          </a:xfrm>
          <a:prstGeom prst="rect">
            <a:avLst/>
          </a:prstGeom>
        </p:spPr>
      </p:pic>
      <p:sp>
        <p:nvSpPr>
          <p:cNvPr id="28" name="Text 20"/>
          <p:cNvSpPr txBox="1"/>
          <p:nvPr/>
        </p:nvSpPr>
        <p:spPr>
          <a:xfrm>
            <a:off x="6656832" y="2240280"/>
            <a:ext cx="196596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 </a:t>
            </a:r>
            <a:pPr indent="0" marL="0">
              <a:buNone/>
            </a:pPr>
            <a:r>
              <a:rPr lang="en-US" sz="1150" b="1" dirty="0">
                <a:solidFill>
                  <a:srgbClr val="13478F"/>
                </a:solidFill>
                <a:latin typeface="Calibri" pitchFamily="34" charset="0"/>
                <a:ea typeface="Calibri" pitchFamily="34" charset="-122"/>
                <a:cs typeface="Calibri" pitchFamily="34" charset="-120"/>
              </a:rPr>
              <a:t>web-based system</a:t>
            </a:r>
            <a:pPr indent="0" marL="0">
              <a:buNone/>
            </a:pPr>
            <a:r>
              <a:rPr lang="en-US" sz="1150" dirty="0">
                <a:solidFill>
                  <a:srgbClr val="1F2937"/>
                </a:solidFill>
                <a:latin typeface="Calibri" pitchFamily="34" charset="0"/>
                <a:ea typeface="Calibri" pitchFamily="34" charset="-122"/>
                <a:cs typeface="Calibri" pitchFamily="34" charset="-120"/>
              </a:rPr>
              <a:t> can ease routine administration</a:t>
            </a:r>
            <a:endParaRPr lang="en-US" sz="1150" dirty="0"/>
          </a:p>
        </p:txBody>
      </p:sp>
      <p:sp>
        <p:nvSpPr>
          <p:cNvPr id="29" name="Text 21"/>
          <p:cNvSpPr txBox="1"/>
          <p:nvPr/>
        </p:nvSpPr>
        <p:spPr>
          <a:xfrm>
            <a:off x="457200" y="3246120"/>
            <a:ext cx="5486400" cy="228600"/>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From manual process to digital solution</a:t>
            </a:r>
            <a:endParaRPr lang="en-US" sz="1200" dirty="0"/>
          </a:p>
        </p:txBody>
      </p:sp>
      <p:sp>
        <p:nvSpPr>
          <p:cNvPr id="30" name="Shape 22"/>
          <p:cNvSpPr/>
          <p:nvPr/>
        </p:nvSpPr>
        <p:spPr>
          <a:xfrm>
            <a:off x="457200" y="3566160"/>
            <a:ext cx="2407920" cy="822960"/>
          </a:xfrm>
          <a:prstGeom prst="roundRect">
            <a:avLst>
              <a:gd name="adj" fmla="val 8889"/>
            </a:avLst>
          </a:prstGeom>
          <a:solidFill>
            <a:srgbClr val="F2F4F8"/>
          </a:solidFill>
          <a:ln/>
          <a:effectLst>
            <a:outerShdw sx="100000" sy="100000" kx="0" ky="0" algn="bl" rotWithShape="0" blurRad="76200" dist="25400" dir="5400000">
              <a:srgbClr val="000000">
                <a:alpha val="12000"/>
              </a:srgbClr>
            </a:outerShdw>
          </a:effectLst>
        </p:spPr>
      </p:sp>
      <p:sp>
        <p:nvSpPr>
          <p:cNvPr id="31" name="Text 23"/>
          <p:cNvSpPr txBox="1"/>
          <p:nvPr/>
        </p:nvSpPr>
        <p:spPr>
          <a:xfrm>
            <a:off x="530352" y="3566160"/>
            <a:ext cx="2261616" cy="82296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Manual Process</a:t>
            </a:r>
            <a:endParaRPr lang="en-US" sz="1300" dirty="0"/>
          </a:p>
        </p:txBody>
      </p:sp>
      <p:sp>
        <p:nvSpPr>
          <p:cNvPr id="32" name="Shape 24"/>
          <p:cNvSpPr/>
          <p:nvPr/>
        </p:nvSpPr>
        <p:spPr>
          <a:xfrm>
            <a:off x="2892552" y="3977640"/>
            <a:ext cx="448056" cy="0"/>
          </a:xfrm>
          <a:prstGeom prst="line">
            <a:avLst/>
          </a:prstGeom>
          <a:noFill/>
          <a:ln w="25400">
            <a:solidFill>
              <a:srgbClr val="13478F"/>
            </a:solidFill>
            <a:prstDash val="solid"/>
            <a:tailEnd type="triangle"/>
          </a:ln>
        </p:spPr>
      </p:sp>
      <p:sp>
        <p:nvSpPr>
          <p:cNvPr id="33" name="Shape 25"/>
          <p:cNvSpPr/>
          <p:nvPr/>
        </p:nvSpPr>
        <p:spPr>
          <a:xfrm>
            <a:off x="3368040" y="3566160"/>
            <a:ext cx="2407920" cy="822960"/>
          </a:xfrm>
          <a:prstGeom prst="roundRect">
            <a:avLst>
              <a:gd name="adj" fmla="val 8889"/>
            </a:avLst>
          </a:prstGeom>
          <a:solidFill>
            <a:srgbClr val="FBEAEA"/>
          </a:solidFill>
          <a:ln/>
          <a:effectLst>
            <a:outerShdw sx="100000" sy="100000" kx="0" ky="0" algn="bl" rotWithShape="0" blurRad="76200" dist="25400" dir="5400000">
              <a:srgbClr val="000000">
                <a:alpha val="12000"/>
              </a:srgbClr>
            </a:outerShdw>
          </a:effectLst>
        </p:spPr>
      </p:sp>
      <p:sp>
        <p:nvSpPr>
          <p:cNvPr id="34" name="Text 26"/>
          <p:cNvSpPr txBox="1"/>
          <p:nvPr/>
        </p:nvSpPr>
        <p:spPr>
          <a:xfrm>
            <a:off x="3441192" y="3566160"/>
            <a:ext cx="2261616" cy="82296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Problems</a:t>
            </a:r>
            <a:endParaRPr lang="en-US" sz="1300" dirty="0"/>
          </a:p>
        </p:txBody>
      </p:sp>
      <p:sp>
        <p:nvSpPr>
          <p:cNvPr id="35" name="Shape 27"/>
          <p:cNvSpPr/>
          <p:nvPr/>
        </p:nvSpPr>
        <p:spPr>
          <a:xfrm>
            <a:off x="5803392" y="3977640"/>
            <a:ext cx="448056" cy="0"/>
          </a:xfrm>
          <a:prstGeom prst="line">
            <a:avLst/>
          </a:prstGeom>
          <a:noFill/>
          <a:ln w="25400">
            <a:solidFill>
              <a:srgbClr val="13478F"/>
            </a:solidFill>
            <a:prstDash val="solid"/>
            <a:tailEnd type="triangle"/>
          </a:ln>
        </p:spPr>
      </p:sp>
      <p:sp>
        <p:nvSpPr>
          <p:cNvPr id="36" name="Shape 28"/>
          <p:cNvSpPr/>
          <p:nvPr/>
        </p:nvSpPr>
        <p:spPr>
          <a:xfrm>
            <a:off x="6278880" y="3566160"/>
            <a:ext cx="2407920" cy="822960"/>
          </a:xfrm>
          <a:prstGeom prst="roundRect">
            <a:avLst>
              <a:gd name="adj" fmla="val 8889"/>
            </a:avLst>
          </a:prstGeom>
          <a:solidFill>
            <a:srgbClr val="0B2545"/>
          </a:solidFill>
          <a:ln/>
          <a:effectLst>
            <a:outerShdw sx="100000" sy="100000" kx="0" ky="0" algn="bl" rotWithShape="0" blurRad="76200" dist="25400" dir="5400000">
              <a:srgbClr val="000000">
                <a:alpha val="12000"/>
              </a:srgbClr>
            </a:outerShdw>
          </a:effectLst>
        </p:spPr>
      </p:sp>
      <p:sp>
        <p:nvSpPr>
          <p:cNvPr id="37" name="Text 29"/>
          <p:cNvSpPr txBox="1"/>
          <p:nvPr/>
        </p:nvSpPr>
        <p:spPr>
          <a:xfrm>
            <a:off x="6352032" y="3566160"/>
            <a:ext cx="2261616"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Digital Centralized Solution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155180" y="219456"/>
            <a:ext cx="1531620" cy="274320"/>
          </a:xfrm>
          <a:prstGeom prst="roundRect">
            <a:avLst>
              <a:gd name="adj" fmla="val 50000"/>
            </a:avLst>
          </a:prstGeom>
          <a:solidFill>
            <a:srgbClr val="13478F"/>
          </a:solidFill>
          <a:ln/>
        </p:spPr>
      </p:sp>
      <p:sp>
        <p:nvSpPr>
          <p:cNvPr id="3" name="Text 1"/>
          <p:cNvSpPr txBox="1"/>
          <p:nvPr/>
        </p:nvSpPr>
        <p:spPr>
          <a:xfrm>
            <a:off x="7155180" y="219456"/>
            <a:ext cx="15316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PROPOSED SYSTEM</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Objectives</a:t>
            </a:r>
            <a:endParaRPr lang="en-US" sz="2600" dirty="0"/>
          </a:p>
        </p:txBody>
      </p:sp>
      <p:sp>
        <p:nvSpPr>
          <p:cNvPr id="5" name="Shape 3"/>
          <p:cNvSpPr/>
          <p:nvPr/>
        </p:nvSpPr>
        <p:spPr>
          <a:xfrm>
            <a:off x="457200" y="1280160"/>
            <a:ext cx="4023360" cy="585216"/>
          </a:xfrm>
          <a:prstGeom prst="roundRect">
            <a:avLst>
              <a:gd name="adj" fmla="val 12500"/>
            </a:avLst>
          </a:prstGeom>
          <a:solidFill>
            <a:srgbClr val="F2F4F8"/>
          </a:solidFill>
          <a:ln/>
        </p:spPr>
      </p:sp>
      <p:sp>
        <p:nvSpPr>
          <p:cNvPr id="6" name="Shape 4"/>
          <p:cNvSpPr/>
          <p:nvPr/>
        </p:nvSpPr>
        <p:spPr>
          <a:xfrm>
            <a:off x="548640" y="1389888"/>
            <a:ext cx="365760" cy="365760"/>
          </a:xfrm>
          <a:prstGeom prst="ellipse">
            <a:avLst/>
          </a:prstGeom>
          <a:solidFill>
            <a:srgbClr val="13478F"/>
          </a:solidFill>
          <a:ln/>
        </p:spPr>
      </p:sp>
      <p:sp>
        <p:nvSpPr>
          <p:cNvPr id="7" name="Text 5"/>
          <p:cNvSpPr txBox="1"/>
          <p:nvPr/>
        </p:nvSpPr>
        <p:spPr>
          <a:xfrm>
            <a:off x="548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51560" y="1280160"/>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Develop a centralized hostel management system</a:t>
            </a:r>
            <a:endParaRPr lang="en-US" sz="1300" dirty="0"/>
          </a:p>
        </p:txBody>
      </p:sp>
      <p:sp>
        <p:nvSpPr>
          <p:cNvPr id="9" name="Shape 7"/>
          <p:cNvSpPr/>
          <p:nvPr/>
        </p:nvSpPr>
        <p:spPr>
          <a:xfrm>
            <a:off x="457200" y="1956816"/>
            <a:ext cx="4023360" cy="585216"/>
          </a:xfrm>
          <a:prstGeom prst="roundRect">
            <a:avLst>
              <a:gd name="adj" fmla="val 12500"/>
            </a:avLst>
          </a:prstGeom>
          <a:solidFill>
            <a:srgbClr val="F2F4F8"/>
          </a:solidFill>
          <a:ln/>
        </p:spPr>
      </p:sp>
      <p:sp>
        <p:nvSpPr>
          <p:cNvPr id="10" name="Shape 8"/>
          <p:cNvSpPr/>
          <p:nvPr/>
        </p:nvSpPr>
        <p:spPr>
          <a:xfrm>
            <a:off x="548640" y="2066544"/>
            <a:ext cx="365760" cy="365760"/>
          </a:xfrm>
          <a:prstGeom prst="ellipse">
            <a:avLst/>
          </a:prstGeom>
          <a:solidFill>
            <a:srgbClr val="13478F"/>
          </a:solidFill>
          <a:ln/>
        </p:spPr>
      </p:sp>
      <p:sp>
        <p:nvSpPr>
          <p:cNvPr id="11" name="Text 9"/>
          <p:cNvSpPr txBox="1"/>
          <p:nvPr/>
        </p:nvSpPr>
        <p:spPr>
          <a:xfrm>
            <a:off x="548640"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51560" y="1956816"/>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Maintain student information in a structured database</a:t>
            </a:r>
            <a:endParaRPr lang="en-US" sz="1300" dirty="0"/>
          </a:p>
        </p:txBody>
      </p:sp>
      <p:sp>
        <p:nvSpPr>
          <p:cNvPr id="13" name="Shape 11"/>
          <p:cNvSpPr/>
          <p:nvPr/>
        </p:nvSpPr>
        <p:spPr>
          <a:xfrm>
            <a:off x="457200" y="2633472"/>
            <a:ext cx="4023360" cy="585216"/>
          </a:xfrm>
          <a:prstGeom prst="roundRect">
            <a:avLst>
              <a:gd name="adj" fmla="val 12500"/>
            </a:avLst>
          </a:prstGeom>
          <a:solidFill>
            <a:srgbClr val="F2F4F8"/>
          </a:solidFill>
          <a:ln/>
        </p:spPr>
      </p:sp>
      <p:sp>
        <p:nvSpPr>
          <p:cNvPr id="14" name="Shape 12"/>
          <p:cNvSpPr/>
          <p:nvPr/>
        </p:nvSpPr>
        <p:spPr>
          <a:xfrm>
            <a:off x="548640" y="2743200"/>
            <a:ext cx="365760" cy="365760"/>
          </a:xfrm>
          <a:prstGeom prst="ellipse">
            <a:avLst/>
          </a:prstGeom>
          <a:solidFill>
            <a:srgbClr val="13478F"/>
          </a:solidFill>
          <a:ln/>
        </p:spPr>
      </p:sp>
      <p:sp>
        <p:nvSpPr>
          <p:cNvPr id="15" name="Text 13"/>
          <p:cNvSpPr txBox="1"/>
          <p:nvPr/>
        </p:nvSpPr>
        <p:spPr>
          <a:xfrm>
            <a:off x="548640" y="27432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51560" y="2633472"/>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Manage hostel rooms and room availability</a:t>
            </a:r>
            <a:endParaRPr lang="en-US" sz="1300" dirty="0"/>
          </a:p>
        </p:txBody>
      </p:sp>
      <p:sp>
        <p:nvSpPr>
          <p:cNvPr id="17" name="Shape 15"/>
          <p:cNvSpPr/>
          <p:nvPr/>
        </p:nvSpPr>
        <p:spPr>
          <a:xfrm>
            <a:off x="457200" y="3310128"/>
            <a:ext cx="4023360" cy="585216"/>
          </a:xfrm>
          <a:prstGeom prst="roundRect">
            <a:avLst>
              <a:gd name="adj" fmla="val 12500"/>
            </a:avLst>
          </a:prstGeom>
          <a:solidFill>
            <a:srgbClr val="F2F4F8"/>
          </a:solidFill>
          <a:ln/>
        </p:spPr>
      </p:sp>
      <p:sp>
        <p:nvSpPr>
          <p:cNvPr id="18" name="Shape 16"/>
          <p:cNvSpPr/>
          <p:nvPr/>
        </p:nvSpPr>
        <p:spPr>
          <a:xfrm>
            <a:off x="548640" y="3419856"/>
            <a:ext cx="365760" cy="365760"/>
          </a:xfrm>
          <a:prstGeom prst="ellipse">
            <a:avLst/>
          </a:prstGeom>
          <a:solidFill>
            <a:srgbClr val="13478F"/>
          </a:solidFill>
          <a:ln/>
        </p:spPr>
      </p:sp>
      <p:sp>
        <p:nvSpPr>
          <p:cNvPr id="19" name="Text 17"/>
          <p:cNvSpPr txBox="1"/>
          <p:nvPr/>
        </p:nvSpPr>
        <p:spPr>
          <a:xfrm>
            <a:off x="548640" y="34198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051560" y="3310128"/>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Manage student-room allocation</a:t>
            </a:r>
            <a:endParaRPr lang="en-US" sz="1300" dirty="0"/>
          </a:p>
        </p:txBody>
      </p:sp>
      <p:sp>
        <p:nvSpPr>
          <p:cNvPr id="21" name="Shape 19"/>
          <p:cNvSpPr/>
          <p:nvPr/>
        </p:nvSpPr>
        <p:spPr>
          <a:xfrm>
            <a:off x="457200" y="3986784"/>
            <a:ext cx="4023360" cy="585216"/>
          </a:xfrm>
          <a:prstGeom prst="roundRect">
            <a:avLst>
              <a:gd name="adj" fmla="val 12500"/>
            </a:avLst>
          </a:prstGeom>
          <a:solidFill>
            <a:srgbClr val="F2F4F8"/>
          </a:solidFill>
          <a:ln/>
        </p:spPr>
      </p:sp>
      <p:sp>
        <p:nvSpPr>
          <p:cNvPr id="22" name="Shape 20"/>
          <p:cNvSpPr/>
          <p:nvPr/>
        </p:nvSpPr>
        <p:spPr>
          <a:xfrm>
            <a:off x="548640" y="4096512"/>
            <a:ext cx="365760" cy="365760"/>
          </a:xfrm>
          <a:prstGeom prst="ellipse">
            <a:avLst/>
          </a:prstGeom>
          <a:solidFill>
            <a:srgbClr val="13478F"/>
          </a:solidFill>
          <a:ln/>
        </p:spPr>
      </p:sp>
      <p:sp>
        <p:nvSpPr>
          <p:cNvPr id="23" name="Text 21"/>
          <p:cNvSpPr txBox="1"/>
          <p:nvPr/>
        </p:nvSpPr>
        <p:spPr>
          <a:xfrm>
            <a:off x="548640" y="40965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051560" y="3986784"/>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Maintain fee payment records</a:t>
            </a:r>
            <a:endParaRPr lang="en-US" sz="1300" dirty="0"/>
          </a:p>
        </p:txBody>
      </p:sp>
      <p:sp>
        <p:nvSpPr>
          <p:cNvPr id="25" name="Shape 23"/>
          <p:cNvSpPr/>
          <p:nvPr/>
        </p:nvSpPr>
        <p:spPr>
          <a:xfrm>
            <a:off x="4663440" y="1280160"/>
            <a:ext cx="4023360" cy="585216"/>
          </a:xfrm>
          <a:prstGeom prst="roundRect">
            <a:avLst>
              <a:gd name="adj" fmla="val 12500"/>
            </a:avLst>
          </a:prstGeom>
          <a:solidFill>
            <a:srgbClr val="F2F4F8"/>
          </a:solidFill>
          <a:ln/>
        </p:spPr>
      </p:sp>
      <p:sp>
        <p:nvSpPr>
          <p:cNvPr id="26" name="Shape 24"/>
          <p:cNvSpPr/>
          <p:nvPr/>
        </p:nvSpPr>
        <p:spPr>
          <a:xfrm>
            <a:off x="4754880" y="1389888"/>
            <a:ext cx="365760" cy="365760"/>
          </a:xfrm>
          <a:prstGeom prst="ellipse">
            <a:avLst/>
          </a:prstGeom>
          <a:solidFill>
            <a:srgbClr val="0B2545"/>
          </a:solidFill>
          <a:ln/>
        </p:spPr>
      </p:sp>
      <p:sp>
        <p:nvSpPr>
          <p:cNvPr id="27" name="Text 25"/>
          <p:cNvSpPr txBox="1"/>
          <p:nvPr/>
        </p:nvSpPr>
        <p:spPr>
          <a:xfrm>
            <a:off x="475488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5257800" y="1280160"/>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Record and manage complaints</a:t>
            </a:r>
            <a:endParaRPr lang="en-US" sz="1300" dirty="0"/>
          </a:p>
        </p:txBody>
      </p:sp>
      <p:sp>
        <p:nvSpPr>
          <p:cNvPr id="29" name="Shape 27"/>
          <p:cNvSpPr/>
          <p:nvPr/>
        </p:nvSpPr>
        <p:spPr>
          <a:xfrm>
            <a:off x="4663440" y="1956816"/>
            <a:ext cx="4023360" cy="585216"/>
          </a:xfrm>
          <a:prstGeom prst="roundRect">
            <a:avLst>
              <a:gd name="adj" fmla="val 12500"/>
            </a:avLst>
          </a:prstGeom>
          <a:solidFill>
            <a:srgbClr val="F2F4F8"/>
          </a:solidFill>
          <a:ln/>
        </p:spPr>
      </p:sp>
      <p:sp>
        <p:nvSpPr>
          <p:cNvPr id="30" name="Shape 28"/>
          <p:cNvSpPr/>
          <p:nvPr/>
        </p:nvSpPr>
        <p:spPr>
          <a:xfrm>
            <a:off x="4754880" y="2066544"/>
            <a:ext cx="365760" cy="365760"/>
          </a:xfrm>
          <a:prstGeom prst="ellipse">
            <a:avLst/>
          </a:prstGeom>
          <a:solidFill>
            <a:srgbClr val="0B2545"/>
          </a:solidFill>
          <a:ln/>
        </p:spPr>
      </p:sp>
      <p:sp>
        <p:nvSpPr>
          <p:cNvPr id="31" name="Text 29"/>
          <p:cNvSpPr txBox="1"/>
          <p:nvPr/>
        </p:nvSpPr>
        <p:spPr>
          <a:xfrm>
            <a:off x="4754880" y="20665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2" name="Text 30"/>
          <p:cNvSpPr txBox="1"/>
          <p:nvPr/>
        </p:nvSpPr>
        <p:spPr>
          <a:xfrm>
            <a:off x="5257800" y="1956816"/>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Provide CRUD operations for authorized users</a:t>
            </a:r>
            <a:endParaRPr lang="en-US" sz="1300" dirty="0"/>
          </a:p>
        </p:txBody>
      </p:sp>
      <p:sp>
        <p:nvSpPr>
          <p:cNvPr id="33" name="Shape 31"/>
          <p:cNvSpPr/>
          <p:nvPr/>
        </p:nvSpPr>
        <p:spPr>
          <a:xfrm>
            <a:off x="4663440" y="2633472"/>
            <a:ext cx="4023360" cy="585216"/>
          </a:xfrm>
          <a:prstGeom prst="roundRect">
            <a:avLst>
              <a:gd name="adj" fmla="val 12500"/>
            </a:avLst>
          </a:prstGeom>
          <a:solidFill>
            <a:srgbClr val="F2F4F8"/>
          </a:solidFill>
          <a:ln/>
        </p:spPr>
      </p:sp>
      <p:sp>
        <p:nvSpPr>
          <p:cNvPr id="34" name="Shape 32"/>
          <p:cNvSpPr/>
          <p:nvPr/>
        </p:nvSpPr>
        <p:spPr>
          <a:xfrm>
            <a:off x="4754880" y="2743200"/>
            <a:ext cx="365760" cy="365760"/>
          </a:xfrm>
          <a:prstGeom prst="ellipse">
            <a:avLst/>
          </a:prstGeom>
          <a:solidFill>
            <a:srgbClr val="0B2545"/>
          </a:solidFill>
          <a:ln/>
        </p:spPr>
      </p:sp>
      <p:sp>
        <p:nvSpPr>
          <p:cNvPr id="35" name="Text 33"/>
          <p:cNvSpPr txBox="1"/>
          <p:nvPr/>
        </p:nvSpPr>
        <p:spPr>
          <a:xfrm>
            <a:off x="4754880" y="27432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6" name="Text 34"/>
          <p:cNvSpPr txBox="1"/>
          <p:nvPr/>
        </p:nvSpPr>
        <p:spPr>
          <a:xfrm>
            <a:off x="5257800" y="2633472"/>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Reduce data redundancy and manual effort</a:t>
            </a:r>
            <a:endParaRPr lang="en-US" sz="1300" dirty="0"/>
          </a:p>
        </p:txBody>
      </p:sp>
      <p:sp>
        <p:nvSpPr>
          <p:cNvPr id="37" name="Shape 35"/>
          <p:cNvSpPr/>
          <p:nvPr/>
        </p:nvSpPr>
        <p:spPr>
          <a:xfrm>
            <a:off x="4663440" y="3310128"/>
            <a:ext cx="4023360" cy="585216"/>
          </a:xfrm>
          <a:prstGeom prst="roundRect">
            <a:avLst>
              <a:gd name="adj" fmla="val 12500"/>
            </a:avLst>
          </a:prstGeom>
          <a:solidFill>
            <a:srgbClr val="F2F4F8"/>
          </a:solidFill>
          <a:ln/>
        </p:spPr>
      </p:sp>
      <p:sp>
        <p:nvSpPr>
          <p:cNvPr id="38" name="Shape 36"/>
          <p:cNvSpPr/>
          <p:nvPr/>
        </p:nvSpPr>
        <p:spPr>
          <a:xfrm>
            <a:off x="4754880" y="3419856"/>
            <a:ext cx="365760" cy="365760"/>
          </a:xfrm>
          <a:prstGeom prst="ellipse">
            <a:avLst/>
          </a:prstGeom>
          <a:solidFill>
            <a:srgbClr val="0B2545"/>
          </a:solidFill>
          <a:ln/>
        </p:spPr>
      </p:sp>
      <p:sp>
        <p:nvSpPr>
          <p:cNvPr id="39" name="Text 37"/>
          <p:cNvSpPr txBox="1"/>
          <p:nvPr/>
        </p:nvSpPr>
        <p:spPr>
          <a:xfrm>
            <a:off x="4754880" y="34198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0" name="Text 38"/>
          <p:cNvSpPr txBox="1"/>
          <p:nvPr/>
        </p:nvSpPr>
        <p:spPr>
          <a:xfrm>
            <a:off x="5257800" y="3310128"/>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Improve information retrieval</a:t>
            </a:r>
            <a:endParaRPr lang="en-US" sz="1300" dirty="0"/>
          </a:p>
        </p:txBody>
      </p:sp>
      <p:sp>
        <p:nvSpPr>
          <p:cNvPr id="41" name="Shape 39"/>
          <p:cNvSpPr/>
          <p:nvPr/>
        </p:nvSpPr>
        <p:spPr>
          <a:xfrm>
            <a:off x="4663440" y="3986784"/>
            <a:ext cx="4023360" cy="585216"/>
          </a:xfrm>
          <a:prstGeom prst="roundRect">
            <a:avLst>
              <a:gd name="adj" fmla="val 12500"/>
            </a:avLst>
          </a:prstGeom>
          <a:solidFill>
            <a:srgbClr val="F2F4F8"/>
          </a:solidFill>
          <a:ln/>
        </p:spPr>
      </p:sp>
      <p:sp>
        <p:nvSpPr>
          <p:cNvPr id="42" name="Shape 40"/>
          <p:cNvSpPr/>
          <p:nvPr/>
        </p:nvSpPr>
        <p:spPr>
          <a:xfrm>
            <a:off x="4754880" y="4096512"/>
            <a:ext cx="365760" cy="365760"/>
          </a:xfrm>
          <a:prstGeom prst="ellipse">
            <a:avLst/>
          </a:prstGeom>
          <a:solidFill>
            <a:srgbClr val="0B2545"/>
          </a:solidFill>
          <a:ln/>
        </p:spPr>
      </p:sp>
      <p:sp>
        <p:nvSpPr>
          <p:cNvPr id="43" name="Text 41"/>
          <p:cNvSpPr txBox="1"/>
          <p:nvPr/>
        </p:nvSpPr>
        <p:spPr>
          <a:xfrm>
            <a:off x="4754880" y="40965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4" name="Text 42"/>
          <p:cNvSpPr txBox="1"/>
          <p:nvPr/>
        </p:nvSpPr>
        <p:spPr>
          <a:xfrm>
            <a:off x="5257800" y="3986784"/>
            <a:ext cx="3337560" cy="58521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Provide a foundation for scalable backend development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1112" y="219456"/>
            <a:ext cx="2075688" cy="274320"/>
          </a:xfrm>
          <a:prstGeom prst="roundRect">
            <a:avLst>
              <a:gd name="adj" fmla="val 50000"/>
            </a:avLst>
          </a:prstGeom>
          <a:solidFill>
            <a:srgbClr val="1B7F5C"/>
          </a:solidFill>
          <a:ln/>
        </p:spPr>
      </p:sp>
      <p:sp>
        <p:nvSpPr>
          <p:cNvPr id="3" name="Text 1"/>
          <p:cNvSpPr txBox="1"/>
          <p:nvPr/>
        </p:nvSpPr>
        <p:spPr>
          <a:xfrm>
            <a:off x="6611112" y="219456"/>
            <a:ext cx="207568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EXISTING vs PROPOSED</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Comparison with Existing System</a:t>
            </a:r>
            <a:endParaRPr lang="en-US" sz="2600" dirty="0"/>
          </a:p>
        </p:txBody>
      </p:sp>
      <p:sp>
        <p:nvSpPr>
          <p:cNvPr id="5" name="Shape 3"/>
          <p:cNvSpPr/>
          <p:nvPr/>
        </p:nvSpPr>
        <p:spPr>
          <a:xfrm>
            <a:off x="457200" y="1234440"/>
            <a:ext cx="3749040" cy="3200400"/>
          </a:xfrm>
          <a:prstGeom prst="roundRect">
            <a:avLst>
              <a:gd name="adj" fmla="val 2286"/>
            </a:avLst>
          </a:prstGeom>
          <a:solidFill>
            <a:srgbClr val="F2F4F8"/>
          </a:solidFill>
          <a:ln/>
        </p:spPr>
      </p:sp>
      <p:sp>
        <p:nvSpPr>
          <p:cNvPr id="6" name="Shape 4"/>
          <p:cNvSpPr/>
          <p:nvPr/>
        </p:nvSpPr>
        <p:spPr>
          <a:xfrm>
            <a:off x="4937760" y="1234440"/>
            <a:ext cx="3749040" cy="3200400"/>
          </a:xfrm>
          <a:prstGeom prst="roundRect">
            <a:avLst>
              <a:gd name="adj" fmla="val 2286"/>
            </a:avLst>
          </a:prstGeom>
          <a:solidFill>
            <a:srgbClr val="E6F4EE"/>
          </a:solidFill>
          <a:ln/>
        </p:spPr>
      </p:sp>
      <p:sp>
        <p:nvSpPr>
          <p:cNvPr id="7" name="Text 5"/>
          <p:cNvSpPr txBox="1"/>
          <p:nvPr/>
        </p:nvSpPr>
        <p:spPr>
          <a:xfrm>
            <a:off x="640080" y="1325880"/>
            <a:ext cx="3383280" cy="320040"/>
          </a:xfrm>
          <a:prstGeom prst="rect">
            <a:avLst/>
          </a:prstGeom>
          <a:noFill/>
          <a:ln/>
        </p:spPr>
        <p:txBody>
          <a:bodyPr wrap="square" lIns="0" tIns="0" rIns="0" bIns="0" rtlCol="0" anchor="t"/>
          <a:lstStyle/>
          <a:p>
            <a:pPr indent="0" marL="0">
              <a:buNone/>
            </a:pPr>
            <a:r>
              <a:rPr lang="en-US" sz="1500" b="1" dirty="0">
                <a:solidFill>
                  <a:srgbClr val="0B2545"/>
                </a:solidFill>
                <a:latin typeface="Cambria" pitchFamily="34" charset="0"/>
                <a:ea typeface="Cambria" pitchFamily="34" charset="-122"/>
                <a:cs typeface="Cambria" pitchFamily="34" charset="-120"/>
              </a:rPr>
              <a:t>Existing / traditional system</a:t>
            </a:r>
            <a:endParaRPr lang="en-US" sz="1500" dirty="0"/>
          </a:p>
        </p:txBody>
      </p:sp>
      <p:sp>
        <p:nvSpPr>
          <p:cNvPr id="8" name="Text 6"/>
          <p:cNvSpPr txBox="1"/>
          <p:nvPr/>
        </p:nvSpPr>
        <p:spPr>
          <a:xfrm>
            <a:off x="5120640" y="1325880"/>
            <a:ext cx="3383280" cy="320040"/>
          </a:xfrm>
          <a:prstGeom prst="rect">
            <a:avLst/>
          </a:prstGeom>
          <a:noFill/>
          <a:ln/>
        </p:spPr>
        <p:txBody>
          <a:bodyPr wrap="square" lIns="0" tIns="0" rIns="0" bIns="0" rtlCol="0" anchor="t"/>
          <a:lstStyle/>
          <a:p>
            <a:pPr indent="0" marL="0">
              <a:buNone/>
            </a:pPr>
            <a:r>
              <a:rPr lang="en-US" sz="1500" b="1" dirty="0">
                <a:solidFill>
                  <a:srgbClr val="1B7F5C"/>
                </a:solidFill>
                <a:latin typeface="Cambria" pitchFamily="34" charset="0"/>
                <a:ea typeface="Cambria" pitchFamily="34" charset="-122"/>
                <a:cs typeface="Cambria" pitchFamily="34" charset="-120"/>
              </a:rPr>
              <a:t>Proposed system</a:t>
            </a:r>
            <a:endParaRPr lang="en-US" sz="1500" dirty="0"/>
          </a:p>
        </p:txBody>
      </p:sp>
      <p:sp>
        <p:nvSpPr>
          <p:cNvPr id="9" name="Shape 7"/>
          <p:cNvSpPr/>
          <p:nvPr/>
        </p:nvSpPr>
        <p:spPr>
          <a:xfrm>
            <a:off x="640080" y="1783080"/>
            <a:ext cx="310896" cy="310896"/>
          </a:xfrm>
          <a:prstGeom prst="ellipse">
            <a:avLst/>
          </a:prstGeom>
          <a:solidFill>
            <a:srgbClr val="13478F"/>
          </a:solidFill>
          <a:ln/>
        </p:spPr>
      </p:sp>
      <p:pic>
        <p:nvPicPr>
          <p:cNvPr id="10" name="Image 0" descr="preencoded.png">    </p:cNvPr>
          <p:cNvPicPr>
            <a:picLocks noChangeAspect="1"/>
          </p:cNvPicPr>
          <p:nvPr/>
        </p:nvPicPr>
        <p:blipFill>
          <a:blip r:embed="rId1"/>
          <a:stretch>
            <a:fillRect/>
          </a:stretch>
        </p:blipFill>
        <p:spPr>
          <a:xfrm>
            <a:off x="714695" y="1857695"/>
            <a:ext cx="161666" cy="161666"/>
          </a:xfrm>
          <a:prstGeom prst="rect">
            <a:avLst/>
          </a:prstGeom>
        </p:spPr>
      </p:pic>
      <p:sp>
        <p:nvSpPr>
          <p:cNvPr id="11" name="Text 8"/>
          <p:cNvSpPr txBox="1"/>
          <p:nvPr/>
        </p:nvSpPr>
        <p:spPr>
          <a:xfrm>
            <a:off x="1051560" y="1783080"/>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Paper-based records</a:t>
            </a:r>
            <a:endParaRPr lang="en-US" sz="1300" dirty="0"/>
          </a:p>
        </p:txBody>
      </p:sp>
      <p:sp>
        <p:nvSpPr>
          <p:cNvPr id="12" name="Shape 9"/>
          <p:cNvSpPr/>
          <p:nvPr/>
        </p:nvSpPr>
        <p:spPr>
          <a:xfrm>
            <a:off x="640080" y="2212848"/>
            <a:ext cx="310896" cy="310896"/>
          </a:xfrm>
          <a:prstGeom prst="ellipse">
            <a:avLst/>
          </a:prstGeom>
          <a:solidFill>
            <a:srgbClr val="13478F"/>
          </a:solidFill>
          <a:ln/>
        </p:spPr>
      </p:sp>
      <p:pic>
        <p:nvPicPr>
          <p:cNvPr id="13" name="Image 1" descr="preencoded.png">    </p:cNvPr>
          <p:cNvPicPr>
            <a:picLocks noChangeAspect="1"/>
          </p:cNvPicPr>
          <p:nvPr/>
        </p:nvPicPr>
        <p:blipFill>
          <a:blip r:embed="rId2"/>
          <a:stretch>
            <a:fillRect/>
          </a:stretch>
        </p:blipFill>
        <p:spPr>
          <a:xfrm>
            <a:off x="714695" y="2287463"/>
            <a:ext cx="161666" cy="161666"/>
          </a:xfrm>
          <a:prstGeom prst="rect">
            <a:avLst/>
          </a:prstGeom>
        </p:spPr>
      </p:pic>
      <p:sp>
        <p:nvSpPr>
          <p:cNvPr id="14" name="Text 10"/>
          <p:cNvSpPr txBox="1"/>
          <p:nvPr/>
        </p:nvSpPr>
        <p:spPr>
          <a:xfrm>
            <a:off x="1051560" y="2212848"/>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Spreadsheets / manual files</a:t>
            </a:r>
            <a:endParaRPr lang="en-US" sz="1300" dirty="0"/>
          </a:p>
        </p:txBody>
      </p:sp>
      <p:sp>
        <p:nvSpPr>
          <p:cNvPr id="15" name="Shape 11"/>
          <p:cNvSpPr/>
          <p:nvPr/>
        </p:nvSpPr>
        <p:spPr>
          <a:xfrm>
            <a:off x="640080" y="2642616"/>
            <a:ext cx="310896" cy="310896"/>
          </a:xfrm>
          <a:prstGeom prst="ellipse">
            <a:avLst/>
          </a:prstGeom>
          <a:solidFill>
            <a:srgbClr val="13478F"/>
          </a:solidFill>
          <a:ln/>
        </p:spPr>
      </p:sp>
      <p:pic>
        <p:nvPicPr>
          <p:cNvPr id="16" name="Image 2" descr="preencoded.png">    </p:cNvPr>
          <p:cNvPicPr>
            <a:picLocks noChangeAspect="1"/>
          </p:cNvPicPr>
          <p:nvPr/>
        </p:nvPicPr>
        <p:blipFill>
          <a:blip r:embed="rId3"/>
          <a:stretch>
            <a:fillRect/>
          </a:stretch>
        </p:blipFill>
        <p:spPr>
          <a:xfrm>
            <a:off x="714695" y="2717231"/>
            <a:ext cx="161666" cy="161666"/>
          </a:xfrm>
          <a:prstGeom prst="rect">
            <a:avLst/>
          </a:prstGeom>
        </p:spPr>
      </p:pic>
      <p:sp>
        <p:nvSpPr>
          <p:cNvPr id="17" name="Text 12"/>
          <p:cNvSpPr txBox="1"/>
          <p:nvPr/>
        </p:nvSpPr>
        <p:spPr>
          <a:xfrm>
            <a:off x="1051560" y="2642616"/>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Separate records per hostel activity</a:t>
            </a:r>
            <a:endParaRPr lang="en-US" sz="1300" dirty="0"/>
          </a:p>
        </p:txBody>
      </p:sp>
      <p:sp>
        <p:nvSpPr>
          <p:cNvPr id="18" name="Shape 13"/>
          <p:cNvSpPr/>
          <p:nvPr/>
        </p:nvSpPr>
        <p:spPr>
          <a:xfrm>
            <a:off x="640080" y="3072384"/>
            <a:ext cx="310896" cy="310896"/>
          </a:xfrm>
          <a:prstGeom prst="ellipse">
            <a:avLst/>
          </a:prstGeom>
          <a:solidFill>
            <a:srgbClr val="13478F"/>
          </a:solidFill>
          <a:ln/>
        </p:spPr>
      </p:sp>
      <p:pic>
        <p:nvPicPr>
          <p:cNvPr id="19" name="Image 3" descr="preencoded.png">    </p:cNvPr>
          <p:cNvPicPr>
            <a:picLocks noChangeAspect="1"/>
          </p:cNvPicPr>
          <p:nvPr/>
        </p:nvPicPr>
        <p:blipFill>
          <a:blip r:embed="rId4"/>
          <a:stretch>
            <a:fillRect/>
          </a:stretch>
        </p:blipFill>
        <p:spPr>
          <a:xfrm>
            <a:off x="714695" y="3146999"/>
            <a:ext cx="161666" cy="161666"/>
          </a:xfrm>
          <a:prstGeom prst="rect">
            <a:avLst/>
          </a:prstGeom>
        </p:spPr>
      </p:pic>
      <p:sp>
        <p:nvSpPr>
          <p:cNvPr id="20" name="Text 14"/>
          <p:cNvSpPr txBox="1"/>
          <p:nvPr/>
        </p:nvSpPr>
        <p:spPr>
          <a:xfrm>
            <a:off x="1051560" y="3072384"/>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Manual room allocation</a:t>
            </a:r>
            <a:endParaRPr lang="en-US" sz="1300" dirty="0"/>
          </a:p>
        </p:txBody>
      </p:sp>
      <p:sp>
        <p:nvSpPr>
          <p:cNvPr id="21" name="Shape 15"/>
          <p:cNvSpPr/>
          <p:nvPr/>
        </p:nvSpPr>
        <p:spPr>
          <a:xfrm>
            <a:off x="640080" y="3502152"/>
            <a:ext cx="310896" cy="310896"/>
          </a:xfrm>
          <a:prstGeom prst="ellipse">
            <a:avLst/>
          </a:prstGeom>
          <a:solidFill>
            <a:srgbClr val="13478F"/>
          </a:solidFill>
          <a:ln/>
        </p:spPr>
      </p:sp>
      <p:pic>
        <p:nvPicPr>
          <p:cNvPr id="22" name="Image 4" descr="preencoded.png">    </p:cNvPr>
          <p:cNvPicPr>
            <a:picLocks noChangeAspect="1"/>
          </p:cNvPicPr>
          <p:nvPr/>
        </p:nvPicPr>
        <p:blipFill>
          <a:blip r:embed="rId5"/>
          <a:stretch>
            <a:fillRect/>
          </a:stretch>
        </p:blipFill>
        <p:spPr>
          <a:xfrm>
            <a:off x="714695" y="3576767"/>
            <a:ext cx="161666" cy="161666"/>
          </a:xfrm>
          <a:prstGeom prst="rect">
            <a:avLst/>
          </a:prstGeom>
        </p:spPr>
      </p:pic>
      <p:sp>
        <p:nvSpPr>
          <p:cNvPr id="23" name="Text 16"/>
          <p:cNvSpPr txBox="1"/>
          <p:nvPr/>
        </p:nvSpPr>
        <p:spPr>
          <a:xfrm>
            <a:off x="1051560" y="3502152"/>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Manual fee tracking</a:t>
            </a:r>
            <a:endParaRPr lang="en-US" sz="1300" dirty="0"/>
          </a:p>
        </p:txBody>
      </p:sp>
      <p:sp>
        <p:nvSpPr>
          <p:cNvPr id="24" name="Shape 17"/>
          <p:cNvSpPr/>
          <p:nvPr/>
        </p:nvSpPr>
        <p:spPr>
          <a:xfrm>
            <a:off x="640080" y="3931920"/>
            <a:ext cx="310896" cy="310896"/>
          </a:xfrm>
          <a:prstGeom prst="ellipse">
            <a:avLst/>
          </a:prstGeom>
          <a:solidFill>
            <a:srgbClr val="13478F"/>
          </a:solidFill>
          <a:ln/>
        </p:spPr>
      </p:sp>
      <p:pic>
        <p:nvPicPr>
          <p:cNvPr id="25" name="Image 5" descr="preencoded.png">    </p:cNvPr>
          <p:cNvPicPr>
            <a:picLocks noChangeAspect="1"/>
          </p:cNvPicPr>
          <p:nvPr/>
        </p:nvPicPr>
        <p:blipFill>
          <a:blip r:embed="rId6"/>
          <a:stretch>
            <a:fillRect/>
          </a:stretch>
        </p:blipFill>
        <p:spPr>
          <a:xfrm>
            <a:off x="714695" y="4006535"/>
            <a:ext cx="161666" cy="161666"/>
          </a:xfrm>
          <a:prstGeom prst="rect">
            <a:avLst/>
          </a:prstGeom>
        </p:spPr>
      </p:pic>
      <p:sp>
        <p:nvSpPr>
          <p:cNvPr id="26" name="Text 18"/>
          <p:cNvSpPr txBox="1"/>
          <p:nvPr/>
        </p:nvSpPr>
        <p:spPr>
          <a:xfrm>
            <a:off x="1051560" y="3931920"/>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Manual complaint tracking</a:t>
            </a:r>
            <a:endParaRPr lang="en-US" sz="1300" dirty="0"/>
          </a:p>
        </p:txBody>
      </p:sp>
      <p:sp>
        <p:nvSpPr>
          <p:cNvPr id="27" name="Shape 19"/>
          <p:cNvSpPr/>
          <p:nvPr/>
        </p:nvSpPr>
        <p:spPr>
          <a:xfrm>
            <a:off x="5120640" y="1783080"/>
            <a:ext cx="310896" cy="310896"/>
          </a:xfrm>
          <a:prstGeom prst="ellipse">
            <a:avLst/>
          </a:prstGeom>
          <a:solidFill>
            <a:srgbClr val="1B7F5C"/>
          </a:solidFill>
          <a:ln/>
        </p:spPr>
      </p:sp>
      <p:pic>
        <p:nvPicPr>
          <p:cNvPr id="28" name="Image 6" descr="preencoded.png">    </p:cNvPr>
          <p:cNvPicPr>
            <a:picLocks noChangeAspect="1"/>
          </p:cNvPicPr>
          <p:nvPr/>
        </p:nvPicPr>
        <p:blipFill>
          <a:blip r:embed="rId7"/>
          <a:stretch>
            <a:fillRect/>
          </a:stretch>
        </p:blipFill>
        <p:spPr>
          <a:xfrm>
            <a:off x="5195255" y="1857695"/>
            <a:ext cx="161666" cy="161666"/>
          </a:xfrm>
          <a:prstGeom prst="rect">
            <a:avLst/>
          </a:prstGeom>
        </p:spPr>
      </p:pic>
      <p:sp>
        <p:nvSpPr>
          <p:cNvPr id="29" name="Text 20"/>
          <p:cNvSpPr txBox="1"/>
          <p:nvPr/>
        </p:nvSpPr>
        <p:spPr>
          <a:xfrm>
            <a:off x="5532120" y="1783080"/>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Centralized MySQL database</a:t>
            </a:r>
            <a:endParaRPr lang="en-US" sz="1300" dirty="0"/>
          </a:p>
        </p:txBody>
      </p:sp>
      <p:sp>
        <p:nvSpPr>
          <p:cNvPr id="30" name="Shape 21"/>
          <p:cNvSpPr/>
          <p:nvPr/>
        </p:nvSpPr>
        <p:spPr>
          <a:xfrm>
            <a:off x="5120640" y="2212848"/>
            <a:ext cx="310896" cy="310896"/>
          </a:xfrm>
          <a:prstGeom prst="ellipse">
            <a:avLst/>
          </a:prstGeom>
          <a:solidFill>
            <a:srgbClr val="1B7F5C"/>
          </a:solidFill>
          <a:ln/>
        </p:spPr>
      </p:sp>
      <p:pic>
        <p:nvPicPr>
          <p:cNvPr id="31" name="Image 7" descr="preencoded.png">    </p:cNvPr>
          <p:cNvPicPr>
            <a:picLocks noChangeAspect="1"/>
          </p:cNvPicPr>
          <p:nvPr/>
        </p:nvPicPr>
        <p:blipFill>
          <a:blip r:embed="rId8"/>
          <a:stretch>
            <a:fillRect/>
          </a:stretch>
        </p:blipFill>
        <p:spPr>
          <a:xfrm>
            <a:off x="5195255" y="2287463"/>
            <a:ext cx="161666" cy="161666"/>
          </a:xfrm>
          <a:prstGeom prst="rect">
            <a:avLst/>
          </a:prstGeom>
        </p:spPr>
      </p:pic>
      <p:sp>
        <p:nvSpPr>
          <p:cNvPr id="32" name="Text 22"/>
          <p:cNvSpPr txBox="1"/>
          <p:nvPr/>
        </p:nvSpPr>
        <p:spPr>
          <a:xfrm>
            <a:off x="5532120" y="2212848"/>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Structured data, fast retrieval</a:t>
            </a:r>
            <a:endParaRPr lang="en-US" sz="1300" dirty="0"/>
          </a:p>
        </p:txBody>
      </p:sp>
      <p:sp>
        <p:nvSpPr>
          <p:cNvPr id="33" name="Shape 23"/>
          <p:cNvSpPr/>
          <p:nvPr/>
        </p:nvSpPr>
        <p:spPr>
          <a:xfrm>
            <a:off x="5120640" y="2642616"/>
            <a:ext cx="310896" cy="310896"/>
          </a:xfrm>
          <a:prstGeom prst="ellipse">
            <a:avLst/>
          </a:prstGeom>
          <a:solidFill>
            <a:srgbClr val="1B7F5C"/>
          </a:solidFill>
          <a:ln/>
        </p:spPr>
      </p:sp>
      <p:pic>
        <p:nvPicPr>
          <p:cNvPr id="34" name="Image 8" descr="preencoded.png">    </p:cNvPr>
          <p:cNvPicPr>
            <a:picLocks noChangeAspect="1"/>
          </p:cNvPicPr>
          <p:nvPr/>
        </p:nvPicPr>
        <p:blipFill>
          <a:blip r:embed="rId9"/>
          <a:stretch>
            <a:fillRect/>
          </a:stretch>
        </p:blipFill>
        <p:spPr>
          <a:xfrm>
            <a:off x="5195255" y="2717231"/>
            <a:ext cx="161666" cy="161666"/>
          </a:xfrm>
          <a:prstGeom prst="rect">
            <a:avLst/>
          </a:prstGeom>
        </p:spPr>
      </p:pic>
      <p:sp>
        <p:nvSpPr>
          <p:cNvPr id="35" name="Text 24"/>
          <p:cNvSpPr txBox="1"/>
          <p:nvPr/>
        </p:nvSpPr>
        <p:spPr>
          <a:xfrm>
            <a:off x="5532120" y="2642616"/>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Linked student, room and fee records</a:t>
            </a:r>
            <a:endParaRPr lang="en-US" sz="1300" dirty="0"/>
          </a:p>
        </p:txBody>
      </p:sp>
      <p:sp>
        <p:nvSpPr>
          <p:cNvPr id="36" name="Shape 25"/>
          <p:cNvSpPr/>
          <p:nvPr/>
        </p:nvSpPr>
        <p:spPr>
          <a:xfrm>
            <a:off x="5120640" y="3072384"/>
            <a:ext cx="310896" cy="310896"/>
          </a:xfrm>
          <a:prstGeom prst="ellipse">
            <a:avLst/>
          </a:prstGeom>
          <a:solidFill>
            <a:srgbClr val="1B7F5C"/>
          </a:solidFill>
          <a:ln/>
        </p:spPr>
      </p:sp>
      <p:pic>
        <p:nvPicPr>
          <p:cNvPr id="37" name="Image 9" descr="preencoded.png">    </p:cNvPr>
          <p:cNvPicPr>
            <a:picLocks noChangeAspect="1"/>
          </p:cNvPicPr>
          <p:nvPr/>
        </p:nvPicPr>
        <p:blipFill>
          <a:blip r:embed="rId10"/>
          <a:stretch>
            <a:fillRect/>
          </a:stretch>
        </p:blipFill>
        <p:spPr>
          <a:xfrm>
            <a:off x="5195255" y="3146999"/>
            <a:ext cx="161666" cy="161666"/>
          </a:xfrm>
          <a:prstGeom prst="rect">
            <a:avLst/>
          </a:prstGeom>
        </p:spPr>
      </p:pic>
      <p:sp>
        <p:nvSpPr>
          <p:cNvPr id="38" name="Text 26"/>
          <p:cNvSpPr txBox="1"/>
          <p:nvPr/>
        </p:nvSpPr>
        <p:spPr>
          <a:xfrm>
            <a:off x="5532120" y="3072384"/>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Assign / change rooms with history</a:t>
            </a:r>
            <a:endParaRPr lang="en-US" sz="1300" dirty="0"/>
          </a:p>
        </p:txBody>
      </p:sp>
      <p:sp>
        <p:nvSpPr>
          <p:cNvPr id="39" name="Shape 27"/>
          <p:cNvSpPr/>
          <p:nvPr/>
        </p:nvSpPr>
        <p:spPr>
          <a:xfrm>
            <a:off x="5120640" y="3502152"/>
            <a:ext cx="310896" cy="310896"/>
          </a:xfrm>
          <a:prstGeom prst="ellipse">
            <a:avLst/>
          </a:prstGeom>
          <a:solidFill>
            <a:srgbClr val="1B7F5C"/>
          </a:solidFill>
          <a:ln/>
        </p:spPr>
      </p:sp>
      <p:pic>
        <p:nvPicPr>
          <p:cNvPr id="40" name="Image 10" descr="preencoded.png">    </p:cNvPr>
          <p:cNvPicPr>
            <a:picLocks noChangeAspect="1"/>
          </p:cNvPicPr>
          <p:nvPr/>
        </p:nvPicPr>
        <p:blipFill>
          <a:blip r:embed="rId11"/>
          <a:stretch>
            <a:fillRect/>
          </a:stretch>
        </p:blipFill>
        <p:spPr>
          <a:xfrm>
            <a:off x="5195255" y="3576767"/>
            <a:ext cx="161666" cy="161666"/>
          </a:xfrm>
          <a:prstGeom prst="rect">
            <a:avLst/>
          </a:prstGeom>
        </p:spPr>
      </p:pic>
      <p:sp>
        <p:nvSpPr>
          <p:cNvPr id="41" name="Text 28"/>
          <p:cNvSpPr txBox="1"/>
          <p:nvPr/>
        </p:nvSpPr>
        <p:spPr>
          <a:xfrm>
            <a:off x="5532120" y="3502152"/>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Payment records and status</a:t>
            </a:r>
            <a:endParaRPr lang="en-US" sz="1300" dirty="0"/>
          </a:p>
        </p:txBody>
      </p:sp>
      <p:sp>
        <p:nvSpPr>
          <p:cNvPr id="42" name="Shape 29"/>
          <p:cNvSpPr/>
          <p:nvPr/>
        </p:nvSpPr>
        <p:spPr>
          <a:xfrm>
            <a:off x="5120640" y="3931920"/>
            <a:ext cx="310896" cy="310896"/>
          </a:xfrm>
          <a:prstGeom prst="ellipse">
            <a:avLst/>
          </a:prstGeom>
          <a:solidFill>
            <a:srgbClr val="1B7F5C"/>
          </a:solidFill>
          <a:ln/>
        </p:spPr>
      </p:sp>
      <p:pic>
        <p:nvPicPr>
          <p:cNvPr id="43" name="Image 11" descr="preencoded.png">    </p:cNvPr>
          <p:cNvPicPr>
            <a:picLocks noChangeAspect="1"/>
          </p:cNvPicPr>
          <p:nvPr/>
        </p:nvPicPr>
        <p:blipFill>
          <a:blip r:embed="rId12"/>
          <a:stretch>
            <a:fillRect/>
          </a:stretch>
        </p:blipFill>
        <p:spPr>
          <a:xfrm>
            <a:off x="5195255" y="4006535"/>
            <a:ext cx="161666" cy="161666"/>
          </a:xfrm>
          <a:prstGeom prst="rect">
            <a:avLst/>
          </a:prstGeom>
        </p:spPr>
      </p:pic>
      <p:sp>
        <p:nvSpPr>
          <p:cNvPr id="44" name="Text 30"/>
          <p:cNvSpPr txBox="1"/>
          <p:nvPr/>
        </p:nvSpPr>
        <p:spPr>
          <a:xfrm>
            <a:off x="5532120" y="3931920"/>
            <a:ext cx="3017520" cy="310896"/>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Complaints with status updates</a:t>
            </a:r>
            <a:endParaRPr lang="en-US" sz="1300" dirty="0"/>
          </a:p>
        </p:txBody>
      </p:sp>
      <p:sp>
        <p:nvSpPr>
          <p:cNvPr id="45" name="Shape 31"/>
          <p:cNvSpPr/>
          <p:nvPr/>
        </p:nvSpPr>
        <p:spPr>
          <a:xfrm>
            <a:off x="4315968" y="2606040"/>
            <a:ext cx="512064" cy="512064"/>
          </a:xfrm>
          <a:prstGeom prst="ellipse">
            <a:avLst/>
          </a:prstGeom>
          <a:solidFill>
            <a:srgbClr val="0B2545"/>
          </a:solidFill>
          <a:ln/>
        </p:spPr>
      </p:sp>
      <p:pic>
        <p:nvPicPr>
          <p:cNvPr id="46" name="Image 12" descr="preencoded.png">    </p:cNvPr>
          <p:cNvPicPr>
            <a:picLocks noChangeAspect="1"/>
          </p:cNvPicPr>
          <p:nvPr/>
        </p:nvPicPr>
        <p:blipFill>
          <a:blip r:embed="rId13"/>
          <a:stretch>
            <a:fillRect/>
          </a:stretch>
        </p:blipFill>
        <p:spPr>
          <a:xfrm>
            <a:off x="4438863" y="2728935"/>
            <a:ext cx="266273" cy="266273"/>
          </a:xfrm>
          <a:prstGeom prst="rect">
            <a:avLst/>
          </a:prstGeom>
        </p:spPr>
      </p:pic>
      <p:sp>
        <p:nvSpPr>
          <p:cNvPr id="47" name="Text 32"/>
          <p:cNvSpPr txBox="1"/>
          <p:nvPr/>
        </p:nvSpPr>
        <p:spPr>
          <a:xfrm>
            <a:off x="457200" y="4507992"/>
            <a:ext cx="822960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Existing approaches are described generally; the proposed features are planned, not yet implemented.</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155180" y="219456"/>
            <a:ext cx="1531620" cy="274320"/>
          </a:xfrm>
          <a:prstGeom prst="roundRect">
            <a:avLst>
              <a:gd name="adj" fmla="val 50000"/>
            </a:avLst>
          </a:prstGeom>
          <a:solidFill>
            <a:srgbClr val="13478F"/>
          </a:solidFill>
          <a:ln/>
        </p:spPr>
      </p:sp>
      <p:sp>
        <p:nvSpPr>
          <p:cNvPr id="3" name="Text 1"/>
          <p:cNvSpPr txBox="1"/>
          <p:nvPr/>
        </p:nvSpPr>
        <p:spPr>
          <a:xfrm>
            <a:off x="7155180" y="219456"/>
            <a:ext cx="15316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FUNCTIONS</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Implementation – Module 2</a:t>
            </a:r>
            <a:endParaRPr lang="en-US" sz="2600" dirty="0"/>
          </a:p>
        </p:txBody>
      </p:sp>
      <p:sp>
        <p:nvSpPr>
          <p:cNvPr id="5" name="Shape 3"/>
          <p:cNvSpPr/>
          <p:nvPr/>
        </p:nvSpPr>
        <p:spPr>
          <a:xfrm>
            <a:off x="457200" y="1234440"/>
            <a:ext cx="2651760" cy="1554480"/>
          </a:xfrm>
          <a:prstGeom prst="roundRect">
            <a:avLst>
              <a:gd name="adj" fmla="val 4706"/>
            </a:avLst>
          </a:prstGeom>
          <a:solidFill>
            <a:srgbClr val="F2F4F8"/>
          </a:solidFill>
          <a:ln/>
          <a:effectLst>
            <a:outerShdw sx="100000" sy="100000" kx="0" ky="0" algn="bl" rotWithShape="0" blurRad="76200" dist="25400" dir="5400000">
              <a:srgbClr val="000000">
                <a:alpha val="12000"/>
              </a:srgbClr>
            </a:outerShdw>
          </a:effectLst>
        </p:spPr>
      </p:sp>
      <p:sp>
        <p:nvSpPr>
          <p:cNvPr id="6" name="Shape 4"/>
          <p:cNvSpPr/>
          <p:nvPr/>
        </p:nvSpPr>
        <p:spPr>
          <a:xfrm>
            <a:off x="566928" y="1325880"/>
            <a:ext cx="365760" cy="365760"/>
          </a:xfrm>
          <a:prstGeom prst="ellipse">
            <a:avLst/>
          </a:prstGeom>
          <a:solidFill>
            <a:srgbClr val="13478F"/>
          </a:solidFill>
          <a:ln/>
        </p:spPr>
      </p:sp>
      <p:pic>
        <p:nvPicPr>
          <p:cNvPr id="7" name="Image 0" descr="preencoded.png">    </p:cNvPr>
          <p:cNvPicPr>
            <a:picLocks noChangeAspect="1"/>
          </p:cNvPicPr>
          <p:nvPr/>
        </p:nvPicPr>
        <p:blipFill>
          <a:blip r:embed="rId1"/>
          <a:stretch>
            <a:fillRect/>
          </a:stretch>
        </p:blipFill>
        <p:spPr>
          <a:xfrm>
            <a:off x="654710" y="1413662"/>
            <a:ext cx="190195" cy="190195"/>
          </a:xfrm>
          <a:prstGeom prst="rect">
            <a:avLst/>
          </a:prstGeom>
        </p:spPr>
      </p:pic>
      <p:sp>
        <p:nvSpPr>
          <p:cNvPr id="8" name="Text 5"/>
          <p:cNvSpPr txBox="1"/>
          <p:nvPr/>
        </p:nvSpPr>
        <p:spPr>
          <a:xfrm>
            <a:off x="1024128" y="1325880"/>
            <a:ext cx="201168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Student Management</a:t>
            </a:r>
            <a:endParaRPr lang="en-US" sz="1300" dirty="0"/>
          </a:p>
        </p:txBody>
      </p:sp>
      <p:sp>
        <p:nvSpPr>
          <p:cNvPr id="9" name="Text 6"/>
          <p:cNvSpPr txBox="1"/>
          <p:nvPr/>
        </p:nvSpPr>
        <p:spPr>
          <a:xfrm>
            <a:off x="621792" y="1783080"/>
            <a:ext cx="2377440" cy="960120"/>
          </a:xfrm>
          <a:prstGeom prst="rect">
            <a:avLst/>
          </a:prstGeom>
          <a:noFill/>
          <a:ln/>
        </p:spPr>
        <p:txBody>
          <a:bodyPr wrap="square" lIns="0" tIns="0" rIns="0" bIns="0" rtlCol="0" anchor="t"/>
          <a:lstStyle/>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Add student</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View student</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Update student</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Delete student</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Search student</a:t>
            </a:r>
            <a:endParaRPr lang="en-US" sz="1200" dirty="0"/>
          </a:p>
        </p:txBody>
      </p:sp>
      <p:sp>
        <p:nvSpPr>
          <p:cNvPr id="10" name="Shape 7"/>
          <p:cNvSpPr/>
          <p:nvPr/>
        </p:nvSpPr>
        <p:spPr>
          <a:xfrm>
            <a:off x="3246120" y="1234440"/>
            <a:ext cx="2651760" cy="1554480"/>
          </a:xfrm>
          <a:prstGeom prst="roundRect">
            <a:avLst>
              <a:gd name="adj" fmla="val 4706"/>
            </a:avLst>
          </a:prstGeom>
          <a:solidFill>
            <a:srgbClr val="F2F4F8"/>
          </a:solidFill>
          <a:ln/>
          <a:effectLst>
            <a:outerShdw sx="100000" sy="100000" kx="0" ky="0" algn="bl" rotWithShape="0" blurRad="76200" dist="25400" dir="5400000">
              <a:srgbClr val="000000">
                <a:alpha val="12000"/>
              </a:srgbClr>
            </a:outerShdw>
          </a:effectLst>
        </p:spPr>
      </p:sp>
      <p:sp>
        <p:nvSpPr>
          <p:cNvPr id="11" name="Shape 8"/>
          <p:cNvSpPr/>
          <p:nvPr/>
        </p:nvSpPr>
        <p:spPr>
          <a:xfrm>
            <a:off x="3355848" y="1325880"/>
            <a:ext cx="365760" cy="365760"/>
          </a:xfrm>
          <a:prstGeom prst="ellipse">
            <a:avLst/>
          </a:prstGeom>
          <a:solidFill>
            <a:srgbClr val="13478F"/>
          </a:solidFill>
          <a:ln/>
        </p:spPr>
      </p:sp>
      <p:pic>
        <p:nvPicPr>
          <p:cNvPr id="12" name="Image 1" descr="preencoded.png">    </p:cNvPr>
          <p:cNvPicPr>
            <a:picLocks noChangeAspect="1"/>
          </p:cNvPicPr>
          <p:nvPr/>
        </p:nvPicPr>
        <p:blipFill>
          <a:blip r:embed="rId2"/>
          <a:stretch>
            <a:fillRect/>
          </a:stretch>
        </p:blipFill>
        <p:spPr>
          <a:xfrm>
            <a:off x="3443630" y="1413662"/>
            <a:ext cx="190195" cy="190195"/>
          </a:xfrm>
          <a:prstGeom prst="rect">
            <a:avLst/>
          </a:prstGeom>
        </p:spPr>
      </p:pic>
      <p:sp>
        <p:nvSpPr>
          <p:cNvPr id="13" name="Text 9"/>
          <p:cNvSpPr txBox="1"/>
          <p:nvPr/>
        </p:nvSpPr>
        <p:spPr>
          <a:xfrm>
            <a:off x="3813048" y="1325880"/>
            <a:ext cx="201168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Room Management</a:t>
            </a:r>
            <a:endParaRPr lang="en-US" sz="1300" dirty="0"/>
          </a:p>
        </p:txBody>
      </p:sp>
      <p:sp>
        <p:nvSpPr>
          <p:cNvPr id="14" name="Text 10"/>
          <p:cNvSpPr txBox="1"/>
          <p:nvPr/>
        </p:nvSpPr>
        <p:spPr>
          <a:xfrm>
            <a:off x="3410712" y="1783080"/>
            <a:ext cx="2377440" cy="960120"/>
          </a:xfrm>
          <a:prstGeom prst="rect">
            <a:avLst/>
          </a:prstGeom>
          <a:noFill/>
          <a:ln/>
        </p:spPr>
        <p:txBody>
          <a:bodyPr wrap="square" lIns="0" tIns="0" rIns="0" bIns="0" rtlCol="0" anchor="t"/>
          <a:lstStyle/>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Add room</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Update room</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View room</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Track occupancy</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Check availability</a:t>
            </a:r>
            <a:endParaRPr lang="en-US" sz="1200" dirty="0"/>
          </a:p>
        </p:txBody>
      </p:sp>
      <p:sp>
        <p:nvSpPr>
          <p:cNvPr id="15" name="Shape 11"/>
          <p:cNvSpPr/>
          <p:nvPr/>
        </p:nvSpPr>
        <p:spPr>
          <a:xfrm>
            <a:off x="6035040" y="1234440"/>
            <a:ext cx="2651760" cy="1554480"/>
          </a:xfrm>
          <a:prstGeom prst="roundRect">
            <a:avLst>
              <a:gd name="adj" fmla="val 4706"/>
            </a:avLst>
          </a:prstGeom>
          <a:solidFill>
            <a:srgbClr val="F2F4F8"/>
          </a:solidFill>
          <a:ln/>
          <a:effectLst>
            <a:outerShdw sx="100000" sy="100000" kx="0" ky="0" algn="bl" rotWithShape="0" blurRad="76200" dist="25400" dir="5400000">
              <a:srgbClr val="000000">
                <a:alpha val="12000"/>
              </a:srgbClr>
            </a:outerShdw>
          </a:effectLst>
        </p:spPr>
      </p:sp>
      <p:sp>
        <p:nvSpPr>
          <p:cNvPr id="16" name="Shape 12"/>
          <p:cNvSpPr/>
          <p:nvPr/>
        </p:nvSpPr>
        <p:spPr>
          <a:xfrm>
            <a:off x="6144768" y="1325880"/>
            <a:ext cx="365760" cy="365760"/>
          </a:xfrm>
          <a:prstGeom prst="ellipse">
            <a:avLst/>
          </a:prstGeom>
          <a:solidFill>
            <a:srgbClr val="13478F"/>
          </a:solidFill>
          <a:ln/>
        </p:spPr>
      </p:sp>
      <p:pic>
        <p:nvPicPr>
          <p:cNvPr id="17" name="Image 2" descr="preencoded.png">    </p:cNvPr>
          <p:cNvPicPr>
            <a:picLocks noChangeAspect="1"/>
          </p:cNvPicPr>
          <p:nvPr/>
        </p:nvPicPr>
        <p:blipFill>
          <a:blip r:embed="rId3"/>
          <a:stretch>
            <a:fillRect/>
          </a:stretch>
        </p:blipFill>
        <p:spPr>
          <a:xfrm>
            <a:off x="6232550" y="1413662"/>
            <a:ext cx="190195" cy="190195"/>
          </a:xfrm>
          <a:prstGeom prst="rect">
            <a:avLst/>
          </a:prstGeom>
        </p:spPr>
      </p:pic>
      <p:sp>
        <p:nvSpPr>
          <p:cNvPr id="18" name="Text 13"/>
          <p:cNvSpPr txBox="1"/>
          <p:nvPr/>
        </p:nvSpPr>
        <p:spPr>
          <a:xfrm>
            <a:off x="6601968" y="1325880"/>
            <a:ext cx="201168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Allocation</a:t>
            </a:r>
            <a:endParaRPr lang="en-US" sz="1300" dirty="0"/>
          </a:p>
        </p:txBody>
      </p:sp>
      <p:sp>
        <p:nvSpPr>
          <p:cNvPr id="19" name="Text 14"/>
          <p:cNvSpPr txBox="1"/>
          <p:nvPr/>
        </p:nvSpPr>
        <p:spPr>
          <a:xfrm>
            <a:off x="6199632" y="1783080"/>
            <a:ext cx="2377440" cy="960120"/>
          </a:xfrm>
          <a:prstGeom prst="rect">
            <a:avLst/>
          </a:prstGeom>
          <a:noFill/>
          <a:ln/>
        </p:spPr>
        <p:txBody>
          <a:bodyPr wrap="square" lIns="0" tIns="0" rIns="0" bIns="0" rtlCol="0" anchor="t"/>
          <a:lstStyle/>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Assign room</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Change room</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View allocation history</a:t>
            </a:r>
            <a:endParaRPr lang="en-US" sz="1200" dirty="0"/>
          </a:p>
        </p:txBody>
      </p:sp>
      <p:sp>
        <p:nvSpPr>
          <p:cNvPr id="20" name="Shape 15"/>
          <p:cNvSpPr/>
          <p:nvPr/>
        </p:nvSpPr>
        <p:spPr>
          <a:xfrm>
            <a:off x="457200" y="2926080"/>
            <a:ext cx="2651760" cy="1554480"/>
          </a:xfrm>
          <a:prstGeom prst="roundRect">
            <a:avLst>
              <a:gd name="adj" fmla="val 4706"/>
            </a:avLst>
          </a:prstGeom>
          <a:solidFill>
            <a:srgbClr val="F2F4F8"/>
          </a:solidFill>
          <a:ln/>
          <a:effectLst>
            <a:outerShdw sx="100000" sy="100000" kx="0" ky="0" algn="bl" rotWithShape="0" blurRad="76200" dist="25400" dir="5400000">
              <a:srgbClr val="000000">
                <a:alpha val="12000"/>
              </a:srgbClr>
            </a:outerShdw>
          </a:effectLst>
        </p:spPr>
      </p:sp>
      <p:sp>
        <p:nvSpPr>
          <p:cNvPr id="21" name="Shape 16"/>
          <p:cNvSpPr/>
          <p:nvPr/>
        </p:nvSpPr>
        <p:spPr>
          <a:xfrm>
            <a:off x="566928" y="3017520"/>
            <a:ext cx="365760" cy="365760"/>
          </a:xfrm>
          <a:prstGeom prst="ellipse">
            <a:avLst/>
          </a:prstGeom>
          <a:solidFill>
            <a:srgbClr val="13478F"/>
          </a:solidFill>
          <a:ln/>
        </p:spPr>
      </p:sp>
      <p:pic>
        <p:nvPicPr>
          <p:cNvPr id="22" name="Image 3" descr="preencoded.png">    </p:cNvPr>
          <p:cNvPicPr>
            <a:picLocks noChangeAspect="1"/>
          </p:cNvPicPr>
          <p:nvPr/>
        </p:nvPicPr>
        <p:blipFill>
          <a:blip r:embed="rId4"/>
          <a:stretch>
            <a:fillRect/>
          </a:stretch>
        </p:blipFill>
        <p:spPr>
          <a:xfrm>
            <a:off x="654710" y="3105302"/>
            <a:ext cx="190195" cy="190195"/>
          </a:xfrm>
          <a:prstGeom prst="rect">
            <a:avLst/>
          </a:prstGeom>
        </p:spPr>
      </p:pic>
      <p:sp>
        <p:nvSpPr>
          <p:cNvPr id="23" name="Text 17"/>
          <p:cNvSpPr txBox="1"/>
          <p:nvPr/>
        </p:nvSpPr>
        <p:spPr>
          <a:xfrm>
            <a:off x="1024128" y="3017520"/>
            <a:ext cx="201168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Fees</a:t>
            </a:r>
            <a:endParaRPr lang="en-US" sz="1300" dirty="0"/>
          </a:p>
        </p:txBody>
      </p:sp>
      <p:sp>
        <p:nvSpPr>
          <p:cNvPr id="24" name="Text 18"/>
          <p:cNvSpPr txBox="1"/>
          <p:nvPr/>
        </p:nvSpPr>
        <p:spPr>
          <a:xfrm>
            <a:off x="621792" y="3474720"/>
            <a:ext cx="2377440" cy="960120"/>
          </a:xfrm>
          <a:prstGeom prst="rect">
            <a:avLst/>
          </a:prstGeom>
          <a:noFill/>
          <a:ln/>
        </p:spPr>
        <p:txBody>
          <a:bodyPr wrap="square" lIns="0" tIns="0" rIns="0" bIns="0" rtlCol="0" anchor="t"/>
          <a:lstStyle/>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Record payment</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View payment status</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Search payment records</a:t>
            </a:r>
            <a:endParaRPr lang="en-US" sz="1200" dirty="0"/>
          </a:p>
        </p:txBody>
      </p:sp>
      <p:sp>
        <p:nvSpPr>
          <p:cNvPr id="25" name="Shape 19"/>
          <p:cNvSpPr/>
          <p:nvPr/>
        </p:nvSpPr>
        <p:spPr>
          <a:xfrm>
            <a:off x="3246120" y="2926080"/>
            <a:ext cx="2651760" cy="1554480"/>
          </a:xfrm>
          <a:prstGeom prst="roundRect">
            <a:avLst>
              <a:gd name="adj" fmla="val 4706"/>
            </a:avLst>
          </a:prstGeom>
          <a:solidFill>
            <a:srgbClr val="F2F4F8"/>
          </a:solidFill>
          <a:ln/>
          <a:effectLst>
            <a:outerShdw sx="100000" sy="100000" kx="0" ky="0" algn="bl" rotWithShape="0" blurRad="76200" dist="25400" dir="5400000">
              <a:srgbClr val="000000">
                <a:alpha val="12000"/>
              </a:srgbClr>
            </a:outerShdw>
          </a:effectLst>
        </p:spPr>
      </p:sp>
      <p:sp>
        <p:nvSpPr>
          <p:cNvPr id="26" name="Shape 20"/>
          <p:cNvSpPr/>
          <p:nvPr/>
        </p:nvSpPr>
        <p:spPr>
          <a:xfrm>
            <a:off x="3355848" y="3017520"/>
            <a:ext cx="365760" cy="365760"/>
          </a:xfrm>
          <a:prstGeom prst="ellipse">
            <a:avLst/>
          </a:prstGeom>
          <a:solidFill>
            <a:srgbClr val="13478F"/>
          </a:solidFill>
          <a:ln/>
        </p:spPr>
      </p:sp>
      <p:pic>
        <p:nvPicPr>
          <p:cNvPr id="27" name="Image 4" descr="preencoded.png">    </p:cNvPr>
          <p:cNvPicPr>
            <a:picLocks noChangeAspect="1"/>
          </p:cNvPicPr>
          <p:nvPr/>
        </p:nvPicPr>
        <p:blipFill>
          <a:blip r:embed="rId5"/>
          <a:stretch>
            <a:fillRect/>
          </a:stretch>
        </p:blipFill>
        <p:spPr>
          <a:xfrm>
            <a:off x="3443630" y="3105302"/>
            <a:ext cx="190195" cy="190195"/>
          </a:xfrm>
          <a:prstGeom prst="rect">
            <a:avLst/>
          </a:prstGeom>
        </p:spPr>
      </p:pic>
      <p:sp>
        <p:nvSpPr>
          <p:cNvPr id="28" name="Text 21"/>
          <p:cNvSpPr txBox="1"/>
          <p:nvPr/>
        </p:nvSpPr>
        <p:spPr>
          <a:xfrm>
            <a:off x="3813048" y="3017520"/>
            <a:ext cx="201168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Complaints</a:t>
            </a:r>
            <a:endParaRPr lang="en-US" sz="1300" dirty="0"/>
          </a:p>
        </p:txBody>
      </p:sp>
      <p:sp>
        <p:nvSpPr>
          <p:cNvPr id="29" name="Text 22"/>
          <p:cNvSpPr txBox="1"/>
          <p:nvPr/>
        </p:nvSpPr>
        <p:spPr>
          <a:xfrm>
            <a:off x="3410712" y="3474720"/>
            <a:ext cx="2377440" cy="960120"/>
          </a:xfrm>
          <a:prstGeom prst="rect">
            <a:avLst/>
          </a:prstGeom>
          <a:noFill/>
          <a:ln/>
        </p:spPr>
        <p:txBody>
          <a:bodyPr wrap="square" lIns="0" tIns="0" rIns="0" bIns="0" rtlCol="0" anchor="t"/>
          <a:lstStyle/>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Register complaint</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View complaints</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Update complaint status</a:t>
            </a:r>
            <a:endParaRPr lang="en-US" sz="1200" dirty="0"/>
          </a:p>
        </p:txBody>
      </p:sp>
      <p:sp>
        <p:nvSpPr>
          <p:cNvPr id="30" name="Shape 23"/>
          <p:cNvSpPr/>
          <p:nvPr/>
        </p:nvSpPr>
        <p:spPr>
          <a:xfrm>
            <a:off x="6035040" y="2926080"/>
            <a:ext cx="2651760" cy="1554480"/>
          </a:xfrm>
          <a:prstGeom prst="roundRect">
            <a:avLst>
              <a:gd name="adj" fmla="val 4706"/>
            </a:avLst>
          </a:prstGeom>
          <a:solidFill>
            <a:srgbClr val="F2F4F8"/>
          </a:solidFill>
          <a:ln/>
          <a:effectLst>
            <a:outerShdw sx="100000" sy="100000" kx="0" ky="0" algn="bl" rotWithShape="0" blurRad="76200" dist="25400" dir="5400000">
              <a:srgbClr val="000000">
                <a:alpha val="12000"/>
              </a:srgbClr>
            </a:outerShdw>
          </a:effectLst>
        </p:spPr>
      </p:sp>
      <p:sp>
        <p:nvSpPr>
          <p:cNvPr id="31" name="Shape 24"/>
          <p:cNvSpPr/>
          <p:nvPr/>
        </p:nvSpPr>
        <p:spPr>
          <a:xfrm>
            <a:off x="6144768" y="3017520"/>
            <a:ext cx="365760" cy="365760"/>
          </a:xfrm>
          <a:prstGeom prst="ellipse">
            <a:avLst/>
          </a:prstGeom>
          <a:solidFill>
            <a:srgbClr val="13478F"/>
          </a:solidFill>
          <a:ln/>
        </p:spPr>
      </p:sp>
      <p:pic>
        <p:nvPicPr>
          <p:cNvPr id="32" name="Image 5" descr="preencoded.png">    </p:cNvPr>
          <p:cNvPicPr>
            <a:picLocks noChangeAspect="1"/>
          </p:cNvPicPr>
          <p:nvPr/>
        </p:nvPicPr>
        <p:blipFill>
          <a:blip r:embed="rId6"/>
          <a:stretch>
            <a:fillRect/>
          </a:stretch>
        </p:blipFill>
        <p:spPr>
          <a:xfrm>
            <a:off x="6232550" y="3105302"/>
            <a:ext cx="190195" cy="190195"/>
          </a:xfrm>
          <a:prstGeom prst="rect">
            <a:avLst/>
          </a:prstGeom>
        </p:spPr>
      </p:pic>
      <p:sp>
        <p:nvSpPr>
          <p:cNvPr id="33" name="Text 25"/>
          <p:cNvSpPr txBox="1"/>
          <p:nvPr/>
        </p:nvSpPr>
        <p:spPr>
          <a:xfrm>
            <a:off x="6601968" y="3017520"/>
            <a:ext cx="201168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Admin</a:t>
            </a:r>
            <a:endParaRPr lang="en-US" sz="1300" dirty="0"/>
          </a:p>
        </p:txBody>
      </p:sp>
      <p:sp>
        <p:nvSpPr>
          <p:cNvPr id="34" name="Text 26"/>
          <p:cNvSpPr txBox="1"/>
          <p:nvPr/>
        </p:nvSpPr>
        <p:spPr>
          <a:xfrm>
            <a:off x="6199632" y="3474720"/>
            <a:ext cx="2377440" cy="960120"/>
          </a:xfrm>
          <a:prstGeom prst="rect">
            <a:avLst/>
          </a:prstGeom>
          <a:noFill/>
          <a:ln/>
        </p:spPr>
        <p:txBody>
          <a:bodyPr wrap="square" lIns="0" tIns="0" rIns="0" bIns="0" rtlCol="0" anchor="t"/>
          <a:lstStyle/>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Manage records</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View reports</a:t>
            </a:r>
            <a:endParaRPr lang="en-US" sz="1200" dirty="0"/>
          </a:p>
          <a:p>
            <a:pPr marL="152400" indent="-152400">
              <a:spcAft>
                <a:spcPts val="100"/>
              </a:spcAft>
              <a:buSzPct val="100000"/>
              <a:buChar char="•"/>
            </a:pPr>
            <a:r>
              <a:rPr lang="en-US" sz="1200" dirty="0">
                <a:solidFill>
                  <a:srgbClr val="1F2937"/>
                </a:solidFill>
                <a:latin typeface="Calibri" pitchFamily="34" charset="0"/>
                <a:ea typeface="Calibri" pitchFamily="34" charset="-122"/>
                <a:cs typeface="Calibri" pitchFamily="34" charset="-120"/>
              </a:rPr>
              <a:t>Control access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315200" y="219456"/>
            <a:ext cx="1371600" cy="274320"/>
          </a:xfrm>
          <a:prstGeom prst="roundRect">
            <a:avLst>
              <a:gd name="adj" fmla="val 50000"/>
            </a:avLst>
          </a:prstGeom>
          <a:solidFill>
            <a:srgbClr val="0F766E"/>
          </a:solidFill>
          <a:ln/>
        </p:spPr>
      </p:sp>
      <p:sp>
        <p:nvSpPr>
          <p:cNvPr id="3" name="Text 1"/>
          <p:cNvSpPr txBox="1"/>
          <p:nvPr/>
        </p:nvSpPr>
        <p:spPr>
          <a:xfrm>
            <a:off x="7315200" y="219456"/>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PLANNED</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Performance Evaluation</a:t>
            </a:r>
            <a:endParaRPr lang="en-US" sz="2600" dirty="0"/>
          </a:p>
        </p:txBody>
      </p:sp>
      <p:sp>
        <p:nvSpPr>
          <p:cNvPr id="5" name="Shape 3"/>
          <p:cNvSpPr/>
          <p:nvPr/>
        </p:nvSpPr>
        <p:spPr>
          <a:xfrm>
            <a:off x="457200" y="1280160"/>
            <a:ext cx="4023360" cy="548640"/>
          </a:xfrm>
          <a:prstGeom prst="roundRect">
            <a:avLst>
              <a:gd name="adj" fmla="val 13333"/>
            </a:avLst>
          </a:prstGeom>
          <a:solidFill>
            <a:srgbClr val="F2F4F8"/>
          </a:solidFill>
          <a:ln/>
        </p:spPr>
      </p:sp>
      <p:sp>
        <p:nvSpPr>
          <p:cNvPr id="6" name="Shape 4"/>
          <p:cNvSpPr/>
          <p:nvPr/>
        </p:nvSpPr>
        <p:spPr>
          <a:xfrm>
            <a:off x="548640" y="1371600"/>
            <a:ext cx="365760" cy="365760"/>
          </a:xfrm>
          <a:prstGeom prst="ellipse">
            <a:avLst/>
          </a:prstGeom>
          <a:solidFill>
            <a:srgbClr val="13478F"/>
          </a:solidFill>
          <a:ln/>
        </p:spPr>
      </p:sp>
      <p:pic>
        <p:nvPicPr>
          <p:cNvPr id="7" name="Image 0" descr="preencoded.png">    </p:cNvPr>
          <p:cNvPicPr>
            <a:picLocks noChangeAspect="1"/>
          </p:cNvPicPr>
          <p:nvPr/>
        </p:nvPicPr>
        <p:blipFill>
          <a:blip r:embed="rId1"/>
          <a:stretch>
            <a:fillRect/>
          </a:stretch>
        </p:blipFill>
        <p:spPr>
          <a:xfrm>
            <a:off x="636422" y="1459382"/>
            <a:ext cx="190195" cy="190195"/>
          </a:xfrm>
          <a:prstGeom prst="rect">
            <a:avLst/>
          </a:prstGeom>
        </p:spPr>
      </p:pic>
      <p:sp>
        <p:nvSpPr>
          <p:cNvPr id="8" name="Text 5"/>
          <p:cNvSpPr txBox="1"/>
          <p:nvPr/>
        </p:nvSpPr>
        <p:spPr>
          <a:xfrm>
            <a:off x="1051560" y="128016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Security</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access limited to authorized users</a:t>
            </a:r>
            <a:endParaRPr lang="en-US" sz="1200" dirty="0"/>
          </a:p>
        </p:txBody>
      </p:sp>
      <p:sp>
        <p:nvSpPr>
          <p:cNvPr id="9" name="Shape 6"/>
          <p:cNvSpPr/>
          <p:nvPr/>
        </p:nvSpPr>
        <p:spPr>
          <a:xfrm>
            <a:off x="457200" y="1920240"/>
            <a:ext cx="4023360" cy="548640"/>
          </a:xfrm>
          <a:prstGeom prst="roundRect">
            <a:avLst>
              <a:gd name="adj" fmla="val 13333"/>
            </a:avLst>
          </a:prstGeom>
          <a:solidFill>
            <a:srgbClr val="F2F4F8"/>
          </a:solidFill>
          <a:ln/>
        </p:spPr>
      </p:sp>
      <p:sp>
        <p:nvSpPr>
          <p:cNvPr id="10" name="Shape 7"/>
          <p:cNvSpPr/>
          <p:nvPr/>
        </p:nvSpPr>
        <p:spPr>
          <a:xfrm>
            <a:off x="548640" y="2011680"/>
            <a:ext cx="365760" cy="365760"/>
          </a:xfrm>
          <a:prstGeom prst="ellipse">
            <a:avLst/>
          </a:prstGeom>
          <a:solidFill>
            <a:srgbClr val="2F6DB5"/>
          </a:solidFill>
          <a:ln/>
        </p:spPr>
      </p:sp>
      <p:pic>
        <p:nvPicPr>
          <p:cNvPr id="11" name="Image 1" descr="preencoded.png">    </p:cNvPr>
          <p:cNvPicPr>
            <a:picLocks noChangeAspect="1"/>
          </p:cNvPicPr>
          <p:nvPr/>
        </p:nvPicPr>
        <p:blipFill>
          <a:blip r:embed="rId2"/>
          <a:stretch>
            <a:fillRect/>
          </a:stretch>
        </p:blipFill>
        <p:spPr>
          <a:xfrm>
            <a:off x="636422" y="2099462"/>
            <a:ext cx="190195" cy="190195"/>
          </a:xfrm>
          <a:prstGeom prst="rect">
            <a:avLst/>
          </a:prstGeom>
        </p:spPr>
      </p:pic>
      <p:sp>
        <p:nvSpPr>
          <p:cNvPr id="12" name="Text 8"/>
          <p:cNvSpPr txBox="1"/>
          <p:nvPr/>
        </p:nvSpPr>
        <p:spPr>
          <a:xfrm>
            <a:off x="1051560" y="192024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Reliability</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consistent, dependable operation</a:t>
            </a:r>
            <a:endParaRPr lang="en-US" sz="1200" dirty="0"/>
          </a:p>
        </p:txBody>
      </p:sp>
      <p:sp>
        <p:nvSpPr>
          <p:cNvPr id="13" name="Shape 9"/>
          <p:cNvSpPr/>
          <p:nvPr/>
        </p:nvSpPr>
        <p:spPr>
          <a:xfrm>
            <a:off x="457200" y="2560320"/>
            <a:ext cx="4023360" cy="548640"/>
          </a:xfrm>
          <a:prstGeom prst="roundRect">
            <a:avLst>
              <a:gd name="adj" fmla="val 13333"/>
            </a:avLst>
          </a:prstGeom>
          <a:solidFill>
            <a:srgbClr val="F2F4F8"/>
          </a:solidFill>
          <a:ln/>
        </p:spPr>
      </p:sp>
      <p:sp>
        <p:nvSpPr>
          <p:cNvPr id="14" name="Shape 10"/>
          <p:cNvSpPr/>
          <p:nvPr/>
        </p:nvSpPr>
        <p:spPr>
          <a:xfrm>
            <a:off x="548640" y="2651760"/>
            <a:ext cx="365760" cy="365760"/>
          </a:xfrm>
          <a:prstGeom prst="ellipse">
            <a:avLst/>
          </a:prstGeom>
          <a:solidFill>
            <a:srgbClr val="13478F"/>
          </a:solidFill>
          <a:ln/>
        </p:spPr>
      </p:sp>
      <p:pic>
        <p:nvPicPr>
          <p:cNvPr id="15" name="Image 2" descr="preencoded.png">    </p:cNvPr>
          <p:cNvPicPr>
            <a:picLocks noChangeAspect="1"/>
          </p:cNvPicPr>
          <p:nvPr/>
        </p:nvPicPr>
        <p:blipFill>
          <a:blip r:embed="rId3"/>
          <a:stretch>
            <a:fillRect/>
          </a:stretch>
        </p:blipFill>
        <p:spPr>
          <a:xfrm>
            <a:off x="636422" y="2739542"/>
            <a:ext cx="190195" cy="190195"/>
          </a:xfrm>
          <a:prstGeom prst="rect">
            <a:avLst/>
          </a:prstGeom>
        </p:spPr>
      </p:pic>
      <p:sp>
        <p:nvSpPr>
          <p:cNvPr id="16" name="Text 11"/>
          <p:cNvSpPr txBox="1"/>
          <p:nvPr/>
        </p:nvSpPr>
        <p:spPr>
          <a:xfrm>
            <a:off x="1051560" y="256032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Data consistency</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no conflicting copies of data</a:t>
            </a:r>
            <a:endParaRPr lang="en-US" sz="1200" dirty="0"/>
          </a:p>
        </p:txBody>
      </p:sp>
      <p:sp>
        <p:nvSpPr>
          <p:cNvPr id="17" name="Shape 12"/>
          <p:cNvSpPr/>
          <p:nvPr/>
        </p:nvSpPr>
        <p:spPr>
          <a:xfrm>
            <a:off x="457200" y="3200400"/>
            <a:ext cx="4023360" cy="548640"/>
          </a:xfrm>
          <a:prstGeom prst="roundRect">
            <a:avLst>
              <a:gd name="adj" fmla="val 13333"/>
            </a:avLst>
          </a:prstGeom>
          <a:solidFill>
            <a:srgbClr val="F2F4F8"/>
          </a:solidFill>
          <a:ln/>
        </p:spPr>
      </p:sp>
      <p:sp>
        <p:nvSpPr>
          <p:cNvPr id="18" name="Shape 13"/>
          <p:cNvSpPr/>
          <p:nvPr/>
        </p:nvSpPr>
        <p:spPr>
          <a:xfrm>
            <a:off x="548640" y="3291840"/>
            <a:ext cx="365760" cy="365760"/>
          </a:xfrm>
          <a:prstGeom prst="ellipse">
            <a:avLst/>
          </a:prstGeom>
          <a:solidFill>
            <a:srgbClr val="2F6DB5"/>
          </a:solidFill>
          <a:ln/>
        </p:spPr>
      </p:sp>
      <p:pic>
        <p:nvPicPr>
          <p:cNvPr id="19" name="Image 3" descr="preencoded.png">    </p:cNvPr>
          <p:cNvPicPr>
            <a:picLocks noChangeAspect="1"/>
          </p:cNvPicPr>
          <p:nvPr/>
        </p:nvPicPr>
        <p:blipFill>
          <a:blip r:embed="rId4"/>
          <a:stretch>
            <a:fillRect/>
          </a:stretch>
        </p:blipFill>
        <p:spPr>
          <a:xfrm>
            <a:off x="636422" y="3379622"/>
            <a:ext cx="190195" cy="190195"/>
          </a:xfrm>
          <a:prstGeom prst="rect">
            <a:avLst/>
          </a:prstGeom>
        </p:spPr>
      </p:pic>
      <p:sp>
        <p:nvSpPr>
          <p:cNvPr id="20" name="Text 14"/>
          <p:cNvSpPr txBox="1"/>
          <p:nvPr/>
        </p:nvSpPr>
        <p:spPr>
          <a:xfrm>
            <a:off x="1051560" y="320040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Usability</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simple, clear interface for admins</a:t>
            </a:r>
            <a:endParaRPr lang="en-US" sz="1200" dirty="0"/>
          </a:p>
        </p:txBody>
      </p:sp>
      <p:sp>
        <p:nvSpPr>
          <p:cNvPr id="21" name="Shape 15"/>
          <p:cNvSpPr/>
          <p:nvPr/>
        </p:nvSpPr>
        <p:spPr>
          <a:xfrm>
            <a:off x="457200" y="3840480"/>
            <a:ext cx="4023360" cy="548640"/>
          </a:xfrm>
          <a:prstGeom prst="roundRect">
            <a:avLst>
              <a:gd name="adj" fmla="val 13333"/>
            </a:avLst>
          </a:prstGeom>
          <a:solidFill>
            <a:srgbClr val="F2F4F8"/>
          </a:solidFill>
          <a:ln/>
        </p:spPr>
      </p:sp>
      <p:sp>
        <p:nvSpPr>
          <p:cNvPr id="22" name="Shape 16"/>
          <p:cNvSpPr/>
          <p:nvPr/>
        </p:nvSpPr>
        <p:spPr>
          <a:xfrm>
            <a:off x="548640" y="3931920"/>
            <a:ext cx="365760" cy="365760"/>
          </a:xfrm>
          <a:prstGeom prst="ellipse">
            <a:avLst/>
          </a:prstGeom>
          <a:solidFill>
            <a:srgbClr val="13478F"/>
          </a:solidFill>
          <a:ln/>
        </p:spPr>
      </p:sp>
      <p:pic>
        <p:nvPicPr>
          <p:cNvPr id="23" name="Image 4" descr="preencoded.png">    </p:cNvPr>
          <p:cNvPicPr>
            <a:picLocks noChangeAspect="1"/>
          </p:cNvPicPr>
          <p:nvPr/>
        </p:nvPicPr>
        <p:blipFill>
          <a:blip r:embed="rId5"/>
          <a:stretch>
            <a:fillRect/>
          </a:stretch>
        </p:blipFill>
        <p:spPr>
          <a:xfrm>
            <a:off x="636422" y="4019702"/>
            <a:ext cx="190195" cy="190195"/>
          </a:xfrm>
          <a:prstGeom prst="rect">
            <a:avLst/>
          </a:prstGeom>
        </p:spPr>
      </p:pic>
      <p:sp>
        <p:nvSpPr>
          <p:cNvPr id="24" name="Text 17"/>
          <p:cNvSpPr txBox="1"/>
          <p:nvPr/>
        </p:nvSpPr>
        <p:spPr>
          <a:xfrm>
            <a:off x="1051560" y="384048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Performance</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fast retrieval and updates</a:t>
            </a:r>
            <a:endParaRPr lang="en-US" sz="1200" dirty="0"/>
          </a:p>
        </p:txBody>
      </p:sp>
      <p:sp>
        <p:nvSpPr>
          <p:cNvPr id="25" name="Shape 18"/>
          <p:cNvSpPr/>
          <p:nvPr/>
        </p:nvSpPr>
        <p:spPr>
          <a:xfrm>
            <a:off x="4663440" y="1280160"/>
            <a:ext cx="4023360" cy="548640"/>
          </a:xfrm>
          <a:prstGeom prst="roundRect">
            <a:avLst>
              <a:gd name="adj" fmla="val 13333"/>
            </a:avLst>
          </a:prstGeom>
          <a:solidFill>
            <a:srgbClr val="F2F4F8"/>
          </a:solidFill>
          <a:ln/>
        </p:spPr>
      </p:sp>
      <p:sp>
        <p:nvSpPr>
          <p:cNvPr id="26" name="Shape 19"/>
          <p:cNvSpPr/>
          <p:nvPr/>
        </p:nvSpPr>
        <p:spPr>
          <a:xfrm>
            <a:off x="4754880" y="1371600"/>
            <a:ext cx="365760" cy="365760"/>
          </a:xfrm>
          <a:prstGeom prst="ellipse">
            <a:avLst/>
          </a:prstGeom>
          <a:solidFill>
            <a:srgbClr val="2F6DB5"/>
          </a:solidFill>
          <a:ln/>
        </p:spPr>
      </p:sp>
      <p:pic>
        <p:nvPicPr>
          <p:cNvPr id="27" name="Image 5" descr="preencoded.png">    </p:cNvPr>
          <p:cNvPicPr>
            <a:picLocks noChangeAspect="1"/>
          </p:cNvPicPr>
          <p:nvPr/>
        </p:nvPicPr>
        <p:blipFill>
          <a:blip r:embed="rId6"/>
          <a:stretch>
            <a:fillRect/>
          </a:stretch>
        </p:blipFill>
        <p:spPr>
          <a:xfrm>
            <a:off x="4842662" y="1459382"/>
            <a:ext cx="190195" cy="190195"/>
          </a:xfrm>
          <a:prstGeom prst="rect">
            <a:avLst/>
          </a:prstGeom>
        </p:spPr>
      </p:pic>
      <p:sp>
        <p:nvSpPr>
          <p:cNvPr id="28" name="Text 20"/>
          <p:cNvSpPr txBox="1"/>
          <p:nvPr/>
        </p:nvSpPr>
        <p:spPr>
          <a:xfrm>
            <a:off x="5257800" y="128016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Maintainability</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modular, readable code structure</a:t>
            </a:r>
            <a:endParaRPr lang="en-US" sz="1200" dirty="0"/>
          </a:p>
        </p:txBody>
      </p:sp>
      <p:sp>
        <p:nvSpPr>
          <p:cNvPr id="29" name="Shape 21"/>
          <p:cNvSpPr/>
          <p:nvPr/>
        </p:nvSpPr>
        <p:spPr>
          <a:xfrm>
            <a:off x="4663440" y="1920240"/>
            <a:ext cx="4023360" cy="548640"/>
          </a:xfrm>
          <a:prstGeom prst="roundRect">
            <a:avLst>
              <a:gd name="adj" fmla="val 13333"/>
            </a:avLst>
          </a:prstGeom>
          <a:solidFill>
            <a:srgbClr val="F2F4F8"/>
          </a:solidFill>
          <a:ln/>
        </p:spPr>
      </p:sp>
      <p:sp>
        <p:nvSpPr>
          <p:cNvPr id="30" name="Shape 22"/>
          <p:cNvSpPr/>
          <p:nvPr/>
        </p:nvSpPr>
        <p:spPr>
          <a:xfrm>
            <a:off x="4754880" y="2011680"/>
            <a:ext cx="365760" cy="365760"/>
          </a:xfrm>
          <a:prstGeom prst="ellipse">
            <a:avLst/>
          </a:prstGeom>
          <a:solidFill>
            <a:srgbClr val="13478F"/>
          </a:solidFill>
          <a:ln/>
        </p:spPr>
      </p:sp>
      <p:pic>
        <p:nvPicPr>
          <p:cNvPr id="31" name="Image 6" descr="preencoded.png">    </p:cNvPr>
          <p:cNvPicPr>
            <a:picLocks noChangeAspect="1"/>
          </p:cNvPicPr>
          <p:nvPr/>
        </p:nvPicPr>
        <p:blipFill>
          <a:blip r:embed="rId7"/>
          <a:stretch>
            <a:fillRect/>
          </a:stretch>
        </p:blipFill>
        <p:spPr>
          <a:xfrm>
            <a:off x="4842662" y="2099462"/>
            <a:ext cx="190195" cy="190195"/>
          </a:xfrm>
          <a:prstGeom prst="rect">
            <a:avLst/>
          </a:prstGeom>
        </p:spPr>
      </p:pic>
      <p:sp>
        <p:nvSpPr>
          <p:cNvPr id="32" name="Text 23"/>
          <p:cNvSpPr txBox="1"/>
          <p:nvPr/>
        </p:nvSpPr>
        <p:spPr>
          <a:xfrm>
            <a:off x="5257800" y="192024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Scalability</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able to grow with more records</a:t>
            </a:r>
            <a:endParaRPr lang="en-US" sz="1200" dirty="0"/>
          </a:p>
        </p:txBody>
      </p:sp>
      <p:sp>
        <p:nvSpPr>
          <p:cNvPr id="33" name="Shape 24"/>
          <p:cNvSpPr/>
          <p:nvPr/>
        </p:nvSpPr>
        <p:spPr>
          <a:xfrm>
            <a:off x="4663440" y="2560320"/>
            <a:ext cx="4023360" cy="548640"/>
          </a:xfrm>
          <a:prstGeom prst="roundRect">
            <a:avLst>
              <a:gd name="adj" fmla="val 13333"/>
            </a:avLst>
          </a:prstGeom>
          <a:solidFill>
            <a:srgbClr val="F2F4F8"/>
          </a:solidFill>
          <a:ln/>
        </p:spPr>
      </p:sp>
      <p:sp>
        <p:nvSpPr>
          <p:cNvPr id="34" name="Shape 25"/>
          <p:cNvSpPr/>
          <p:nvPr/>
        </p:nvSpPr>
        <p:spPr>
          <a:xfrm>
            <a:off x="4754880" y="2651760"/>
            <a:ext cx="365760" cy="365760"/>
          </a:xfrm>
          <a:prstGeom prst="ellipse">
            <a:avLst/>
          </a:prstGeom>
          <a:solidFill>
            <a:srgbClr val="2F6DB5"/>
          </a:solidFill>
          <a:ln/>
        </p:spPr>
      </p:sp>
      <p:pic>
        <p:nvPicPr>
          <p:cNvPr id="35" name="Image 7" descr="preencoded.png">    </p:cNvPr>
          <p:cNvPicPr>
            <a:picLocks noChangeAspect="1"/>
          </p:cNvPicPr>
          <p:nvPr/>
        </p:nvPicPr>
        <p:blipFill>
          <a:blip r:embed="rId8"/>
          <a:stretch>
            <a:fillRect/>
          </a:stretch>
        </p:blipFill>
        <p:spPr>
          <a:xfrm>
            <a:off x="4842662" y="2739542"/>
            <a:ext cx="190195" cy="190195"/>
          </a:xfrm>
          <a:prstGeom prst="rect">
            <a:avLst/>
          </a:prstGeom>
        </p:spPr>
      </p:pic>
      <p:sp>
        <p:nvSpPr>
          <p:cNvPr id="36" name="Text 26"/>
          <p:cNvSpPr txBox="1"/>
          <p:nvPr/>
        </p:nvSpPr>
        <p:spPr>
          <a:xfrm>
            <a:off x="5257800" y="256032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Availability</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accessible whenever needed</a:t>
            </a:r>
            <a:endParaRPr lang="en-US" sz="1200" dirty="0"/>
          </a:p>
        </p:txBody>
      </p:sp>
      <p:sp>
        <p:nvSpPr>
          <p:cNvPr id="37" name="Shape 27"/>
          <p:cNvSpPr/>
          <p:nvPr/>
        </p:nvSpPr>
        <p:spPr>
          <a:xfrm>
            <a:off x="4663440" y="3200400"/>
            <a:ext cx="4023360" cy="548640"/>
          </a:xfrm>
          <a:prstGeom prst="roundRect">
            <a:avLst>
              <a:gd name="adj" fmla="val 13333"/>
            </a:avLst>
          </a:prstGeom>
          <a:solidFill>
            <a:srgbClr val="F2F4F8"/>
          </a:solidFill>
          <a:ln/>
        </p:spPr>
      </p:sp>
      <p:sp>
        <p:nvSpPr>
          <p:cNvPr id="38" name="Shape 28"/>
          <p:cNvSpPr/>
          <p:nvPr/>
        </p:nvSpPr>
        <p:spPr>
          <a:xfrm>
            <a:off x="4754880" y="3291840"/>
            <a:ext cx="365760" cy="365760"/>
          </a:xfrm>
          <a:prstGeom prst="ellipse">
            <a:avLst/>
          </a:prstGeom>
          <a:solidFill>
            <a:srgbClr val="13478F"/>
          </a:solidFill>
          <a:ln/>
        </p:spPr>
      </p:sp>
      <p:pic>
        <p:nvPicPr>
          <p:cNvPr id="39" name="Image 8" descr="preencoded.png">    </p:cNvPr>
          <p:cNvPicPr>
            <a:picLocks noChangeAspect="1"/>
          </p:cNvPicPr>
          <p:nvPr/>
        </p:nvPicPr>
        <p:blipFill>
          <a:blip r:embed="rId9"/>
          <a:stretch>
            <a:fillRect/>
          </a:stretch>
        </p:blipFill>
        <p:spPr>
          <a:xfrm>
            <a:off x="4842662" y="3379622"/>
            <a:ext cx="190195" cy="190195"/>
          </a:xfrm>
          <a:prstGeom prst="rect">
            <a:avLst/>
          </a:prstGeom>
        </p:spPr>
      </p:pic>
      <p:sp>
        <p:nvSpPr>
          <p:cNvPr id="40" name="Text 29"/>
          <p:cNvSpPr txBox="1"/>
          <p:nvPr/>
        </p:nvSpPr>
        <p:spPr>
          <a:xfrm>
            <a:off x="5257800" y="320040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Input validation</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reject wrong or incomplete data</a:t>
            </a:r>
            <a:endParaRPr lang="en-US" sz="1200" dirty="0"/>
          </a:p>
        </p:txBody>
      </p:sp>
      <p:sp>
        <p:nvSpPr>
          <p:cNvPr id="41" name="Shape 30"/>
          <p:cNvSpPr/>
          <p:nvPr/>
        </p:nvSpPr>
        <p:spPr>
          <a:xfrm>
            <a:off x="4663440" y="3840480"/>
            <a:ext cx="4023360" cy="548640"/>
          </a:xfrm>
          <a:prstGeom prst="roundRect">
            <a:avLst>
              <a:gd name="adj" fmla="val 13333"/>
            </a:avLst>
          </a:prstGeom>
          <a:solidFill>
            <a:srgbClr val="F2F4F8"/>
          </a:solidFill>
          <a:ln/>
        </p:spPr>
      </p:sp>
      <p:sp>
        <p:nvSpPr>
          <p:cNvPr id="42" name="Shape 31"/>
          <p:cNvSpPr/>
          <p:nvPr/>
        </p:nvSpPr>
        <p:spPr>
          <a:xfrm>
            <a:off x="4754880" y="3931920"/>
            <a:ext cx="365760" cy="365760"/>
          </a:xfrm>
          <a:prstGeom prst="ellipse">
            <a:avLst/>
          </a:prstGeom>
          <a:solidFill>
            <a:srgbClr val="2F6DB5"/>
          </a:solidFill>
          <a:ln/>
        </p:spPr>
      </p:sp>
      <p:pic>
        <p:nvPicPr>
          <p:cNvPr id="43" name="Image 9" descr="preencoded.png">    </p:cNvPr>
          <p:cNvPicPr>
            <a:picLocks noChangeAspect="1"/>
          </p:cNvPicPr>
          <p:nvPr/>
        </p:nvPicPr>
        <p:blipFill>
          <a:blip r:embed="rId10"/>
          <a:stretch>
            <a:fillRect/>
          </a:stretch>
        </p:blipFill>
        <p:spPr>
          <a:xfrm>
            <a:off x="4842662" y="4019702"/>
            <a:ext cx="190195" cy="190195"/>
          </a:xfrm>
          <a:prstGeom prst="rect">
            <a:avLst/>
          </a:prstGeom>
        </p:spPr>
      </p:pic>
      <p:sp>
        <p:nvSpPr>
          <p:cNvPr id="44" name="Text 32"/>
          <p:cNvSpPr txBox="1"/>
          <p:nvPr/>
        </p:nvSpPr>
        <p:spPr>
          <a:xfrm>
            <a:off x="5257800" y="3840480"/>
            <a:ext cx="3337560" cy="548640"/>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Error handling</a:t>
            </a:r>
            <a:endParaRPr lang="en-US" sz="1200" dirty="0"/>
          </a:p>
          <a:p>
            <a:pPr indent="0" marL="0">
              <a:buNone/>
            </a:pPr>
            <a:r>
              <a:rPr lang="en-US" sz="1100" dirty="0">
                <a:solidFill>
                  <a:srgbClr val="6B7280"/>
                </a:solidFill>
                <a:latin typeface="Calibri" pitchFamily="34" charset="0"/>
                <a:ea typeface="Calibri" pitchFamily="34" charset="-122"/>
                <a:cs typeface="Calibri" pitchFamily="34" charset="-120"/>
              </a:rPr>
              <a:t>clear messages, graceful failures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144768" y="219456"/>
            <a:ext cx="2542032" cy="274320"/>
          </a:xfrm>
          <a:prstGeom prst="roundRect">
            <a:avLst>
              <a:gd name="adj" fmla="val 50000"/>
            </a:avLst>
          </a:prstGeom>
          <a:solidFill>
            <a:srgbClr val="13478F"/>
          </a:solidFill>
          <a:ln/>
        </p:spPr>
      </p:sp>
      <p:sp>
        <p:nvSpPr>
          <p:cNvPr id="3" name="Text 1"/>
          <p:cNvSpPr txBox="1"/>
          <p:nvPr/>
        </p:nvSpPr>
        <p:spPr>
          <a:xfrm>
            <a:off x="6144768" y="219456"/>
            <a:ext cx="254203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PROPOSED SYSTEM ARCHITECTURE</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System Architecture</a:t>
            </a:r>
            <a:endParaRPr lang="en-US" sz="2600" dirty="0"/>
          </a:p>
        </p:txBody>
      </p:sp>
      <p:sp>
        <p:nvSpPr>
          <p:cNvPr id="5" name="Text 3"/>
          <p:cNvSpPr txBox="1"/>
          <p:nvPr/>
        </p:nvSpPr>
        <p:spPr>
          <a:xfrm>
            <a:off x="457200" y="1280160"/>
            <a:ext cx="1371600" cy="201168"/>
          </a:xfrm>
          <a:prstGeom prst="rect">
            <a:avLst/>
          </a:prstGeom>
          <a:noFill/>
          <a:ln/>
        </p:spPr>
        <p:txBody>
          <a:bodyPr wrap="square" lIns="0" tIns="0" rIns="0" bIns="0" rtlCol="0" anchor="t"/>
          <a:lstStyle/>
          <a:p>
            <a:pPr algn="ctr" indent="0" marL="0">
              <a:buNone/>
            </a:pPr>
            <a:r>
              <a:rPr lang="en-US" sz="950" b="1" dirty="0">
                <a:solidFill>
                  <a:srgbClr val="6B7280"/>
                </a:solidFill>
                <a:latin typeface="Calibri" pitchFamily="34" charset="0"/>
                <a:ea typeface="Calibri" pitchFamily="34" charset="-122"/>
                <a:cs typeface="Calibri" pitchFamily="34" charset="-120"/>
              </a:rPr>
              <a:t>CLIENT</a:t>
            </a:r>
            <a:endParaRPr lang="en-US" sz="950" dirty="0"/>
          </a:p>
        </p:txBody>
      </p:sp>
      <p:sp>
        <p:nvSpPr>
          <p:cNvPr id="6" name="Shape 4"/>
          <p:cNvSpPr/>
          <p:nvPr/>
        </p:nvSpPr>
        <p:spPr>
          <a:xfrm>
            <a:off x="457200" y="1536192"/>
            <a:ext cx="1371600" cy="1051560"/>
          </a:xfrm>
          <a:prstGeom prst="roundRect">
            <a:avLst>
              <a:gd name="adj" fmla="val 6957"/>
            </a:avLst>
          </a:prstGeom>
          <a:solidFill>
            <a:srgbClr val="E6EEF8"/>
          </a:solidFill>
          <a:ln/>
          <a:effectLst>
            <a:outerShdw sx="100000" sy="100000" kx="0" ky="0" algn="bl" rotWithShape="0" blurRad="76200" dist="25400" dir="5400000">
              <a:srgbClr val="000000">
                <a:alpha val="12000"/>
              </a:srgbClr>
            </a:outerShdw>
          </a:effectLst>
        </p:spPr>
      </p:sp>
      <p:sp>
        <p:nvSpPr>
          <p:cNvPr id="7" name="Shape 5"/>
          <p:cNvSpPr/>
          <p:nvPr/>
        </p:nvSpPr>
        <p:spPr>
          <a:xfrm>
            <a:off x="960120" y="1627632"/>
            <a:ext cx="365760" cy="365760"/>
          </a:xfrm>
          <a:prstGeom prst="ellipse">
            <a:avLst/>
          </a:prstGeom>
          <a:solidFill>
            <a:srgbClr val="13478F"/>
          </a:solidFill>
          <a:ln/>
        </p:spPr>
      </p:sp>
      <p:pic>
        <p:nvPicPr>
          <p:cNvPr id="8" name="Image 0" descr="preencoded.png">    </p:cNvPr>
          <p:cNvPicPr>
            <a:picLocks noChangeAspect="1"/>
          </p:cNvPicPr>
          <p:nvPr/>
        </p:nvPicPr>
        <p:blipFill>
          <a:blip r:embed="rId1"/>
          <a:stretch>
            <a:fillRect/>
          </a:stretch>
        </p:blipFill>
        <p:spPr>
          <a:xfrm>
            <a:off x="1047902" y="1715414"/>
            <a:ext cx="190195" cy="190195"/>
          </a:xfrm>
          <a:prstGeom prst="rect">
            <a:avLst/>
          </a:prstGeom>
        </p:spPr>
      </p:pic>
      <p:sp>
        <p:nvSpPr>
          <p:cNvPr id="9" name="Text 6"/>
          <p:cNvSpPr txBox="1"/>
          <p:nvPr/>
        </p:nvSpPr>
        <p:spPr>
          <a:xfrm>
            <a:off x="502920" y="2029968"/>
            <a:ext cx="1280160" cy="530352"/>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Admin / User</a:t>
            </a:r>
            <a:endParaRPr lang="en-US" sz="1000" dirty="0"/>
          </a:p>
        </p:txBody>
      </p:sp>
      <p:sp>
        <p:nvSpPr>
          <p:cNvPr id="10" name="Shape 7"/>
          <p:cNvSpPr/>
          <p:nvPr/>
        </p:nvSpPr>
        <p:spPr>
          <a:xfrm>
            <a:off x="1847088" y="2057400"/>
            <a:ext cx="306324" cy="0"/>
          </a:xfrm>
          <a:prstGeom prst="line">
            <a:avLst/>
          </a:prstGeom>
          <a:noFill/>
          <a:ln w="25400">
            <a:solidFill>
              <a:srgbClr val="13478F"/>
            </a:solidFill>
            <a:prstDash val="solid"/>
            <a:tailEnd type="triangle"/>
          </a:ln>
        </p:spPr>
      </p:sp>
      <p:sp>
        <p:nvSpPr>
          <p:cNvPr id="11" name="Text 8"/>
          <p:cNvSpPr txBox="1"/>
          <p:nvPr/>
        </p:nvSpPr>
        <p:spPr>
          <a:xfrm>
            <a:off x="2171700" y="1280160"/>
            <a:ext cx="1371600" cy="201168"/>
          </a:xfrm>
          <a:prstGeom prst="rect">
            <a:avLst/>
          </a:prstGeom>
          <a:noFill/>
          <a:ln/>
        </p:spPr>
        <p:txBody>
          <a:bodyPr wrap="square" lIns="0" tIns="0" rIns="0" bIns="0" rtlCol="0" anchor="t"/>
          <a:lstStyle/>
          <a:p>
            <a:pPr algn="ctr" indent="0" marL="0">
              <a:buNone/>
            </a:pPr>
            <a:r>
              <a:rPr lang="en-US" sz="950" b="1" dirty="0">
                <a:solidFill>
                  <a:srgbClr val="6B7280"/>
                </a:solidFill>
                <a:latin typeface="Calibri" pitchFamily="34" charset="0"/>
                <a:ea typeface="Calibri" pitchFamily="34" charset="-122"/>
                <a:cs typeface="Calibri" pitchFamily="34" charset="-120"/>
              </a:rPr>
              <a:t>PRESENTATION LAYER</a:t>
            </a:r>
            <a:endParaRPr lang="en-US" sz="950" dirty="0"/>
          </a:p>
        </p:txBody>
      </p:sp>
      <p:sp>
        <p:nvSpPr>
          <p:cNvPr id="12" name="Shape 9"/>
          <p:cNvSpPr/>
          <p:nvPr/>
        </p:nvSpPr>
        <p:spPr>
          <a:xfrm>
            <a:off x="2171700" y="1536192"/>
            <a:ext cx="1371600" cy="1051560"/>
          </a:xfrm>
          <a:prstGeom prst="roundRect">
            <a:avLst>
              <a:gd name="adj" fmla="val 6957"/>
            </a:avLst>
          </a:prstGeom>
          <a:solidFill>
            <a:srgbClr val="E6EEF8"/>
          </a:solidFill>
          <a:ln/>
          <a:effectLst>
            <a:outerShdw sx="100000" sy="100000" kx="0" ky="0" algn="bl" rotWithShape="0" blurRad="76200" dist="25400" dir="5400000">
              <a:srgbClr val="000000">
                <a:alpha val="12000"/>
              </a:srgbClr>
            </a:outerShdw>
          </a:effectLst>
        </p:spPr>
      </p:sp>
      <p:sp>
        <p:nvSpPr>
          <p:cNvPr id="13" name="Shape 10"/>
          <p:cNvSpPr/>
          <p:nvPr/>
        </p:nvSpPr>
        <p:spPr>
          <a:xfrm>
            <a:off x="2674620" y="1627632"/>
            <a:ext cx="365760" cy="365760"/>
          </a:xfrm>
          <a:prstGeom prst="ellipse">
            <a:avLst/>
          </a:prstGeom>
          <a:solidFill>
            <a:srgbClr val="13478F"/>
          </a:solidFill>
          <a:ln/>
        </p:spPr>
      </p:sp>
      <p:pic>
        <p:nvPicPr>
          <p:cNvPr id="14" name="Image 1" descr="preencoded.png">    </p:cNvPr>
          <p:cNvPicPr>
            <a:picLocks noChangeAspect="1"/>
          </p:cNvPicPr>
          <p:nvPr/>
        </p:nvPicPr>
        <p:blipFill>
          <a:blip r:embed="rId2"/>
          <a:stretch>
            <a:fillRect/>
          </a:stretch>
        </p:blipFill>
        <p:spPr>
          <a:xfrm>
            <a:off x="2762402" y="1715414"/>
            <a:ext cx="190195" cy="190195"/>
          </a:xfrm>
          <a:prstGeom prst="rect">
            <a:avLst/>
          </a:prstGeom>
        </p:spPr>
      </p:pic>
      <p:sp>
        <p:nvSpPr>
          <p:cNvPr id="15" name="Text 11"/>
          <p:cNvSpPr txBox="1"/>
          <p:nvPr/>
        </p:nvSpPr>
        <p:spPr>
          <a:xfrm>
            <a:off x="2217420" y="2029968"/>
            <a:ext cx="1280160" cy="530352"/>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HTML/CSS/JavaScript</a:t>
            </a:r>
            <a:endParaRPr lang="en-US" sz="1000" dirty="0"/>
          </a:p>
          <a:p>
            <a:pPr algn="ctr" indent="0" marL="0">
              <a:buNone/>
            </a:pPr>
            <a:r>
              <a:rPr lang="en-US" sz="1000" b="1" dirty="0">
                <a:solidFill>
                  <a:srgbClr val="0B2545"/>
                </a:solidFill>
                <a:latin typeface="Calibri" pitchFamily="34" charset="0"/>
                <a:ea typeface="Calibri" pitchFamily="34" charset="-122"/>
                <a:cs typeface="Calibri" pitchFamily="34" charset="-120"/>
              </a:rPr>
              <a:t>FRONTEND</a:t>
            </a:r>
            <a:endParaRPr lang="en-US" sz="1000" dirty="0"/>
          </a:p>
        </p:txBody>
      </p:sp>
      <p:sp>
        <p:nvSpPr>
          <p:cNvPr id="16" name="Shape 12"/>
          <p:cNvSpPr/>
          <p:nvPr/>
        </p:nvSpPr>
        <p:spPr>
          <a:xfrm>
            <a:off x="3561588" y="2057400"/>
            <a:ext cx="306324" cy="0"/>
          </a:xfrm>
          <a:prstGeom prst="line">
            <a:avLst/>
          </a:prstGeom>
          <a:noFill/>
          <a:ln w="25400">
            <a:solidFill>
              <a:srgbClr val="13478F"/>
            </a:solidFill>
            <a:prstDash val="solid"/>
            <a:tailEnd type="triangle"/>
          </a:ln>
        </p:spPr>
      </p:sp>
      <p:sp>
        <p:nvSpPr>
          <p:cNvPr id="17" name="Text 13"/>
          <p:cNvSpPr txBox="1"/>
          <p:nvPr/>
        </p:nvSpPr>
        <p:spPr>
          <a:xfrm>
            <a:off x="3886200" y="1280160"/>
            <a:ext cx="1371600" cy="201168"/>
          </a:xfrm>
          <a:prstGeom prst="rect">
            <a:avLst/>
          </a:prstGeom>
          <a:noFill/>
          <a:ln/>
        </p:spPr>
        <p:txBody>
          <a:bodyPr wrap="square" lIns="0" tIns="0" rIns="0" bIns="0" rtlCol="0" anchor="t"/>
          <a:lstStyle/>
          <a:p>
            <a:pPr algn="ctr" indent="0" marL="0">
              <a:buNone/>
            </a:pPr>
            <a:r>
              <a:rPr lang="en-US" sz="950" b="1" dirty="0">
                <a:solidFill>
                  <a:srgbClr val="6B7280"/>
                </a:solidFill>
                <a:latin typeface="Calibri" pitchFamily="34" charset="0"/>
                <a:ea typeface="Calibri" pitchFamily="34" charset="-122"/>
                <a:cs typeface="Calibri" pitchFamily="34" charset="-120"/>
              </a:rPr>
              <a:t>COMMUNICATION</a:t>
            </a:r>
            <a:endParaRPr lang="en-US" sz="950" dirty="0"/>
          </a:p>
        </p:txBody>
      </p:sp>
      <p:sp>
        <p:nvSpPr>
          <p:cNvPr id="18" name="Shape 14"/>
          <p:cNvSpPr/>
          <p:nvPr/>
        </p:nvSpPr>
        <p:spPr>
          <a:xfrm>
            <a:off x="3886200" y="1536192"/>
            <a:ext cx="1371600" cy="1051560"/>
          </a:xfrm>
          <a:prstGeom prst="roundRect">
            <a:avLst>
              <a:gd name="adj" fmla="val 6957"/>
            </a:avLst>
          </a:prstGeom>
          <a:solidFill>
            <a:srgbClr val="F2F4F8"/>
          </a:solidFill>
          <a:ln w="12700">
            <a:solidFill>
              <a:srgbClr val="8FB0DC"/>
            </a:solidFill>
            <a:prstDash val="dash"/>
          </a:ln>
          <a:effectLst>
            <a:outerShdw sx="100000" sy="100000" kx="0" ky="0" algn="bl" rotWithShape="0" blurRad="76200" dist="25400" dir="5400000">
              <a:srgbClr val="000000">
                <a:alpha val="12000"/>
              </a:srgbClr>
            </a:outerShdw>
          </a:effectLst>
        </p:spPr>
      </p:sp>
      <p:sp>
        <p:nvSpPr>
          <p:cNvPr id="19" name="Shape 15"/>
          <p:cNvSpPr/>
          <p:nvPr/>
        </p:nvSpPr>
        <p:spPr>
          <a:xfrm>
            <a:off x="4389120" y="1627632"/>
            <a:ext cx="365760" cy="365760"/>
          </a:xfrm>
          <a:prstGeom prst="ellipse">
            <a:avLst/>
          </a:prstGeom>
          <a:solidFill>
            <a:srgbClr val="13478F"/>
          </a:solidFill>
          <a:ln/>
        </p:spPr>
      </p:sp>
      <p:pic>
        <p:nvPicPr>
          <p:cNvPr id="20" name="Image 2" descr="preencoded.png">    </p:cNvPr>
          <p:cNvPicPr>
            <a:picLocks noChangeAspect="1"/>
          </p:cNvPicPr>
          <p:nvPr/>
        </p:nvPicPr>
        <p:blipFill>
          <a:blip r:embed="rId3"/>
          <a:stretch>
            <a:fillRect/>
          </a:stretch>
        </p:blipFill>
        <p:spPr>
          <a:xfrm>
            <a:off x="4476902" y="1715414"/>
            <a:ext cx="190195" cy="190195"/>
          </a:xfrm>
          <a:prstGeom prst="rect">
            <a:avLst/>
          </a:prstGeom>
        </p:spPr>
      </p:pic>
      <p:sp>
        <p:nvSpPr>
          <p:cNvPr id="21" name="Text 16"/>
          <p:cNvSpPr txBox="1"/>
          <p:nvPr/>
        </p:nvSpPr>
        <p:spPr>
          <a:xfrm>
            <a:off x="3931920" y="2029968"/>
            <a:ext cx="1280160" cy="530352"/>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HTTP / REST API</a:t>
            </a:r>
            <a:endParaRPr lang="en-US" sz="1000" dirty="0"/>
          </a:p>
        </p:txBody>
      </p:sp>
      <p:sp>
        <p:nvSpPr>
          <p:cNvPr id="22" name="Shape 17"/>
          <p:cNvSpPr/>
          <p:nvPr/>
        </p:nvSpPr>
        <p:spPr>
          <a:xfrm>
            <a:off x="5276088" y="2057400"/>
            <a:ext cx="306324" cy="0"/>
          </a:xfrm>
          <a:prstGeom prst="line">
            <a:avLst/>
          </a:prstGeom>
          <a:noFill/>
          <a:ln w="25400">
            <a:solidFill>
              <a:srgbClr val="13478F"/>
            </a:solidFill>
            <a:prstDash val="solid"/>
            <a:tailEnd type="triangle"/>
          </a:ln>
        </p:spPr>
      </p:sp>
      <p:sp>
        <p:nvSpPr>
          <p:cNvPr id="23" name="Text 18"/>
          <p:cNvSpPr txBox="1"/>
          <p:nvPr/>
        </p:nvSpPr>
        <p:spPr>
          <a:xfrm>
            <a:off x="5600700" y="1280160"/>
            <a:ext cx="1371600" cy="201168"/>
          </a:xfrm>
          <a:prstGeom prst="rect">
            <a:avLst/>
          </a:prstGeom>
          <a:noFill/>
          <a:ln/>
        </p:spPr>
        <p:txBody>
          <a:bodyPr wrap="square" lIns="0" tIns="0" rIns="0" bIns="0" rtlCol="0" anchor="t"/>
          <a:lstStyle/>
          <a:p>
            <a:pPr algn="ctr" indent="0" marL="0">
              <a:buNone/>
            </a:pPr>
            <a:r>
              <a:rPr lang="en-US" sz="950" b="1" dirty="0">
                <a:solidFill>
                  <a:srgbClr val="6B7280"/>
                </a:solidFill>
                <a:latin typeface="Calibri" pitchFamily="34" charset="0"/>
                <a:ea typeface="Calibri" pitchFamily="34" charset="-122"/>
                <a:cs typeface="Calibri" pitchFamily="34" charset="-120"/>
              </a:rPr>
              <a:t>APPLICATION LAYER</a:t>
            </a:r>
            <a:endParaRPr lang="en-US" sz="950" dirty="0"/>
          </a:p>
        </p:txBody>
      </p:sp>
      <p:sp>
        <p:nvSpPr>
          <p:cNvPr id="24" name="Shape 19"/>
          <p:cNvSpPr/>
          <p:nvPr/>
        </p:nvSpPr>
        <p:spPr>
          <a:xfrm>
            <a:off x="5600700" y="1536192"/>
            <a:ext cx="1371600" cy="1051560"/>
          </a:xfrm>
          <a:prstGeom prst="roundRect">
            <a:avLst>
              <a:gd name="adj" fmla="val 6957"/>
            </a:avLst>
          </a:prstGeom>
          <a:solidFill>
            <a:srgbClr val="E6EEF8"/>
          </a:solidFill>
          <a:ln/>
          <a:effectLst>
            <a:outerShdw sx="100000" sy="100000" kx="0" ky="0" algn="bl" rotWithShape="0" blurRad="76200" dist="25400" dir="5400000">
              <a:srgbClr val="000000">
                <a:alpha val="12000"/>
              </a:srgbClr>
            </a:outerShdw>
          </a:effectLst>
        </p:spPr>
      </p:sp>
      <p:sp>
        <p:nvSpPr>
          <p:cNvPr id="25" name="Shape 20"/>
          <p:cNvSpPr/>
          <p:nvPr/>
        </p:nvSpPr>
        <p:spPr>
          <a:xfrm>
            <a:off x="6103620" y="1627632"/>
            <a:ext cx="365760" cy="365760"/>
          </a:xfrm>
          <a:prstGeom prst="ellipse">
            <a:avLst/>
          </a:prstGeom>
          <a:solidFill>
            <a:srgbClr val="13478F"/>
          </a:solidFill>
          <a:ln/>
        </p:spPr>
      </p:sp>
      <p:pic>
        <p:nvPicPr>
          <p:cNvPr id="26" name="Image 3" descr="preencoded.png">    </p:cNvPr>
          <p:cNvPicPr>
            <a:picLocks noChangeAspect="1"/>
          </p:cNvPicPr>
          <p:nvPr/>
        </p:nvPicPr>
        <p:blipFill>
          <a:blip r:embed="rId4"/>
          <a:stretch>
            <a:fillRect/>
          </a:stretch>
        </p:blipFill>
        <p:spPr>
          <a:xfrm>
            <a:off x="6191402" y="1715414"/>
            <a:ext cx="190195" cy="190195"/>
          </a:xfrm>
          <a:prstGeom prst="rect">
            <a:avLst/>
          </a:prstGeom>
        </p:spPr>
      </p:pic>
      <p:sp>
        <p:nvSpPr>
          <p:cNvPr id="27" name="Text 21"/>
          <p:cNvSpPr txBox="1"/>
          <p:nvPr/>
        </p:nvSpPr>
        <p:spPr>
          <a:xfrm>
            <a:off x="5646420" y="2029968"/>
            <a:ext cx="1280160" cy="530352"/>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Node.js + Express</a:t>
            </a:r>
            <a:endParaRPr lang="en-US" sz="1000" dirty="0"/>
          </a:p>
          <a:p>
            <a:pPr algn="ctr" indent="0" marL="0">
              <a:buNone/>
            </a:pPr>
            <a:r>
              <a:rPr lang="en-US" sz="1000" b="1" dirty="0">
                <a:solidFill>
                  <a:srgbClr val="0B2545"/>
                </a:solidFill>
                <a:latin typeface="Calibri" pitchFamily="34" charset="0"/>
                <a:ea typeface="Calibri" pitchFamily="34" charset="-122"/>
                <a:cs typeface="Calibri" pitchFamily="34" charset="-120"/>
              </a:rPr>
              <a:t>BACKEND</a:t>
            </a:r>
            <a:endParaRPr lang="en-US" sz="1000" dirty="0"/>
          </a:p>
        </p:txBody>
      </p:sp>
      <p:sp>
        <p:nvSpPr>
          <p:cNvPr id="28" name="Shape 22"/>
          <p:cNvSpPr/>
          <p:nvPr/>
        </p:nvSpPr>
        <p:spPr>
          <a:xfrm>
            <a:off x="6990588" y="2057400"/>
            <a:ext cx="306324" cy="0"/>
          </a:xfrm>
          <a:prstGeom prst="line">
            <a:avLst/>
          </a:prstGeom>
          <a:noFill/>
          <a:ln w="25400">
            <a:solidFill>
              <a:srgbClr val="13478F"/>
            </a:solidFill>
            <a:prstDash val="solid"/>
            <a:tailEnd type="triangle"/>
          </a:ln>
        </p:spPr>
      </p:sp>
      <p:sp>
        <p:nvSpPr>
          <p:cNvPr id="29" name="Text 23"/>
          <p:cNvSpPr txBox="1"/>
          <p:nvPr/>
        </p:nvSpPr>
        <p:spPr>
          <a:xfrm>
            <a:off x="7315200" y="1280160"/>
            <a:ext cx="1371600" cy="201168"/>
          </a:xfrm>
          <a:prstGeom prst="rect">
            <a:avLst/>
          </a:prstGeom>
          <a:noFill/>
          <a:ln/>
        </p:spPr>
        <p:txBody>
          <a:bodyPr wrap="square" lIns="0" tIns="0" rIns="0" bIns="0" rtlCol="0" anchor="t"/>
          <a:lstStyle/>
          <a:p>
            <a:pPr algn="ctr" indent="0" marL="0">
              <a:buNone/>
            </a:pPr>
            <a:r>
              <a:rPr lang="en-US" sz="950" b="1" dirty="0">
                <a:solidFill>
                  <a:srgbClr val="6B7280"/>
                </a:solidFill>
                <a:latin typeface="Calibri" pitchFamily="34" charset="0"/>
                <a:ea typeface="Calibri" pitchFamily="34" charset="-122"/>
                <a:cs typeface="Calibri" pitchFamily="34" charset="-120"/>
              </a:rPr>
              <a:t>DATA LAYER</a:t>
            </a:r>
            <a:endParaRPr lang="en-US" sz="950" dirty="0"/>
          </a:p>
        </p:txBody>
      </p:sp>
      <p:sp>
        <p:nvSpPr>
          <p:cNvPr id="30" name="Shape 24"/>
          <p:cNvSpPr/>
          <p:nvPr/>
        </p:nvSpPr>
        <p:spPr>
          <a:xfrm>
            <a:off x="7315200" y="1536192"/>
            <a:ext cx="1371600" cy="1051560"/>
          </a:xfrm>
          <a:prstGeom prst="roundRect">
            <a:avLst>
              <a:gd name="adj" fmla="val 6957"/>
            </a:avLst>
          </a:prstGeom>
          <a:solidFill>
            <a:srgbClr val="0B2545"/>
          </a:solidFill>
          <a:ln/>
          <a:effectLst>
            <a:outerShdw sx="100000" sy="100000" kx="0" ky="0" algn="bl" rotWithShape="0" blurRad="76200" dist="25400" dir="5400000">
              <a:srgbClr val="000000">
                <a:alpha val="12000"/>
              </a:srgbClr>
            </a:outerShdw>
          </a:effectLst>
        </p:spPr>
      </p:sp>
      <p:sp>
        <p:nvSpPr>
          <p:cNvPr id="31" name="Shape 25"/>
          <p:cNvSpPr/>
          <p:nvPr/>
        </p:nvSpPr>
        <p:spPr>
          <a:xfrm>
            <a:off x="7818120" y="1627632"/>
            <a:ext cx="365760" cy="365760"/>
          </a:xfrm>
          <a:prstGeom prst="ellipse">
            <a:avLst/>
          </a:prstGeom>
          <a:solidFill>
            <a:srgbClr val="2F6DB5"/>
          </a:solidFill>
          <a:ln/>
        </p:spPr>
      </p:sp>
      <p:pic>
        <p:nvPicPr>
          <p:cNvPr id="32" name="Image 4" descr="preencoded.png">    </p:cNvPr>
          <p:cNvPicPr>
            <a:picLocks noChangeAspect="1"/>
          </p:cNvPicPr>
          <p:nvPr/>
        </p:nvPicPr>
        <p:blipFill>
          <a:blip r:embed="rId5"/>
          <a:stretch>
            <a:fillRect/>
          </a:stretch>
        </p:blipFill>
        <p:spPr>
          <a:xfrm>
            <a:off x="7905902" y="1715414"/>
            <a:ext cx="190195" cy="190195"/>
          </a:xfrm>
          <a:prstGeom prst="rect">
            <a:avLst/>
          </a:prstGeom>
        </p:spPr>
      </p:pic>
      <p:sp>
        <p:nvSpPr>
          <p:cNvPr id="33" name="Text 26"/>
          <p:cNvSpPr txBox="1"/>
          <p:nvPr/>
        </p:nvSpPr>
        <p:spPr>
          <a:xfrm>
            <a:off x="7360920" y="2029968"/>
            <a:ext cx="1280160"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MySQL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DATABASE</a:t>
            </a:r>
            <a:endParaRPr lang="en-US" sz="1000" dirty="0"/>
          </a:p>
        </p:txBody>
      </p:sp>
      <p:sp>
        <p:nvSpPr>
          <p:cNvPr id="34" name="Shape 27"/>
          <p:cNvSpPr/>
          <p:nvPr/>
        </p:nvSpPr>
        <p:spPr>
          <a:xfrm>
            <a:off x="8001000" y="2587752"/>
            <a:ext cx="0" cy="429768"/>
          </a:xfrm>
          <a:prstGeom prst="line">
            <a:avLst/>
          </a:prstGeom>
          <a:noFill/>
          <a:ln w="25400">
            <a:solidFill>
              <a:srgbClr val="0B2545"/>
            </a:solidFill>
            <a:prstDash val="solid"/>
          </a:ln>
        </p:spPr>
      </p:sp>
      <p:sp>
        <p:nvSpPr>
          <p:cNvPr id="35" name="Shape 28"/>
          <p:cNvSpPr/>
          <p:nvPr/>
        </p:nvSpPr>
        <p:spPr>
          <a:xfrm>
            <a:off x="1280160" y="3017520"/>
            <a:ext cx="6720840" cy="0"/>
          </a:xfrm>
          <a:prstGeom prst="line">
            <a:avLst/>
          </a:prstGeom>
          <a:noFill/>
          <a:ln w="25400">
            <a:solidFill>
              <a:srgbClr val="0B2545"/>
            </a:solidFill>
            <a:prstDash val="solid"/>
          </a:ln>
        </p:spPr>
      </p:sp>
      <p:sp>
        <p:nvSpPr>
          <p:cNvPr id="36" name="Shape 29"/>
          <p:cNvSpPr/>
          <p:nvPr/>
        </p:nvSpPr>
        <p:spPr>
          <a:xfrm>
            <a:off x="1280160" y="3017520"/>
            <a:ext cx="0" cy="411480"/>
          </a:xfrm>
          <a:prstGeom prst="line">
            <a:avLst/>
          </a:prstGeom>
          <a:noFill/>
          <a:ln w="25400">
            <a:solidFill>
              <a:srgbClr val="0B2545"/>
            </a:solidFill>
            <a:prstDash val="solid"/>
            <a:tailEnd type="triangle"/>
          </a:ln>
        </p:spPr>
      </p:sp>
      <p:sp>
        <p:nvSpPr>
          <p:cNvPr id="37" name="Shape 30"/>
          <p:cNvSpPr/>
          <p:nvPr/>
        </p:nvSpPr>
        <p:spPr>
          <a:xfrm>
            <a:off x="548640" y="3474720"/>
            <a:ext cx="1463040" cy="685800"/>
          </a:xfrm>
          <a:prstGeom prst="roundRect">
            <a:avLst>
              <a:gd name="adj" fmla="val 10667"/>
            </a:avLst>
          </a:prstGeom>
          <a:solidFill>
            <a:srgbClr val="FFFFFF"/>
          </a:solidFill>
          <a:ln w="19050">
            <a:solidFill>
              <a:srgbClr val="13478F"/>
            </a:solidFill>
            <a:prstDash val="solid"/>
          </a:ln>
          <a:effectLst>
            <a:outerShdw sx="100000" sy="100000" kx="0" ky="0" algn="bl" rotWithShape="0" blurRad="76200" dist="25400" dir="5400000">
              <a:srgbClr val="000000">
                <a:alpha val="12000"/>
              </a:srgbClr>
            </a:outerShdw>
          </a:effectLst>
        </p:spPr>
      </p:sp>
      <p:sp>
        <p:nvSpPr>
          <p:cNvPr id="38" name="Shape 31"/>
          <p:cNvSpPr/>
          <p:nvPr/>
        </p:nvSpPr>
        <p:spPr>
          <a:xfrm>
            <a:off x="640080" y="3630168"/>
            <a:ext cx="365760" cy="365760"/>
          </a:xfrm>
          <a:prstGeom prst="ellipse">
            <a:avLst/>
          </a:prstGeom>
          <a:solidFill>
            <a:srgbClr val="13478F"/>
          </a:solidFill>
          <a:ln/>
        </p:spPr>
      </p:sp>
      <p:pic>
        <p:nvPicPr>
          <p:cNvPr id="39" name="Image 5" descr="preencoded.png">    </p:cNvPr>
          <p:cNvPicPr>
            <a:picLocks noChangeAspect="1"/>
          </p:cNvPicPr>
          <p:nvPr/>
        </p:nvPicPr>
        <p:blipFill>
          <a:blip r:embed="rId6"/>
          <a:stretch>
            <a:fillRect/>
          </a:stretch>
        </p:blipFill>
        <p:spPr>
          <a:xfrm>
            <a:off x="727862" y="3717950"/>
            <a:ext cx="190195" cy="190195"/>
          </a:xfrm>
          <a:prstGeom prst="rect">
            <a:avLst/>
          </a:prstGeom>
        </p:spPr>
      </p:pic>
      <p:sp>
        <p:nvSpPr>
          <p:cNvPr id="40" name="Text 32"/>
          <p:cNvSpPr txBox="1"/>
          <p:nvPr/>
        </p:nvSpPr>
        <p:spPr>
          <a:xfrm>
            <a:off x="1051560" y="3474720"/>
            <a:ext cx="914400" cy="68580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Students</a:t>
            </a:r>
            <a:endParaRPr lang="en-US" sz="1150" dirty="0"/>
          </a:p>
        </p:txBody>
      </p:sp>
      <p:sp>
        <p:nvSpPr>
          <p:cNvPr id="41" name="Shape 33"/>
          <p:cNvSpPr/>
          <p:nvPr/>
        </p:nvSpPr>
        <p:spPr>
          <a:xfrm>
            <a:off x="2926080" y="3017520"/>
            <a:ext cx="0" cy="411480"/>
          </a:xfrm>
          <a:prstGeom prst="line">
            <a:avLst/>
          </a:prstGeom>
          <a:noFill/>
          <a:ln w="25400">
            <a:solidFill>
              <a:srgbClr val="0B2545"/>
            </a:solidFill>
            <a:prstDash val="solid"/>
            <a:tailEnd type="triangle"/>
          </a:ln>
        </p:spPr>
      </p:sp>
      <p:sp>
        <p:nvSpPr>
          <p:cNvPr id="42" name="Shape 34"/>
          <p:cNvSpPr/>
          <p:nvPr/>
        </p:nvSpPr>
        <p:spPr>
          <a:xfrm>
            <a:off x="2194560" y="3474720"/>
            <a:ext cx="1463040" cy="685800"/>
          </a:xfrm>
          <a:prstGeom prst="roundRect">
            <a:avLst>
              <a:gd name="adj" fmla="val 10667"/>
            </a:avLst>
          </a:prstGeom>
          <a:solidFill>
            <a:srgbClr val="FFFFFF"/>
          </a:solidFill>
          <a:ln w="19050">
            <a:solidFill>
              <a:srgbClr val="13478F"/>
            </a:solidFill>
            <a:prstDash val="solid"/>
          </a:ln>
          <a:effectLst>
            <a:outerShdw sx="100000" sy="100000" kx="0" ky="0" algn="bl" rotWithShape="0" blurRad="76200" dist="25400" dir="5400000">
              <a:srgbClr val="000000">
                <a:alpha val="12000"/>
              </a:srgbClr>
            </a:outerShdw>
          </a:effectLst>
        </p:spPr>
      </p:sp>
      <p:sp>
        <p:nvSpPr>
          <p:cNvPr id="43" name="Shape 35"/>
          <p:cNvSpPr/>
          <p:nvPr/>
        </p:nvSpPr>
        <p:spPr>
          <a:xfrm>
            <a:off x="2286000" y="3630168"/>
            <a:ext cx="365760" cy="365760"/>
          </a:xfrm>
          <a:prstGeom prst="ellipse">
            <a:avLst/>
          </a:prstGeom>
          <a:solidFill>
            <a:srgbClr val="13478F"/>
          </a:solidFill>
          <a:ln/>
        </p:spPr>
      </p:sp>
      <p:pic>
        <p:nvPicPr>
          <p:cNvPr id="44" name="Image 6" descr="preencoded.png">    </p:cNvPr>
          <p:cNvPicPr>
            <a:picLocks noChangeAspect="1"/>
          </p:cNvPicPr>
          <p:nvPr/>
        </p:nvPicPr>
        <p:blipFill>
          <a:blip r:embed="rId7"/>
          <a:stretch>
            <a:fillRect/>
          </a:stretch>
        </p:blipFill>
        <p:spPr>
          <a:xfrm>
            <a:off x="2373782" y="3717950"/>
            <a:ext cx="190195" cy="190195"/>
          </a:xfrm>
          <a:prstGeom prst="rect">
            <a:avLst/>
          </a:prstGeom>
        </p:spPr>
      </p:pic>
      <p:sp>
        <p:nvSpPr>
          <p:cNvPr id="45" name="Text 36"/>
          <p:cNvSpPr txBox="1"/>
          <p:nvPr/>
        </p:nvSpPr>
        <p:spPr>
          <a:xfrm>
            <a:off x="2697480" y="3474720"/>
            <a:ext cx="914400" cy="68580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Rooms</a:t>
            </a:r>
            <a:endParaRPr lang="en-US" sz="1150" dirty="0"/>
          </a:p>
        </p:txBody>
      </p:sp>
      <p:sp>
        <p:nvSpPr>
          <p:cNvPr id="46" name="Shape 37"/>
          <p:cNvSpPr/>
          <p:nvPr/>
        </p:nvSpPr>
        <p:spPr>
          <a:xfrm>
            <a:off x="4572000" y="3017520"/>
            <a:ext cx="0" cy="411480"/>
          </a:xfrm>
          <a:prstGeom prst="line">
            <a:avLst/>
          </a:prstGeom>
          <a:noFill/>
          <a:ln w="25400">
            <a:solidFill>
              <a:srgbClr val="0B2545"/>
            </a:solidFill>
            <a:prstDash val="solid"/>
            <a:tailEnd type="triangle"/>
          </a:ln>
        </p:spPr>
      </p:sp>
      <p:sp>
        <p:nvSpPr>
          <p:cNvPr id="47" name="Shape 38"/>
          <p:cNvSpPr/>
          <p:nvPr/>
        </p:nvSpPr>
        <p:spPr>
          <a:xfrm>
            <a:off x="3840480" y="3474720"/>
            <a:ext cx="1463040" cy="685800"/>
          </a:xfrm>
          <a:prstGeom prst="roundRect">
            <a:avLst>
              <a:gd name="adj" fmla="val 10667"/>
            </a:avLst>
          </a:prstGeom>
          <a:solidFill>
            <a:srgbClr val="FFFFFF"/>
          </a:solidFill>
          <a:ln w="19050">
            <a:solidFill>
              <a:srgbClr val="13478F"/>
            </a:solidFill>
            <a:prstDash val="solid"/>
          </a:ln>
          <a:effectLst>
            <a:outerShdw sx="100000" sy="100000" kx="0" ky="0" algn="bl" rotWithShape="0" blurRad="76200" dist="25400" dir="5400000">
              <a:srgbClr val="000000">
                <a:alpha val="12000"/>
              </a:srgbClr>
            </a:outerShdw>
          </a:effectLst>
        </p:spPr>
      </p:sp>
      <p:sp>
        <p:nvSpPr>
          <p:cNvPr id="48" name="Shape 39"/>
          <p:cNvSpPr/>
          <p:nvPr/>
        </p:nvSpPr>
        <p:spPr>
          <a:xfrm>
            <a:off x="3931920" y="3630168"/>
            <a:ext cx="365760" cy="365760"/>
          </a:xfrm>
          <a:prstGeom prst="ellipse">
            <a:avLst/>
          </a:prstGeom>
          <a:solidFill>
            <a:srgbClr val="13478F"/>
          </a:solidFill>
          <a:ln/>
        </p:spPr>
      </p:sp>
      <p:pic>
        <p:nvPicPr>
          <p:cNvPr id="49" name="Image 7" descr="preencoded.png">    </p:cNvPr>
          <p:cNvPicPr>
            <a:picLocks noChangeAspect="1"/>
          </p:cNvPicPr>
          <p:nvPr/>
        </p:nvPicPr>
        <p:blipFill>
          <a:blip r:embed="rId8"/>
          <a:stretch>
            <a:fillRect/>
          </a:stretch>
        </p:blipFill>
        <p:spPr>
          <a:xfrm>
            <a:off x="4019702" y="3717950"/>
            <a:ext cx="190195" cy="190195"/>
          </a:xfrm>
          <a:prstGeom prst="rect">
            <a:avLst/>
          </a:prstGeom>
        </p:spPr>
      </p:pic>
      <p:sp>
        <p:nvSpPr>
          <p:cNvPr id="50" name="Text 40"/>
          <p:cNvSpPr txBox="1"/>
          <p:nvPr/>
        </p:nvSpPr>
        <p:spPr>
          <a:xfrm>
            <a:off x="4343400" y="3474720"/>
            <a:ext cx="914400" cy="68580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Allocations</a:t>
            </a:r>
            <a:endParaRPr lang="en-US" sz="1150" dirty="0"/>
          </a:p>
        </p:txBody>
      </p:sp>
      <p:sp>
        <p:nvSpPr>
          <p:cNvPr id="51" name="Shape 41"/>
          <p:cNvSpPr/>
          <p:nvPr/>
        </p:nvSpPr>
        <p:spPr>
          <a:xfrm>
            <a:off x="6217920" y="3017520"/>
            <a:ext cx="0" cy="411480"/>
          </a:xfrm>
          <a:prstGeom prst="line">
            <a:avLst/>
          </a:prstGeom>
          <a:noFill/>
          <a:ln w="25400">
            <a:solidFill>
              <a:srgbClr val="0B2545"/>
            </a:solidFill>
            <a:prstDash val="solid"/>
            <a:tailEnd type="triangle"/>
          </a:ln>
        </p:spPr>
      </p:sp>
      <p:sp>
        <p:nvSpPr>
          <p:cNvPr id="52" name="Shape 42"/>
          <p:cNvSpPr/>
          <p:nvPr/>
        </p:nvSpPr>
        <p:spPr>
          <a:xfrm>
            <a:off x="5486400" y="3474720"/>
            <a:ext cx="1463040" cy="685800"/>
          </a:xfrm>
          <a:prstGeom prst="roundRect">
            <a:avLst>
              <a:gd name="adj" fmla="val 10667"/>
            </a:avLst>
          </a:prstGeom>
          <a:solidFill>
            <a:srgbClr val="FFFFFF"/>
          </a:solidFill>
          <a:ln w="19050">
            <a:solidFill>
              <a:srgbClr val="13478F"/>
            </a:solidFill>
            <a:prstDash val="solid"/>
          </a:ln>
          <a:effectLst>
            <a:outerShdw sx="100000" sy="100000" kx="0" ky="0" algn="bl" rotWithShape="0" blurRad="76200" dist="25400" dir="5400000">
              <a:srgbClr val="000000">
                <a:alpha val="12000"/>
              </a:srgbClr>
            </a:outerShdw>
          </a:effectLst>
        </p:spPr>
      </p:sp>
      <p:sp>
        <p:nvSpPr>
          <p:cNvPr id="53" name="Shape 43"/>
          <p:cNvSpPr/>
          <p:nvPr/>
        </p:nvSpPr>
        <p:spPr>
          <a:xfrm>
            <a:off x="5577840" y="3630168"/>
            <a:ext cx="365760" cy="365760"/>
          </a:xfrm>
          <a:prstGeom prst="ellipse">
            <a:avLst/>
          </a:prstGeom>
          <a:solidFill>
            <a:srgbClr val="13478F"/>
          </a:solidFill>
          <a:ln/>
        </p:spPr>
      </p:sp>
      <p:pic>
        <p:nvPicPr>
          <p:cNvPr id="54" name="Image 8" descr="preencoded.png">    </p:cNvPr>
          <p:cNvPicPr>
            <a:picLocks noChangeAspect="1"/>
          </p:cNvPicPr>
          <p:nvPr/>
        </p:nvPicPr>
        <p:blipFill>
          <a:blip r:embed="rId9"/>
          <a:stretch>
            <a:fillRect/>
          </a:stretch>
        </p:blipFill>
        <p:spPr>
          <a:xfrm>
            <a:off x="5665622" y="3717950"/>
            <a:ext cx="190195" cy="190195"/>
          </a:xfrm>
          <a:prstGeom prst="rect">
            <a:avLst/>
          </a:prstGeom>
        </p:spPr>
      </p:pic>
      <p:sp>
        <p:nvSpPr>
          <p:cNvPr id="55" name="Text 44"/>
          <p:cNvSpPr txBox="1"/>
          <p:nvPr/>
        </p:nvSpPr>
        <p:spPr>
          <a:xfrm>
            <a:off x="5989320" y="3474720"/>
            <a:ext cx="914400" cy="68580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Fees</a:t>
            </a:r>
            <a:endParaRPr lang="en-US" sz="1150" dirty="0"/>
          </a:p>
        </p:txBody>
      </p:sp>
      <p:sp>
        <p:nvSpPr>
          <p:cNvPr id="56" name="Shape 45"/>
          <p:cNvSpPr/>
          <p:nvPr/>
        </p:nvSpPr>
        <p:spPr>
          <a:xfrm>
            <a:off x="7863840" y="3017520"/>
            <a:ext cx="0" cy="411480"/>
          </a:xfrm>
          <a:prstGeom prst="line">
            <a:avLst/>
          </a:prstGeom>
          <a:noFill/>
          <a:ln w="25400">
            <a:solidFill>
              <a:srgbClr val="0B2545"/>
            </a:solidFill>
            <a:prstDash val="solid"/>
            <a:tailEnd type="triangle"/>
          </a:ln>
        </p:spPr>
      </p:sp>
      <p:sp>
        <p:nvSpPr>
          <p:cNvPr id="57" name="Shape 46"/>
          <p:cNvSpPr/>
          <p:nvPr/>
        </p:nvSpPr>
        <p:spPr>
          <a:xfrm>
            <a:off x="7132320" y="3474720"/>
            <a:ext cx="1463040" cy="685800"/>
          </a:xfrm>
          <a:prstGeom prst="roundRect">
            <a:avLst>
              <a:gd name="adj" fmla="val 10667"/>
            </a:avLst>
          </a:prstGeom>
          <a:solidFill>
            <a:srgbClr val="FFFFFF"/>
          </a:solidFill>
          <a:ln w="19050">
            <a:solidFill>
              <a:srgbClr val="13478F"/>
            </a:solidFill>
            <a:prstDash val="solid"/>
          </a:ln>
          <a:effectLst>
            <a:outerShdw sx="100000" sy="100000" kx="0" ky="0" algn="bl" rotWithShape="0" blurRad="76200" dist="25400" dir="5400000">
              <a:srgbClr val="000000">
                <a:alpha val="12000"/>
              </a:srgbClr>
            </a:outerShdw>
          </a:effectLst>
        </p:spPr>
      </p:sp>
      <p:sp>
        <p:nvSpPr>
          <p:cNvPr id="58" name="Shape 47"/>
          <p:cNvSpPr/>
          <p:nvPr/>
        </p:nvSpPr>
        <p:spPr>
          <a:xfrm>
            <a:off x="7223760" y="3630168"/>
            <a:ext cx="365760" cy="365760"/>
          </a:xfrm>
          <a:prstGeom prst="ellipse">
            <a:avLst/>
          </a:prstGeom>
          <a:solidFill>
            <a:srgbClr val="13478F"/>
          </a:solidFill>
          <a:ln/>
        </p:spPr>
      </p:sp>
      <p:pic>
        <p:nvPicPr>
          <p:cNvPr id="59" name="Image 9" descr="preencoded.png">    </p:cNvPr>
          <p:cNvPicPr>
            <a:picLocks noChangeAspect="1"/>
          </p:cNvPicPr>
          <p:nvPr/>
        </p:nvPicPr>
        <p:blipFill>
          <a:blip r:embed="rId10"/>
          <a:stretch>
            <a:fillRect/>
          </a:stretch>
        </p:blipFill>
        <p:spPr>
          <a:xfrm>
            <a:off x="7311542" y="3717950"/>
            <a:ext cx="190195" cy="190195"/>
          </a:xfrm>
          <a:prstGeom prst="rect">
            <a:avLst/>
          </a:prstGeom>
        </p:spPr>
      </p:pic>
      <p:sp>
        <p:nvSpPr>
          <p:cNvPr id="60" name="Text 48"/>
          <p:cNvSpPr txBox="1"/>
          <p:nvPr/>
        </p:nvSpPr>
        <p:spPr>
          <a:xfrm>
            <a:off x="7635240" y="3474720"/>
            <a:ext cx="914400" cy="68580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Complaints</a:t>
            </a:r>
            <a:endParaRPr lang="en-US" sz="1150" dirty="0"/>
          </a:p>
        </p:txBody>
      </p:sp>
      <p:sp>
        <p:nvSpPr>
          <p:cNvPr id="61" name="Text 49"/>
          <p:cNvSpPr txBox="1"/>
          <p:nvPr/>
        </p:nvSpPr>
        <p:spPr>
          <a:xfrm>
            <a:off x="548640" y="4251960"/>
            <a:ext cx="365760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Database tables (proposed)</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155180" y="219456"/>
            <a:ext cx="1531620" cy="274320"/>
          </a:xfrm>
          <a:prstGeom prst="roundRect">
            <a:avLst>
              <a:gd name="adj" fmla="val 50000"/>
            </a:avLst>
          </a:prstGeom>
          <a:solidFill>
            <a:srgbClr val="13478F"/>
          </a:solidFill>
          <a:ln/>
        </p:spPr>
      </p:sp>
      <p:sp>
        <p:nvSpPr>
          <p:cNvPr id="3" name="Text 1"/>
          <p:cNvSpPr txBox="1"/>
          <p:nvPr/>
        </p:nvSpPr>
        <p:spPr>
          <a:xfrm>
            <a:off x="7155180" y="219456"/>
            <a:ext cx="15316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SYSTEM MODULES</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Implementation – Module 1</a:t>
            </a:r>
            <a:endParaRPr lang="en-US" sz="2600" dirty="0"/>
          </a:p>
        </p:txBody>
      </p:sp>
      <p:sp>
        <p:nvSpPr>
          <p:cNvPr id="5" name="Shape 3"/>
          <p:cNvSpPr/>
          <p:nvPr/>
        </p:nvSpPr>
        <p:spPr>
          <a:xfrm>
            <a:off x="457200" y="1234440"/>
            <a:ext cx="192024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6" name="Shape 4"/>
          <p:cNvSpPr/>
          <p:nvPr/>
        </p:nvSpPr>
        <p:spPr>
          <a:xfrm>
            <a:off x="594360" y="1371600"/>
            <a:ext cx="457200" cy="457200"/>
          </a:xfrm>
          <a:prstGeom prst="ellipse">
            <a:avLst/>
          </a:prstGeom>
          <a:solidFill>
            <a:srgbClr val="13478F"/>
          </a:solidFill>
          <a:ln/>
        </p:spPr>
      </p:sp>
      <p:pic>
        <p:nvPicPr>
          <p:cNvPr id="7" name="Image 0" descr="preencoded.png">    </p:cNvPr>
          <p:cNvPicPr>
            <a:picLocks noChangeAspect="1"/>
          </p:cNvPicPr>
          <p:nvPr/>
        </p:nvPicPr>
        <p:blipFill>
          <a:blip r:embed="rId1"/>
          <a:stretch>
            <a:fillRect/>
          </a:stretch>
        </p:blipFill>
        <p:spPr>
          <a:xfrm>
            <a:off x="704088" y="1481328"/>
            <a:ext cx="237744" cy="237744"/>
          </a:xfrm>
          <a:prstGeom prst="rect">
            <a:avLst/>
          </a:prstGeom>
        </p:spPr>
      </p:pic>
      <p:sp>
        <p:nvSpPr>
          <p:cNvPr id="8" name="Shape 5"/>
          <p:cNvSpPr/>
          <p:nvPr/>
        </p:nvSpPr>
        <p:spPr>
          <a:xfrm>
            <a:off x="1965960" y="1344168"/>
            <a:ext cx="292608" cy="292608"/>
          </a:xfrm>
          <a:prstGeom prst="ellipse">
            <a:avLst/>
          </a:prstGeom>
          <a:solidFill>
            <a:srgbClr val="0B2545"/>
          </a:solidFill>
          <a:ln/>
        </p:spPr>
      </p:sp>
      <p:sp>
        <p:nvSpPr>
          <p:cNvPr id="9" name="Text 6"/>
          <p:cNvSpPr txBox="1"/>
          <p:nvPr/>
        </p:nvSpPr>
        <p:spPr>
          <a:xfrm>
            <a:off x="1965960" y="13441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594360" y="1892808"/>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Student Management</a:t>
            </a:r>
            <a:endParaRPr lang="en-US" sz="1150" dirty="0"/>
          </a:p>
        </p:txBody>
      </p:sp>
      <p:sp>
        <p:nvSpPr>
          <p:cNvPr id="11" name="Text 8"/>
          <p:cNvSpPr txBox="1"/>
          <p:nvPr/>
        </p:nvSpPr>
        <p:spPr>
          <a:xfrm>
            <a:off x="594360" y="2258568"/>
            <a:ext cx="1691640" cy="41148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Add, view, update, delete and search student records.</a:t>
            </a:r>
            <a:endParaRPr lang="en-US" sz="1050" dirty="0"/>
          </a:p>
        </p:txBody>
      </p:sp>
      <p:sp>
        <p:nvSpPr>
          <p:cNvPr id="12" name="Shape 9"/>
          <p:cNvSpPr/>
          <p:nvPr/>
        </p:nvSpPr>
        <p:spPr>
          <a:xfrm>
            <a:off x="2560320" y="1234440"/>
            <a:ext cx="192024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13" name="Shape 10"/>
          <p:cNvSpPr/>
          <p:nvPr/>
        </p:nvSpPr>
        <p:spPr>
          <a:xfrm>
            <a:off x="2697480" y="1371600"/>
            <a:ext cx="457200" cy="457200"/>
          </a:xfrm>
          <a:prstGeom prst="ellipse">
            <a:avLst/>
          </a:prstGeom>
          <a:solidFill>
            <a:srgbClr val="13478F"/>
          </a:solidFill>
          <a:ln/>
        </p:spPr>
      </p:sp>
      <p:pic>
        <p:nvPicPr>
          <p:cNvPr id="14" name="Image 1" descr="preencoded.png">    </p:cNvPr>
          <p:cNvPicPr>
            <a:picLocks noChangeAspect="1"/>
          </p:cNvPicPr>
          <p:nvPr/>
        </p:nvPicPr>
        <p:blipFill>
          <a:blip r:embed="rId2"/>
          <a:stretch>
            <a:fillRect/>
          </a:stretch>
        </p:blipFill>
        <p:spPr>
          <a:xfrm>
            <a:off x="2807208" y="1481328"/>
            <a:ext cx="237744" cy="237744"/>
          </a:xfrm>
          <a:prstGeom prst="rect">
            <a:avLst/>
          </a:prstGeom>
        </p:spPr>
      </p:pic>
      <p:sp>
        <p:nvSpPr>
          <p:cNvPr id="15" name="Shape 11"/>
          <p:cNvSpPr/>
          <p:nvPr/>
        </p:nvSpPr>
        <p:spPr>
          <a:xfrm>
            <a:off x="4069080" y="1344168"/>
            <a:ext cx="292608" cy="292608"/>
          </a:xfrm>
          <a:prstGeom prst="ellipse">
            <a:avLst/>
          </a:prstGeom>
          <a:solidFill>
            <a:srgbClr val="0B2545"/>
          </a:solidFill>
          <a:ln/>
        </p:spPr>
      </p:sp>
      <p:sp>
        <p:nvSpPr>
          <p:cNvPr id="16" name="Text 12"/>
          <p:cNvSpPr txBox="1"/>
          <p:nvPr/>
        </p:nvSpPr>
        <p:spPr>
          <a:xfrm>
            <a:off x="4069080" y="13441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7" name="Text 13"/>
          <p:cNvSpPr txBox="1"/>
          <p:nvPr/>
        </p:nvSpPr>
        <p:spPr>
          <a:xfrm>
            <a:off x="2697480" y="1892808"/>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Room Management</a:t>
            </a:r>
            <a:endParaRPr lang="en-US" sz="1150" dirty="0"/>
          </a:p>
        </p:txBody>
      </p:sp>
      <p:sp>
        <p:nvSpPr>
          <p:cNvPr id="18" name="Text 14"/>
          <p:cNvSpPr txBox="1"/>
          <p:nvPr/>
        </p:nvSpPr>
        <p:spPr>
          <a:xfrm>
            <a:off x="2697480" y="2258568"/>
            <a:ext cx="1691640" cy="41148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Maintain room details, occupancy and availability.</a:t>
            </a:r>
            <a:endParaRPr lang="en-US" sz="1050" dirty="0"/>
          </a:p>
        </p:txBody>
      </p:sp>
      <p:sp>
        <p:nvSpPr>
          <p:cNvPr id="19" name="Shape 15"/>
          <p:cNvSpPr/>
          <p:nvPr/>
        </p:nvSpPr>
        <p:spPr>
          <a:xfrm>
            <a:off x="4663440" y="1234440"/>
            <a:ext cx="192024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20" name="Shape 16"/>
          <p:cNvSpPr/>
          <p:nvPr/>
        </p:nvSpPr>
        <p:spPr>
          <a:xfrm>
            <a:off x="4800600" y="1371600"/>
            <a:ext cx="457200" cy="457200"/>
          </a:xfrm>
          <a:prstGeom prst="ellipse">
            <a:avLst/>
          </a:prstGeom>
          <a:solidFill>
            <a:srgbClr val="13478F"/>
          </a:solidFill>
          <a:ln/>
        </p:spPr>
      </p:sp>
      <p:pic>
        <p:nvPicPr>
          <p:cNvPr id="21" name="Image 2" descr="preencoded.png">    </p:cNvPr>
          <p:cNvPicPr>
            <a:picLocks noChangeAspect="1"/>
          </p:cNvPicPr>
          <p:nvPr/>
        </p:nvPicPr>
        <p:blipFill>
          <a:blip r:embed="rId3"/>
          <a:stretch>
            <a:fillRect/>
          </a:stretch>
        </p:blipFill>
        <p:spPr>
          <a:xfrm>
            <a:off x="4910328" y="1481328"/>
            <a:ext cx="237744" cy="237744"/>
          </a:xfrm>
          <a:prstGeom prst="rect">
            <a:avLst/>
          </a:prstGeom>
        </p:spPr>
      </p:pic>
      <p:sp>
        <p:nvSpPr>
          <p:cNvPr id="22" name="Shape 17"/>
          <p:cNvSpPr/>
          <p:nvPr/>
        </p:nvSpPr>
        <p:spPr>
          <a:xfrm>
            <a:off x="6172200" y="1344168"/>
            <a:ext cx="292608" cy="292608"/>
          </a:xfrm>
          <a:prstGeom prst="ellipse">
            <a:avLst/>
          </a:prstGeom>
          <a:solidFill>
            <a:srgbClr val="0B2545"/>
          </a:solidFill>
          <a:ln/>
        </p:spPr>
      </p:sp>
      <p:sp>
        <p:nvSpPr>
          <p:cNvPr id="23" name="Text 18"/>
          <p:cNvSpPr txBox="1"/>
          <p:nvPr/>
        </p:nvSpPr>
        <p:spPr>
          <a:xfrm>
            <a:off x="6172200" y="13441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19"/>
          <p:cNvSpPr txBox="1"/>
          <p:nvPr/>
        </p:nvSpPr>
        <p:spPr>
          <a:xfrm>
            <a:off x="4800600" y="1892808"/>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Room Allocation</a:t>
            </a:r>
            <a:endParaRPr lang="en-US" sz="1150" dirty="0"/>
          </a:p>
        </p:txBody>
      </p:sp>
      <p:sp>
        <p:nvSpPr>
          <p:cNvPr id="25" name="Text 20"/>
          <p:cNvSpPr txBox="1"/>
          <p:nvPr/>
        </p:nvSpPr>
        <p:spPr>
          <a:xfrm>
            <a:off x="4800600" y="2258568"/>
            <a:ext cx="1691640" cy="41148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Assign or change rooms and keep allocation history.</a:t>
            </a:r>
            <a:endParaRPr lang="en-US" sz="1050" dirty="0"/>
          </a:p>
        </p:txBody>
      </p:sp>
      <p:sp>
        <p:nvSpPr>
          <p:cNvPr id="26" name="Shape 21"/>
          <p:cNvSpPr/>
          <p:nvPr/>
        </p:nvSpPr>
        <p:spPr>
          <a:xfrm>
            <a:off x="6766560" y="1234440"/>
            <a:ext cx="192024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27" name="Shape 22"/>
          <p:cNvSpPr/>
          <p:nvPr/>
        </p:nvSpPr>
        <p:spPr>
          <a:xfrm>
            <a:off x="6903720" y="1371600"/>
            <a:ext cx="457200" cy="457200"/>
          </a:xfrm>
          <a:prstGeom prst="ellipse">
            <a:avLst/>
          </a:prstGeom>
          <a:solidFill>
            <a:srgbClr val="13478F"/>
          </a:solidFill>
          <a:ln/>
        </p:spPr>
      </p:sp>
      <p:pic>
        <p:nvPicPr>
          <p:cNvPr id="28" name="Image 3" descr="preencoded.png">    </p:cNvPr>
          <p:cNvPicPr>
            <a:picLocks noChangeAspect="1"/>
          </p:cNvPicPr>
          <p:nvPr/>
        </p:nvPicPr>
        <p:blipFill>
          <a:blip r:embed="rId4"/>
          <a:stretch>
            <a:fillRect/>
          </a:stretch>
        </p:blipFill>
        <p:spPr>
          <a:xfrm>
            <a:off x="7013448" y="1481328"/>
            <a:ext cx="237744" cy="237744"/>
          </a:xfrm>
          <a:prstGeom prst="rect">
            <a:avLst/>
          </a:prstGeom>
        </p:spPr>
      </p:pic>
      <p:sp>
        <p:nvSpPr>
          <p:cNvPr id="29" name="Shape 23"/>
          <p:cNvSpPr/>
          <p:nvPr/>
        </p:nvSpPr>
        <p:spPr>
          <a:xfrm>
            <a:off x="8275320" y="1344168"/>
            <a:ext cx="292608" cy="292608"/>
          </a:xfrm>
          <a:prstGeom prst="ellipse">
            <a:avLst/>
          </a:prstGeom>
          <a:solidFill>
            <a:srgbClr val="0B2545"/>
          </a:solidFill>
          <a:ln/>
        </p:spPr>
      </p:sp>
      <p:sp>
        <p:nvSpPr>
          <p:cNvPr id="30" name="Text 24"/>
          <p:cNvSpPr txBox="1"/>
          <p:nvPr/>
        </p:nvSpPr>
        <p:spPr>
          <a:xfrm>
            <a:off x="8275320" y="13441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5"/>
          <p:cNvSpPr txBox="1"/>
          <p:nvPr/>
        </p:nvSpPr>
        <p:spPr>
          <a:xfrm>
            <a:off x="6903720" y="1892808"/>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Fee Management</a:t>
            </a:r>
            <a:endParaRPr lang="en-US" sz="1150" dirty="0"/>
          </a:p>
        </p:txBody>
      </p:sp>
      <p:sp>
        <p:nvSpPr>
          <p:cNvPr id="32" name="Text 26"/>
          <p:cNvSpPr txBox="1"/>
          <p:nvPr/>
        </p:nvSpPr>
        <p:spPr>
          <a:xfrm>
            <a:off x="6903720" y="2258568"/>
            <a:ext cx="1691640" cy="41148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Record payments and view payment status.</a:t>
            </a:r>
            <a:endParaRPr lang="en-US" sz="1050" dirty="0"/>
          </a:p>
        </p:txBody>
      </p:sp>
      <p:sp>
        <p:nvSpPr>
          <p:cNvPr id="33" name="Shape 27"/>
          <p:cNvSpPr/>
          <p:nvPr/>
        </p:nvSpPr>
        <p:spPr>
          <a:xfrm>
            <a:off x="457200" y="2788920"/>
            <a:ext cx="192024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34" name="Shape 28"/>
          <p:cNvSpPr/>
          <p:nvPr/>
        </p:nvSpPr>
        <p:spPr>
          <a:xfrm>
            <a:off x="594360" y="2926080"/>
            <a:ext cx="457200" cy="457200"/>
          </a:xfrm>
          <a:prstGeom prst="ellipse">
            <a:avLst/>
          </a:prstGeom>
          <a:solidFill>
            <a:srgbClr val="13478F"/>
          </a:solidFill>
          <a:ln/>
        </p:spPr>
      </p:sp>
      <p:pic>
        <p:nvPicPr>
          <p:cNvPr id="35" name="Image 4" descr="preencoded.png">    </p:cNvPr>
          <p:cNvPicPr>
            <a:picLocks noChangeAspect="1"/>
          </p:cNvPicPr>
          <p:nvPr/>
        </p:nvPicPr>
        <p:blipFill>
          <a:blip r:embed="rId5"/>
          <a:stretch>
            <a:fillRect/>
          </a:stretch>
        </p:blipFill>
        <p:spPr>
          <a:xfrm>
            <a:off x="704088" y="3035808"/>
            <a:ext cx="237744" cy="237744"/>
          </a:xfrm>
          <a:prstGeom prst="rect">
            <a:avLst/>
          </a:prstGeom>
        </p:spPr>
      </p:pic>
      <p:sp>
        <p:nvSpPr>
          <p:cNvPr id="36" name="Shape 29"/>
          <p:cNvSpPr/>
          <p:nvPr/>
        </p:nvSpPr>
        <p:spPr>
          <a:xfrm>
            <a:off x="1965960" y="2898648"/>
            <a:ext cx="292608" cy="292608"/>
          </a:xfrm>
          <a:prstGeom prst="ellipse">
            <a:avLst/>
          </a:prstGeom>
          <a:solidFill>
            <a:srgbClr val="0B2545"/>
          </a:solidFill>
          <a:ln/>
        </p:spPr>
      </p:sp>
      <p:sp>
        <p:nvSpPr>
          <p:cNvPr id="37" name="Text 30"/>
          <p:cNvSpPr txBox="1"/>
          <p:nvPr/>
        </p:nvSpPr>
        <p:spPr>
          <a:xfrm>
            <a:off x="1965960" y="28986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Text 31"/>
          <p:cNvSpPr txBox="1"/>
          <p:nvPr/>
        </p:nvSpPr>
        <p:spPr>
          <a:xfrm>
            <a:off x="594360" y="3447288"/>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Complaint Management</a:t>
            </a:r>
            <a:endParaRPr lang="en-US" sz="1150" dirty="0"/>
          </a:p>
        </p:txBody>
      </p:sp>
      <p:sp>
        <p:nvSpPr>
          <p:cNvPr id="39" name="Text 32"/>
          <p:cNvSpPr txBox="1"/>
          <p:nvPr/>
        </p:nvSpPr>
        <p:spPr>
          <a:xfrm>
            <a:off x="594360" y="3813048"/>
            <a:ext cx="1691640" cy="41148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Register complaints and update their status.</a:t>
            </a:r>
            <a:endParaRPr lang="en-US" sz="1050" dirty="0"/>
          </a:p>
        </p:txBody>
      </p:sp>
      <p:sp>
        <p:nvSpPr>
          <p:cNvPr id="40" name="Shape 33"/>
          <p:cNvSpPr/>
          <p:nvPr/>
        </p:nvSpPr>
        <p:spPr>
          <a:xfrm>
            <a:off x="2560320" y="2788920"/>
            <a:ext cx="192024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41" name="Shape 34"/>
          <p:cNvSpPr/>
          <p:nvPr/>
        </p:nvSpPr>
        <p:spPr>
          <a:xfrm>
            <a:off x="2697480" y="2926080"/>
            <a:ext cx="457200" cy="457200"/>
          </a:xfrm>
          <a:prstGeom prst="ellipse">
            <a:avLst/>
          </a:prstGeom>
          <a:solidFill>
            <a:srgbClr val="13478F"/>
          </a:solidFill>
          <a:ln/>
        </p:spPr>
      </p:sp>
      <p:pic>
        <p:nvPicPr>
          <p:cNvPr id="42" name="Image 5" descr="preencoded.png">    </p:cNvPr>
          <p:cNvPicPr>
            <a:picLocks noChangeAspect="1"/>
          </p:cNvPicPr>
          <p:nvPr/>
        </p:nvPicPr>
        <p:blipFill>
          <a:blip r:embed="rId6"/>
          <a:stretch>
            <a:fillRect/>
          </a:stretch>
        </p:blipFill>
        <p:spPr>
          <a:xfrm>
            <a:off x="2807208" y="3035808"/>
            <a:ext cx="237744" cy="237744"/>
          </a:xfrm>
          <a:prstGeom prst="rect">
            <a:avLst/>
          </a:prstGeom>
        </p:spPr>
      </p:pic>
      <p:sp>
        <p:nvSpPr>
          <p:cNvPr id="43" name="Shape 35"/>
          <p:cNvSpPr/>
          <p:nvPr/>
        </p:nvSpPr>
        <p:spPr>
          <a:xfrm>
            <a:off x="4069080" y="2898648"/>
            <a:ext cx="292608" cy="292608"/>
          </a:xfrm>
          <a:prstGeom prst="ellipse">
            <a:avLst/>
          </a:prstGeom>
          <a:solidFill>
            <a:srgbClr val="0B2545"/>
          </a:solidFill>
          <a:ln/>
        </p:spPr>
      </p:sp>
      <p:sp>
        <p:nvSpPr>
          <p:cNvPr id="44" name="Text 36"/>
          <p:cNvSpPr txBox="1"/>
          <p:nvPr/>
        </p:nvSpPr>
        <p:spPr>
          <a:xfrm>
            <a:off x="4069080" y="28986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5" name="Text 37"/>
          <p:cNvSpPr txBox="1"/>
          <p:nvPr/>
        </p:nvSpPr>
        <p:spPr>
          <a:xfrm>
            <a:off x="2697480" y="3447288"/>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Authentication / Authorization</a:t>
            </a:r>
            <a:endParaRPr lang="en-US" sz="1150" dirty="0"/>
          </a:p>
        </p:txBody>
      </p:sp>
      <p:sp>
        <p:nvSpPr>
          <p:cNvPr id="46" name="Text 38"/>
          <p:cNvSpPr txBox="1"/>
          <p:nvPr/>
        </p:nvSpPr>
        <p:spPr>
          <a:xfrm>
            <a:off x="2697480" y="3813048"/>
            <a:ext cx="1691640" cy="41148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Login and role-based access to modules.</a:t>
            </a:r>
            <a:endParaRPr lang="en-US" sz="1050" dirty="0"/>
          </a:p>
        </p:txBody>
      </p:sp>
      <p:sp>
        <p:nvSpPr>
          <p:cNvPr id="47" name="Shape 39"/>
          <p:cNvSpPr/>
          <p:nvPr/>
        </p:nvSpPr>
        <p:spPr>
          <a:xfrm>
            <a:off x="4663440" y="2788920"/>
            <a:ext cx="192024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48" name="Shape 40"/>
          <p:cNvSpPr/>
          <p:nvPr/>
        </p:nvSpPr>
        <p:spPr>
          <a:xfrm>
            <a:off x="4800600" y="2926080"/>
            <a:ext cx="457200" cy="457200"/>
          </a:xfrm>
          <a:prstGeom prst="ellipse">
            <a:avLst/>
          </a:prstGeom>
          <a:solidFill>
            <a:srgbClr val="13478F"/>
          </a:solidFill>
          <a:ln/>
        </p:spPr>
      </p:sp>
      <p:pic>
        <p:nvPicPr>
          <p:cNvPr id="49" name="Image 6" descr="preencoded.png">    </p:cNvPr>
          <p:cNvPicPr>
            <a:picLocks noChangeAspect="1"/>
          </p:cNvPicPr>
          <p:nvPr/>
        </p:nvPicPr>
        <p:blipFill>
          <a:blip r:embed="rId7"/>
          <a:stretch>
            <a:fillRect/>
          </a:stretch>
        </p:blipFill>
        <p:spPr>
          <a:xfrm>
            <a:off x="4910328" y="3035808"/>
            <a:ext cx="237744" cy="237744"/>
          </a:xfrm>
          <a:prstGeom prst="rect">
            <a:avLst/>
          </a:prstGeom>
        </p:spPr>
      </p:pic>
      <p:sp>
        <p:nvSpPr>
          <p:cNvPr id="50" name="Shape 41"/>
          <p:cNvSpPr/>
          <p:nvPr/>
        </p:nvSpPr>
        <p:spPr>
          <a:xfrm>
            <a:off x="6172200" y="2898648"/>
            <a:ext cx="292608" cy="292608"/>
          </a:xfrm>
          <a:prstGeom prst="ellipse">
            <a:avLst/>
          </a:prstGeom>
          <a:solidFill>
            <a:srgbClr val="0B2545"/>
          </a:solidFill>
          <a:ln/>
        </p:spPr>
      </p:sp>
      <p:sp>
        <p:nvSpPr>
          <p:cNvPr id="51" name="Text 42"/>
          <p:cNvSpPr txBox="1"/>
          <p:nvPr/>
        </p:nvSpPr>
        <p:spPr>
          <a:xfrm>
            <a:off x="6172200" y="28986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2" name="Text 43"/>
          <p:cNvSpPr txBox="1"/>
          <p:nvPr/>
        </p:nvSpPr>
        <p:spPr>
          <a:xfrm>
            <a:off x="4800600" y="3447288"/>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Admin Dashboard</a:t>
            </a:r>
            <a:endParaRPr lang="en-US" sz="1150" dirty="0"/>
          </a:p>
        </p:txBody>
      </p:sp>
      <p:sp>
        <p:nvSpPr>
          <p:cNvPr id="53" name="Text 44"/>
          <p:cNvSpPr txBox="1"/>
          <p:nvPr/>
        </p:nvSpPr>
        <p:spPr>
          <a:xfrm>
            <a:off x="4800600" y="3813048"/>
            <a:ext cx="1691640" cy="41148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Central place to reach and manage all modules.</a:t>
            </a:r>
            <a:endParaRPr lang="en-US" sz="1050" dirty="0"/>
          </a:p>
        </p:txBody>
      </p:sp>
      <p:sp>
        <p:nvSpPr>
          <p:cNvPr id="54" name="Shape 45"/>
          <p:cNvSpPr/>
          <p:nvPr/>
        </p:nvSpPr>
        <p:spPr>
          <a:xfrm>
            <a:off x="6766560" y="2788920"/>
            <a:ext cx="192024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55" name="Shape 46"/>
          <p:cNvSpPr/>
          <p:nvPr/>
        </p:nvSpPr>
        <p:spPr>
          <a:xfrm>
            <a:off x="6903720" y="2926080"/>
            <a:ext cx="457200" cy="457200"/>
          </a:xfrm>
          <a:prstGeom prst="ellipse">
            <a:avLst/>
          </a:prstGeom>
          <a:solidFill>
            <a:srgbClr val="13478F"/>
          </a:solidFill>
          <a:ln/>
        </p:spPr>
      </p:sp>
      <p:pic>
        <p:nvPicPr>
          <p:cNvPr id="56" name="Image 7" descr="preencoded.png">    </p:cNvPr>
          <p:cNvPicPr>
            <a:picLocks noChangeAspect="1"/>
          </p:cNvPicPr>
          <p:nvPr/>
        </p:nvPicPr>
        <p:blipFill>
          <a:blip r:embed="rId8"/>
          <a:stretch>
            <a:fillRect/>
          </a:stretch>
        </p:blipFill>
        <p:spPr>
          <a:xfrm>
            <a:off x="7013448" y="3035808"/>
            <a:ext cx="237744" cy="237744"/>
          </a:xfrm>
          <a:prstGeom prst="rect">
            <a:avLst/>
          </a:prstGeom>
        </p:spPr>
      </p:pic>
      <p:sp>
        <p:nvSpPr>
          <p:cNvPr id="57" name="Shape 47"/>
          <p:cNvSpPr/>
          <p:nvPr/>
        </p:nvSpPr>
        <p:spPr>
          <a:xfrm>
            <a:off x="8275320" y="2898648"/>
            <a:ext cx="292608" cy="292608"/>
          </a:xfrm>
          <a:prstGeom prst="ellipse">
            <a:avLst/>
          </a:prstGeom>
          <a:solidFill>
            <a:srgbClr val="0B2545"/>
          </a:solidFill>
          <a:ln/>
        </p:spPr>
      </p:sp>
      <p:sp>
        <p:nvSpPr>
          <p:cNvPr id="58" name="Text 48"/>
          <p:cNvSpPr txBox="1"/>
          <p:nvPr/>
        </p:nvSpPr>
        <p:spPr>
          <a:xfrm>
            <a:off x="8275320" y="28986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49"/>
          <p:cNvSpPr txBox="1"/>
          <p:nvPr/>
        </p:nvSpPr>
        <p:spPr>
          <a:xfrm>
            <a:off x="6903720" y="3447288"/>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Reports</a:t>
            </a:r>
            <a:endParaRPr lang="en-US" sz="1150" dirty="0"/>
          </a:p>
        </p:txBody>
      </p:sp>
      <p:sp>
        <p:nvSpPr>
          <p:cNvPr id="60" name="Text 50"/>
          <p:cNvSpPr txBox="1"/>
          <p:nvPr/>
        </p:nvSpPr>
        <p:spPr>
          <a:xfrm>
            <a:off x="6903720" y="3813048"/>
            <a:ext cx="1691640" cy="41148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Summaries of students, rooms, fees and complaints.</a:t>
            </a:r>
            <a:endParaRPr lang="en-US" sz="1050" dirty="0"/>
          </a:p>
        </p:txBody>
      </p:sp>
      <p:sp>
        <p:nvSpPr>
          <p:cNvPr id="61" name="Text 51"/>
          <p:cNvSpPr txBox="1"/>
          <p:nvPr/>
        </p:nvSpPr>
        <p:spPr>
          <a:xfrm>
            <a:off x="457200" y="4434840"/>
            <a:ext cx="8229600" cy="256032"/>
          </a:xfrm>
          <a:prstGeom prst="rect">
            <a:avLst/>
          </a:prstGeom>
          <a:noFill/>
          <a:ln/>
        </p:spPr>
        <p:txBody>
          <a:bodyPr wrap="square" lIns="0" tIns="0" rIns="0" bIns="0" rtlCol="0" anchor="t"/>
          <a:lstStyle/>
          <a:p>
            <a:pPr algn="ctr" indent="0" marL="0">
              <a:buNone/>
            </a:pPr>
            <a:r>
              <a:rPr lang="en-US" sz="1100" i="1" dirty="0">
                <a:solidFill>
                  <a:srgbClr val="6B7280"/>
                </a:solidFill>
                <a:latin typeface="Calibri" pitchFamily="34" charset="0"/>
                <a:ea typeface="Calibri" pitchFamily="34" charset="-122"/>
                <a:cs typeface="Calibri" pitchFamily="34" charset="-120"/>
              </a:rPr>
              <a:t>All modules share one MySQL database through the Express REST API.</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455664" y="219456"/>
            <a:ext cx="2231136" cy="274320"/>
          </a:xfrm>
          <a:prstGeom prst="roundRect">
            <a:avLst>
              <a:gd name="adj" fmla="val 50000"/>
            </a:avLst>
          </a:prstGeom>
          <a:solidFill>
            <a:srgbClr val="13478F"/>
          </a:solidFill>
          <a:ln/>
        </p:spPr>
      </p:sp>
      <p:sp>
        <p:nvSpPr>
          <p:cNvPr id="3" name="Text 1"/>
          <p:cNvSpPr txBox="1"/>
          <p:nvPr/>
        </p:nvSpPr>
        <p:spPr>
          <a:xfrm>
            <a:off x="6455664" y="219456"/>
            <a:ext cx="223113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DATASET / INPUT DETAILS</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Dataset / Input Details</a:t>
            </a:r>
            <a:endParaRPr lang="en-US" sz="2600" dirty="0"/>
          </a:p>
        </p:txBody>
      </p:sp>
      <p:sp>
        <p:nvSpPr>
          <p:cNvPr id="5" name="Shape 3"/>
          <p:cNvSpPr/>
          <p:nvPr/>
        </p:nvSpPr>
        <p:spPr>
          <a:xfrm>
            <a:off x="457200" y="1280160"/>
            <a:ext cx="1572768" cy="365760"/>
          </a:xfrm>
          <a:prstGeom prst="roundRect">
            <a:avLst>
              <a:gd name="adj" fmla="val 15000"/>
            </a:avLst>
          </a:prstGeom>
          <a:solidFill>
            <a:srgbClr val="0B2545"/>
          </a:solidFill>
          <a:ln/>
        </p:spPr>
      </p:sp>
      <p:sp>
        <p:nvSpPr>
          <p:cNvPr id="6" name="Text 4"/>
          <p:cNvSpPr txBox="1"/>
          <p:nvPr/>
        </p:nvSpPr>
        <p:spPr>
          <a:xfrm>
            <a:off x="457200" y="1280160"/>
            <a:ext cx="157276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STUDENTS</a:t>
            </a:r>
            <a:endParaRPr lang="en-US" sz="1100" dirty="0"/>
          </a:p>
        </p:txBody>
      </p:sp>
      <p:sp>
        <p:nvSpPr>
          <p:cNvPr id="7" name="Shape 5"/>
          <p:cNvSpPr/>
          <p:nvPr/>
        </p:nvSpPr>
        <p:spPr>
          <a:xfrm>
            <a:off x="457200" y="1682496"/>
            <a:ext cx="1572768" cy="256032"/>
          </a:xfrm>
          <a:prstGeom prst="rect">
            <a:avLst/>
          </a:prstGeom>
          <a:solidFill>
            <a:srgbClr val="F2F4F8"/>
          </a:solidFill>
          <a:ln w="6350">
            <a:solidFill>
              <a:srgbClr val="D8DEE9"/>
            </a:solidFill>
            <a:prstDash val="solid"/>
          </a:ln>
        </p:spPr>
      </p:sp>
      <p:sp>
        <p:nvSpPr>
          <p:cNvPr id="8" name="Text 6"/>
          <p:cNvSpPr txBox="1"/>
          <p:nvPr/>
        </p:nvSpPr>
        <p:spPr>
          <a:xfrm>
            <a:off x="530352" y="1682496"/>
            <a:ext cx="1097280" cy="256032"/>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student_id</a:t>
            </a:r>
            <a:endParaRPr lang="en-US" sz="1000" dirty="0"/>
          </a:p>
        </p:txBody>
      </p:sp>
      <p:sp>
        <p:nvSpPr>
          <p:cNvPr id="9" name="Shape 7"/>
          <p:cNvSpPr/>
          <p:nvPr/>
        </p:nvSpPr>
        <p:spPr>
          <a:xfrm>
            <a:off x="1645920" y="1719072"/>
            <a:ext cx="320040" cy="182880"/>
          </a:xfrm>
          <a:prstGeom prst="roundRect">
            <a:avLst>
              <a:gd name="adj" fmla="val 50000"/>
            </a:avLst>
          </a:prstGeom>
          <a:solidFill>
            <a:srgbClr val="13478F"/>
          </a:solidFill>
          <a:ln/>
        </p:spPr>
      </p:sp>
      <p:sp>
        <p:nvSpPr>
          <p:cNvPr id="10" name="Text 8"/>
          <p:cNvSpPr txBox="1"/>
          <p:nvPr/>
        </p:nvSpPr>
        <p:spPr>
          <a:xfrm>
            <a:off x="1645920" y="1719072"/>
            <a:ext cx="32004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11" name="Shape 9"/>
          <p:cNvSpPr/>
          <p:nvPr/>
        </p:nvSpPr>
        <p:spPr>
          <a:xfrm>
            <a:off x="457200" y="1956816"/>
            <a:ext cx="1572768" cy="256032"/>
          </a:xfrm>
          <a:prstGeom prst="rect">
            <a:avLst/>
          </a:prstGeom>
          <a:solidFill>
            <a:srgbClr val="FFFFFF"/>
          </a:solidFill>
          <a:ln w="6350">
            <a:solidFill>
              <a:srgbClr val="D8DEE9"/>
            </a:solidFill>
            <a:prstDash val="solid"/>
          </a:ln>
        </p:spPr>
      </p:sp>
      <p:sp>
        <p:nvSpPr>
          <p:cNvPr id="12" name="Text 10"/>
          <p:cNvSpPr txBox="1"/>
          <p:nvPr/>
        </p:nvSpPr>
        <p:spPr>
          <a:xfrm>
            <a:off x="530352" y="195681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name</a:t>
            </a:r>
            <a:endParaRPr lang="en-US" sz="1000" dirty="0"/>
          </a:p>
        </p:txBody>
      </p:sp>
      <p:sp>
        <p:nvSpPr>
          <p:cNvPr id="13" name="Shape 11"/>
          <p:cNvSpPr/>
          <p:nvPr/>
        </p:nvSpPr>
        <p:spPr>
          <a:xfrm>
            <a:off x="457200" y="2231136"/>
            <a:ext cx="1572768" cy="256032"/>
          </a:xfrm>
          <a:prstGeom prst="rect">
            <a:avLst/>
          </a:prstGeom>
          <a:solidFill>
            <a:srgbClr val="F2F4F8"/>
          </a:solidFill>
          <a:ln w="6350">
            <a:solidFill>
              <a:srgbClr val="D8DEE9"/>
            </a:solidFill>
            <a:prstDash val="solid"/>
          </a:ln>
        </p:spPr>
      </p:sp>
      <p:sp>
        <p:nvSpPr>
          <p:cNvPr id="14" name="Text 12"/>
          <p:cNvSpPr txBox="1"/>
          <p:nvPr/>
        </p:nvSpPr>
        <p:spPr>
          <a:xfrm>
            <a:off x="530352" y="223113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email</a:t>
            </a:r>
            <a:endParaRPr lang="en-US" sz="1000" dirty="0"/>
          </a:p>
        </p:txBody>
      </p:sp>
      <p:sp>
        <p:nvSpPr>
          <p:cNvPr id="15" name="Shape 13"/>
          <p:cNvSpPr/>
          <p:nvPr/>
        </p:nvSpPr>
        <p:spPr>
          <a:xfrm>
            <a:off x="457200" y="2505456"/>
            <a:ext cx="1572768" cy="256032"/>
          </a:xfrm>
          <a:prstGeom prst="rect">
            <a:avLst/>
          </a:prstGeom>
          <a:solidFill>
            <a:srgbClr val="FFFFFF"/>
          </a:solidFill>
          <a:ln w="6350">
            <a:solidFill>
              <a:srgbClr val="D8DEE9"/>
            </a:solidFill>
            <a:prstDash val="solid"/>
          </a:ln>
        </p:spPr>
      </p:sp>
      <p:sp>
        <p:nvSpPr>
          <p:cNvPr id="16" name="Text 14"/>
          <p:cNvSpPr txBox="1"/>
          <p:nvPr/>
        </p:nvSpPr>
        <p:spPr>
          <a:xfrm>
            <a:off x="530352" y="250545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phone</a:t>
            </a:r>
            <a:endParaRPr lang="en-US" sz="1000" dirty="0"/>
          </a:p>
        </p:txBody>
      </p:sp>
      <p:sp>
        <p:nvSpPr>
          <p:cNvPr id="17" name="Shape 15"/>
          <p:cNvSpPr/>
          <p:nvPr/>
        </p:nvSpPr>
        <p:spPr>
          <a:xfrm>
            <a:off x="457200" y="2779776"/>
            <a:ext cx="1572768" cy="256032"/>
          </a:xfrm>
          <a:prstGeom prst="rect">
            <a:avLst/>
          </a:prstGeom>
          <a:solidFill>
            <a:srgbClr val="F2F4F8"/>
          </a:solidFill>
          <a:ln w="6350">
            <a:solidFill>
              <a:srgbClr val="D8DEE9"/>
            </a:solidFill>
            <a:prstDash val="solid"/>
          </a:ln>
        </p:spPr>
      </p:sp>
      <p:sp>
        <p:nvSpPr>
          <p:cNvPr id="18" name="Text 16"/>
          <p:cNvSpPr txBox="1"/>
          <p:nvPr/>
        </p:nvSpPr>
        <p:spPr>
          <a:xfrm>
            <a:off x="530352" y="277977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gender</a:t>
            </a:r>
            <a:endParaRPr lang="en-US" sz="1000" dirty="0"/>
          </a:p>
        </p:txBody>
      </p:sp>
      <p:sp>
        <p:nvSpPr>
          <p:cNvPr id="19" name="Shape 17"/>
          <p:cNvSpPr/>
          <p:nvPr/>
        </p:nvSpPr>
        <p:spPr>
          <a:xfrm>
            <a:off x="457200" y="3054096"/>
            <a:ext cx="1572768" cy="256032"/>
          </a:xfrm>
          <a:prstGeom prst="rect">
            <a:avLst/>
          </a:prstGeom>
          <a:solidFill>
            <a:srgbClr val="FFFFFF"/>
          </a:solidFill>
          <a:ln w="6350">
            <a:solidFill>
              <a:srgbClr val="D8DEE9"/>
            </a:solidFill>
            <a:prstDash val="solid"/>
          </a:ln>
        </p:spPr>
      </p:sp>
      <p:sp>
        <p:nvSpPr>
          <p:cNvPr id="20" name="Text 18"/>
          <p:cNvSpPr txBox="1"/>
          <p:nvPr/>
        </p:nvSpPr>
        <p:spPr>
          <a:xfrm>
            <a:off x="530352" y="305409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course</a:t>
            </a:r>
            <a:endParaRPr lang="en-US" sz="1000" dirty="0"/>
          </a:p>
        </p:txBody>
      </p:sp>
      <p:sp>
        <p:nvSpPr>
          <p:cNvPr id="21" name="Shape 19"/>
          <p:cNvSpPr/>
          <p:nvPr/>
        </p:nvSpPr>
        <p:spPr>
          <a:xfrm>
            <a:off x="457200" y="3328416"/>
            <a:ext cx="1572768" cy="256032"/>
          </a:xfrm>
          <a:prstGeom prst="rect">
            <a:avLst/>
          </a:prstGeom>
          <a:solidFill>
            <a:srgbClr val="F2F4F8"/>
          </a:solidFill>
          <a:ln w="6350">
            <a:solidFill>
              <a:srgbClr val="D8DEE9"/>
            </a:solidFill>
            <a:prstDash val="solid"/>
          </a:ln>
        </p:spPr>
      </p:sp>
      <p:sp>
        <p:nvSpPr>
          <p:cNvPr id="22" name="Text 20"/>
          <p:cNvSpPr txBox="1"/>
          <p:nvPr/>
        </p:nvSpPr>
        <p:spPr>
          <a:xfrm>
            <a:off x="530352" y="332841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year</a:t>
            </a:r>
            <a:endParaRPr lang="en-US" sz="1000" dirty="0"/>
          </a:p>
        </p:txBody>
      </p:sp>
      <p:sp>
        <p:nvSpPr>
          <p:cNvPr id="23" name="Shape 21"/>
          <p:cNvSpPr/>
          <p:nvPr/>
        </p:nvSpPr>
        <p:spPr>
          <a:xfrm>
            <a:off x="2121408" y="1280160"/>
            <a:ext cx="1572768" cy="365760"/>
          </a:xfrm>
          <a:prstGeom prst="roundRect">
            <a:avLst>
              <a:gd name="adj" fmla="val 15000"/>
            </a:avLst>
          </a:prstGeom>
          <a:solidFill>
            <a:srgbClr val="0B2545"/>
          </a:solidFill>
          <a:ln/>
        </p:spPr>
      </p:sp>
      <p:sp>
        <p:nvSpPr>
          <p:cNvPr id="24" name="Text 22"/>
          <p:cNvSpPr txBox="1"/>
          <p:nvPr/>
        </p:nvSpPr>
        <p:spPr>
          <a:xfrm>
            <a:off x="2121408" y="1280160"/>
            <a:ext cx="157276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ROOMS</a:t>
            </a:r>
            <a:endParaRPr lang="en-US" sz="1100" dirty="0"/>
          </a:p>
        </p:txBody>
      </p:sp>
      <p:sp>
        <p:nvSpPr>
          <p:cNvPr id="25" name="Shape 23"/>
          <p:cNvSpPr/>
          <p:nvPr/>
        </p:nvSpPr>
        <p:spPr>
          <a:xfrm>
            <a:off x="2121408" y="1682496"/>
            <a:ext cx="1572768" cy="256032"/>
          </a:xfrm>
          <a:prstGeom prst="rect">
            <a:avLst/>
          </a:prstGeom>
          <a:solidFill>
            <a:srgbClr val="F2F4F8"/>
          </a:solidFill>
          <a:ln w="6350">
            <a:solidFill>
              <a:srgbClr val="D8DEE9"/>
            </a:solidFill>
            <a:prstDash val="solid"/>
          </a:ln>
        </p:spPr>
      </p:sp>
      <p:sp>
        <p:nvSpPr>
          <p:cNvPr id="26" name="Text 24"/>
          <p:cNvSpPr txBox="1"/>
          <p:nvPr/>
        </p:nvSpPr>
        <p:spPr>
          <a:xfrm>
            <a:off x="2194560" y="1682496"/>
            <a:ext cx="1097280" cy="256032"/>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room_id</a:t>
            </a:r>
            <a:endParaRPr lang="en-US" sz="1000" dirty="0"/>
          </a:p>
        </p:txBody>
      </p:sp>
      <p:sp>
        <p:nvSpPr>
          <p:cNvPr id="27" name="Shape 25"/>
          <p:cNvSpPr/>
          <p:nvPr/>
        </p:nvSpPr>
        <p:spPr>
          <a:xfrm>
            <a:off x="3310128" y="1719072"/>
            <a:ext cx="320040" cy="182880"/>
          </a:xfrm>
          <a:prstGeom prst="roundRect">
            <a:avLst>
              <a:gd name="adj" fmla="val 50000"/>
            </a:avLst>
          </a:prstGeom>
          <a:solidFill>
            <a:srgbClr val="13478F"/>
          </a:solidFill>
          <a:ln/>
        </p:spPr>
      </p:sp>
      <p:sp>
        <p:nvSpPr>
          <p:cNvPr id="28" name="Text 26"/>
          <p:cNvSpPr txBox="1"/>
          <p:nvPr/>
        </p:nvSpPr>
        <p:spPr>
          <a:xfrm>
            <a:off x="3310128" y="1719072"/>
            <a:ext cx="32004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29" name="Shape 27"/>
          <p:cNvSpPr/>
          <p:nvPr/>
        </p:nvSpPr>
        <p:spPr>
          <a:xfrm>
            <a:off x="2121408" y="1956816"/>
            <a:ext cx="1572768" cy="256032"/>
          </a:xfrm>
          <a:prstGeom prst="rect">
            <a:avLst/>
          </a:prstGeom>
          <a:solidFill>
            <a:srgbClr val="FFFFFF"/>
          </a:solidFill>
          <a:ln w="6350">
            <a:solidFill>
              <a:srgbClr val="D8DEE9"/>
            </a:solidFill>
            <a:prstDash val="solid"/>
          </a:ln>
        </p:spPr>
      </p:sp>
      <p:sp>
        <p:nvSpPr>
          <p:cNvPr id="30" name="Text 28"/>
          <p:cNvSpPr txBox="1"/>
          <p:nvPr/>
        </p:nvSpPr>
        <p:spPr>
          <a:xfrm>
            <a:off x="2194560" y="195681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room_number</a:t>
            </a:r>
            <a:endParaRPr lang="en-US" sz="1000" dirty="0"/>
          </a:p>
        </p:txBody>
      </p:sp>
      <p:sp>
        <p:nvSpPr>
          <p:cNvPr id="31" name="Shape 29"/>
          <p:cNvSpPr/>
          <p:nvPr/>
        </p:nvSpPr>
        <p:spPr>
          <a:xfrm>
            <a:off x="2121408" y="2231136"/>
            <a:ext cx="1572768" cy="256032"/>
          </a:xfrm>
          <a:prstGeom prst="rect">
            <a:avLst/>
          </a:prstGeom>
          <a:solidFill>
            <a:srgbClr val="F2F4F8"/>
          </a:solidFill>
          <a:ln w="6350">
            <a:solidFill>
              <a:srgbClr val="D8DEE9"/>
            </a:solidFill>
            <a:prstDash val="solid"/>
          </a:ln>
        </p:spPr>
      </p:sp>
      <p:sp>
        <p:nvSpPr>
          <p:cNvPr id="32" name="Text 30"/>
          <p:cNvSpPr txBox="1"/>
          <p:nvPr/>
        </p:nvSpPr>
        <p:spPr>
          <a:xfrm>
            <a:off x="2194560" y="223113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block</a:t>
            </a:r>
            <a:endParaRPr lang="en-US" sz="1000" dirty="0"/>
          </a:p>
        </p:txBody>
      </p:sp>
      <p:sp>
        <p:nvSpPr>
          <p:cNvPr id="33" name="Shape 31"/>
          <p:cNvSpPr/>
          <p:nvPr/>
        </p:nvSpPr>
        <p:spPr>
          <a:xfrm>
            <a:off x="2121408" y="2505456"/>
            <a:ext cx="1572768" cy="256032"/>
          </a:xfrm>
          <a:prstGeom prst="rect">
            <a:avLst/>
          </a:prstGeom>
          <a:solidFill>
            <a:srgbClr val="FFFFFF"/>
          </a:solidFill>
          <a:ln w="6350">
            <a:solidFill>
              <a:srgbClr val="D8DEE9"/>
            </a:solidFill>
            <a:prstDash val="solid"/>
          </a:ln>
        </p:spPr>
      </p:sp>
      <p:sp>
        <p:nvSpPr>
          <p:cNvPr id="34" name="Text 32"/>
          <p:cNvSpPr txBox="1"/>
          <p:nvPr/>
        </p:nvSpPr>
        <p:spPr>
          <a:xfrm>
            <a:off x="2194560" y="250545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floor</a:t>
            </a:r>
            <a:endParaRPr lang="en-US" sz="1000" dirty="0"/>
          </a:p>
        </p:txBody>
      </p:sp>
      <p:sp>
        <p:nvSpPr>
          <p:cNvPr id="35" name="Shape 33"/>
          <p:cNvSpPr/>
          <p:nvPr/>
        </p:nvSpPr>
        <p:spPr>
          <a:xfrm>
            <a:off x="2121408" y="2779776"/>
            <a:ext cx="1572768" cy="256032"/>
          </a:xfrm>
          <a:prstGeom prst="rect">
            <a:avLst/>
          </a:prstGeom>
          <a:solidFill>
            <a:srgbClr val="F2F4F8"/>
          </a:solidFill>
          <a:ln w="6350">
            <a:solidFill>
              <a:srgbClr val="D8DEE9"/>
            </a:solidFill>
            <a:prstDash val="solid"/>
          </a:ln>
        </p:spPr>
      </p:sp>
      <p:sp>
        <p:nvSpPr>
          <p:cNvPr id="36" name="Text 34"/>
          <p:cNvSpPr txBox="1"/>
          <p:nvPr/>
        </p:nvSpPr>
        <p:spPr>
          <a:xfrm>
            <a:off x="2194560" y="277977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capacity</a:t>
            </a:r>
            <a:endParaRPr lang="en-US" sz="1000" dirty="0"/>
          </a:p>
        </p:txBody>
      </p:sp>
      <p:sp>
        <p:nvSpPr>
          <p:cNvPr id="37" name="Shape 35"/>
          <p:cNvSpPr/>
          <p:nvPr/>
        </p:nvSpPr>
        <p:spPr>
          <a:xfrm>
            <a:off x="2121408" y="3054096"/>
            <a:ext cx="1572768" cy="256032"/>
          </a:xfrm>
          <a:prstGeom prst="rect">
            <a:avLst/>
          </a:prstGeom>
          <a:solidFill>
            <a:srgbClr val="FFFFFF"/>
          </a:solidFill>
          <a:ln w="6350">
            <a:solidFill>
              <a:srgbClr val="D8DEE9"/>
            </a:solidFill>
            <a:prstDash val="solid"/>
          </a:ln>
        </p:spPr>
      </p:sp>
      <p:sp>
        <p:nvSpPr>
          <p:cNvPr id="38" name="Text 36"/>
          <p:cNvSpPr txBox="1"/>
          <p:nvPr/>
        </p:nvSpPr>
        <p:spPr>
          <a:xfrm>
            <a:off x="2194560" y="305409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occupied_count</a:t>
            </a:r>
            <a:endParaRPr lang="en-US" sz="1000" dirty="0"/>
          </a:p>
        </p:txBody>
      </p:sp>
      <p:sp>
        <p:nvSpPr>
          <p:cNvPr id="39" name="Shape 37"/>
          <p:cNvSpPr/>
          <p:nvPr/>
        </p:nvSpPr>
        <p:spPr>
          <a:xfrm>
            <a:off x="2121408" y="3328416"/>
            <a:ext cx="1572768" cy="256032"/>
          </a:xfrm>
          <a:prstGeom prst="rect">
            <a:avLst/>
          </a:prstGeom>
          <a:solidFill>
            <a:srgbClr val="F2F4F8"/>
          </a:solidFill>
          <a:ln w="6350">
            <a:solidFill>
              <a:srgbClr val="D8DEE9"/>
            </a:solidFill>
            <a:prstDash val="solid"/>
          </a:ln>
        </p:spPr>
      </p:sp>
      <p:sp>
        <p:nvSpPr>
          <p:cNvPr id="40" name="Text 38"/>
          <p:cNvSpPr txBox="1"/>
          <p:nvPr/>
        </p:nvSpPr>
        <p:spPr>
          <a:xfrm>
            <a:off x="2194560" y="332841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status</a:t>
            </a:r>
            <a:endParaRPr lang="en-US" sz="1000" dirty="0"/>
          </a:p>
        </p:txBody>
      </p:sp>
      <p:sp>
        <p:nvSpPr>
          <p:cNvPr id="41" name="Shape 39"/>
          <p:cNvSpPr/>
          <p:nvPr/>
        </p:nvSpPr>
        <p:spPr>
          <a:xfrm>
            <a:off x="3785616" y="1280160"/>
            <a:ext cx="1572768" cy="365760"/>
          </a:xfrm>
          <a:prstGeom prst="roundRect">
            <a:avLst>
              <a:gd name="adj" fmla="val 15000"/>
            </a:avLst>
          </a:prstGeom>
          <a:solidFill>
            <a:srgbClr val="0B2545"/>
          </a:solidFill>
          <a:ln/>
        </p:spPr>
      </p:sp>
      <p:sp>
        <p:nvSpPr>
          <p:cNvPr id="42" name="Text 40"/>
          <p:cNvSpPr txBox="1"/>
          <p:nvPr/>
        </p:nvSpPr>
        <p:spPr>
          <a:xfrm>
            <a:off x="3785616" y="1280160"/>
            <a:ext cx="157276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ALLOCATIONS</a:t>
            </a:r>
            <a:endParaRPr lang="en-US" sz="1100" dirty="0"/>
          </a:p>
        </p:txBody>
      </p:sp>
      <p:sp>
        <p:nvSpPr>
          <p:cNvPr id="43" name="Shape 41"/>
          <p:cNvSpPr/>
          <p:nvPr/>
        </p:nvSpPr>
        <p:spPr>
          <a:xfrm>
            <a:off x="3785616" y="1682496"/>
            <a:ext cx="1572768" cy="256032"/>
          </a:xfrm>
          <a:prstGeom prst="rect">
            <a:avLst/>
          </a:prstGeom>
          <a:solidFill>
            <a:srgbClr val="F2F4F8"/>
          </a:solidFill>
          <a:ln w="6350">
            <a:solidFill>
              <a:srgbClr val="D8DEE9"/>
            </a:solidFill>
            <a:prstDash val="solid"/>
          </a:ln>
        </p:spPr>
      </p:sp>
      <p:sp>
        <p:nvSpPr>
          <p:cNvPr id="44" name="Text 42"/>
          <p:cNvSpPr txBox="1"/>
          <p:nvPr/>
        </p:nvSpPr>
        <p:spPr>
          <a:xfrm>
            <a:off x="3858768" y="1682496"/>
            <a:ext cx="1097280" cy="256032"/>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allocation_id</a:t>
            </a:r>
            <a:endParaRPr lang="en-US" sz="1000" dirty="0"/>
          </a:p>
        </p:txBody>
      </p:sp>
      <p:sp>
        <p:nvSpPr>
          <p:cNvPr id="45" name="Shape 43"/>
          <p:cNvSpPr/>
          <p:nvPr/>
        </p:nvSpPr>
        <p:spPr>
          <a:xfrm>
            <a:off x="4974336" y="1719072"/>
            <a:ext cx="320040" cy="182880"/>
          </a:xfrm>
          <a:prstGeom prst="roundRect">
            <a:avLst>
              <a:gd name="adj" fmla="val 50000"/>
            </a:avLst>
          </a:prstGeom>
          <a:solidFill>
            <a:srgbClr val="13478F"/>
          </a:solidFill>
          <a:ln/>
        </p:spPr>
      </p:sp>
      <p:sp>
        <p:nvSpPr>
          <p:cNvPr id="46" name="Text 44"/>
          <p:cNvSpPr txBox="1"/>
          <p:nvPr/>
        </p:nvSpPr>
        <p:spPr>
          <a:xfrm>
            <a:off x="4974336" y="1719072"/>
            <a:ext cx="32004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47" name="Shape 45"/>
          <p:cNvSpPr/>
          <p:nvPr/>
        </p:nvSpPr>
        <p:spPr>
          <a:xfrm>
            <a:off x="3785616" y="1956816"/>
            <a:ext cx="1572768" cy="256032"/>
          </a:xfrm>
          <a:prstGeom prst="rect">
            <a:avLst/>
          </a:prstGeom>
          <a:solidFill>
            <a:srgbClr val="FFFFFF"/>
          </a:solidFill>
          <a:ln w="6350">
            <a:solidFill>
              <a:srgbClr val="D8DEE9"/>
            </a:solidFill>
            <a:prstDash val="solid"/>
          </a:ln>
        </p:spPr>
      </p:sp>
      <p:sp>
        <p:nvSpPr>
          <p:cNvPr id="48" name="Text 46"/>
          <p:cNvSpPr txBox="1"/>
          <p:nvPr/>
        </p:nvSpPr>
        <p:spPr>
          <a:xfrm>
            <a:off x="3858768" y="1956816"/>
            <a:ext cx="1097280" cy="256032"/>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student_id</a:t>
            </a:r>
            <a:endParaRPr lang="en-US" sz="1000" dirty="0"/>
          </a:p>
        </p:txBody>
      </p:sp>
      <p:sp>
        <p:nvSpPr>
          <p:cNvPr id="49" name="Shape 47"/>
          <p:cNvSpPr/>
          <p:nvPr/>
        </p:nvSpPr>
        <p:spPr>
          <a:xfrm>
            <a:off x="4974336" y="1993392"/>
            <a:ext cx="320040" cy="182880"/>
          </a:xfrm>
          <a:prstGeom prst="roundRect">
            <a:avLst>
              <a:gd name="adj" fmla="val 50000"/>
            </a:avLst>
          </a:prstGeom>
          <a:solidFill>
            <a:srgbClr val="B45309"/>
          </a:solidFill>
          <a:ln/>
        </p:spPr>
      </p:sp>
      <p:sp>
        <p:nvSpPr>
          <p:cNvPr id="50" name="Text 48"/>
          <p:cNvSpPr txBox="1"/>
          <p:nvPr/>
        </p:nvSpPr>
        <p:spPr>
          <a:xfrm>
            <a:off x="4974336" y="1993392"/>
            <a:ext cx="32004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FK</a:t>
            </a:r>
            <a:endParaRPr lang="en-US" sz="800" dirty="0"/>
          </a:p>
        </p:txBody>
      </p:sp>
      <p:sp>
        <p:nvSpPr>
          <p:cNvPr id="51" name="Shape 49"/>
          <p:cNvSpPr/>
          <p:nvPr/>
        </p:nvSpPr>
        <p:spPr>
          <a:xfrm>
            <a:off x="3785616" y="2231136"/>
            <a:ext cx="1572768" cy="256032"/>
          </a:xfrm>
          <a:prstGeom prst="rect">
            <a:avLst/>
          </a:prstGeom>
          <a:solidFill>
            <a:srgbClr val="F2F4F8"/>
          </a:solidFill>
          <a:ln w="6350">
            <a:solidFill>
              <a:srgbClr val="D8DEE9"/>
            </a:solidFill>
            <a:prstDash val="solid"/>
          </a:ln>
        </p:spPr>
      </p:sp>
      <p:sp>
        <p:nvSpPr>
          <p:cNvPr id="52" name="Text 50"/>
          <p:cNvSpPr txBox="1"/>
          <p:nvPr/>
        </p:nvSpPr>
        <p:spPr>
          <a:xfrm>
            <a:off x="3858768" y="2231136"/>
            <a:ext cx="1097280" cy="256032"/>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room_id</a:t>
            </a:r>
            <a:endParaRPr lang="en-US" sz="1000" dirty="0"/>
          </a:p>
        </p:txBody>
      </p:sp>
      <p:sp>
        <p:nvSpPr>
          <p:cNvPr id="53" name="Shape 51"/>
          <p:cNvSpPr/>
          <p:nvPr/>
        </p:nvSpPr>
        <p:spPr>
          <a:xfrm>
            <a:off x="4974336" y="2267712"/>
            <a:ext cx="320040" cy="182880"/>
          </a:xfrm>
          <a:prstGeom prst="roundRect">
            <a:avLst>
              <a:gd name="adj" fmla="val 50000"/>
            </a:avLst>
          </a:prstGeom>
          <a:solidFill>
            <a:srgbClr val="B45309"/>
          </a:solidFill>
          <a:ln/>
        </p:spPr>
      </p:sp>
      <p:sp>
        <p:nvSpPr>
          <p:cNvPr id="54" name="Text 52"/>
          <p:cNvSpPr txBox="1"/>
          <p:nvPr/>
        </p:nvSpPr>
        <p:spPr>
          <a:xfrm>
            <a:off x="4974336" y="2267712"/>
            <a:ext cx="32004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FK</a:t>
            </a:r>
            <a:endParaRPr lang="en-US" sz="800" dirty="0"/>
          </a:p>
        </p:txBody>
      </p:sp>
      <p:sp>
        <p:nvSpPr>
          <p:cNvPr id="55" name="Shape 53"/>
          <p:cNvSpPr/>
          <p:nvPr/>
        </p:nvSpPr>
        <p:spPr>
          <a:xfrm>
            <a:off x="3785616" y="2505456"/>
            <a:ext cx="1572768" cy="256032"/>
          </a:xfrm>
          <a:prstGeom prst="rect">
            <a:avLst/>
          </a:prstGeom>
          <a:solidFill>
            <a:srgbClr val="FFFFFF"/>
          </a:solidFill>
          <a:ln w="6350">
            <a:solidFill>
              <a:srgbClr val="D8DEE9"/>
            </a:solidFill>
            <a:prstDash val="solid"/>
          </a:ln>
        </p:spPr>
      </p:sp>
      <p:sp>
        <p:nvSpPr>
          <p:cNvPr id="56" name="Text 54"/>
          <p:cNvSpPr txBox="1"/>
          <p:nvPr/>
        </p:nvSpPr>
        <p:spPr>
          <a:xfrm>
            <a:off x="3858768" y="250545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allocation_date</a:t>
            </a:r>
            <a:endParaRPr lang="en-US" sz="1000" dirty="0"/>
          </a:p>
        </p:txBody>
      </p:sp>
      <p:sp>
        <p:nvSpPr>
          <p:cNvPr id="57" name="Shape 55"/>
          <p:cNvSpPr/>
          <p:nvPr/>
        </p:nvSpPr>
        <p:spPr>
          <a:xfrm>
            <a:off x="3785616" y="2779776"/>
            <a:ext cx="1572768" cy="256032"/>
          </a:xfrm>
          <a:prstGeom prst="rect">
            <a:avLst/>
          </a:prstGeom>
          <a:solidFill>
            <a:srgbClr val="F2F4F8"/>
          </a:solidFill>
          <a:ln w="6350">
            <a:solidFill>
              <a:srgbClr val="D8DEE9"/>
            </a:solidFill>
            <a:prstDash val="solid"/>
          </a:ln>
        </p:spPr>
      </p:sp>
      <p:sp>
        <p:nvSpPr>
          <p:cNvPr id="58" name="Text 56"/>
          <p:cNvSpPr txBox="1"/>
          <p:nvPr/>
        </p:nvSpPr>
        <p:spPr>
          <a:xfrm>
            <a:off x="3858768" y="277977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status</a:t>
            </a:r>
            <a:endParaRPr lang="en-US" sz="1000" dirty="0"/>
          </a:p>
        </p:txBody>
      </p:sp>
      <p:sp>
        <p:nvSpPr>
          <p:cNvPr id="59" name="Shape 57"/>
          <p:cNvSpPr/>
          <p:nvPr/>
        </p:nvSpPr>
        <p:spPr>
          <a:xfrm>
            <a:off x="5449824" y="1280160"/>
            <a:ext cx="1572768" cy="365760"/>
          </a:xfrm>
          <a:prstGeom prst="roundRect">
            <a:avLst>
              <a:gd name="adj" fmla="val 15000"/>
            </a:avLst>
          </a:prstGeom>
          <a:solidFill>
            <a:srgbClr val="0B2545"/>
          </a:solidFill>
          <a:ln/>
        </p:spPr>
      </p:sp>
      <p:sp>
        <p:nvSpPr>
          <p:cNvPr id="60" name="Text 58"/>
          <p:cNvSpPr txBox="1"/>
          <p:nvPr/>
        </p:nvSpPr>
        <p:spPr>
          <a:xfrm>
            <a:off x="5449824" y="1280160"/>
            <a:ext cx="157276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FEES</a:t>
            </a:r>
            <a:endParaRPr lang="en-US" sz="1100" dirty="0"/>
          </a:p>
        </p:txBody>
      </p:sp>
      <p:sp>
        <p:nvSpPr>
          <p:cNvPr id="61" name="Shape 59"/>
          <p:cNvSpPr/>
          <p:nvPr/>
        </p:nvSpPr>
        <p:spPr>
          <a:xfrm>
            <a:off x="5449824" y="1682496"/>
            <a:ext cx="1572768" cy="256032"/>
          </a:xfrm>
          <a:prstGeom prst="rect">
            <a:avLst/>
          </a:prstGeom>
          <a:solidFill>
            <a:srgbClr val="F2F4F8"/>
          </a:solidFill>
          <a:ln w="6350">
            <a:solidFill>
              <a:srgbClr val="D8DEE9"/>
            </a:solidFill>
            <a:prstDash val="solid"/>
          </a:ln>
        </p:spPr>
      </p:sp>
      <p:sp>
        <p:nvSpPr>
          <p:cNvPr id="62" name="Text 60"/>
          <p:cNvSpPr txBox="1"/>
          <p:nvPr/>
        </p:nvSpPr>
        <p:spPr>
          <a:xfrm>
            <a:off x="5522976" y="1682496"/>
            <a:ext cx="1097280" cy="256032"/>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fee_id</a:t>
            </a:r>
            <a:endParaRPr lang="en-US" sz="1000" dirty="0"/>
          </a:p>
        </p:txBody>
      </p:sp>
      <p:sp>
        <p:nvSpPr>
          <p:cNvPr id="63" name="Shape 61"/>
          <p:cNvSpPr/>
          <p:nvPr/>
        </p:nvSpPr>
        <p:spPr>
          <a:xfrm>
            <a:off x="6638544" y="1719072"/>
            <a:ext cx="320040" cy="182880"/>
          </a:xfrm>
          <a:prstGeom prst="roundRect">
            <a:avLst>
              <a:gd name="adj" fmla="val 50000"/>
            </a:avLst>
          </a:prstGeom>
          <a:solidFill>
            <a:srgbClr val="13478F"/>
          </a:solidFill>
          <a:ln/>
        </p:spPr>
      </p:sp>
      <p:sp>
        <p:nvSpPr>
          <p:cNvPr id="64" name="Text 62"/>
          <p:cNvSpPr txBox="1"/>
          <p:nvPr/>
        </p:nvSpPr>
        <p:spPr>
          <a:xfrm>
            <a:off x="6638544" y="1719072"/>
            <a:ext cx="32004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65" name="Shape 63"/>
          <p:cNvSpPr/>
          <p:nvPr/>
        </p:nvSpPr>
        <p:spPr>
          <a:xfrm>
            <a:off x="5449824" y="1956816"/>
            <a:ext cx="1572768" cy="256032"/>
          </a:xfrm>
          <a:prstGeom prst="rect">
            <a:avLst/>
          </a:prstGeom>
          <a:solidFill>
            <a:srgbClr val="FFFFFF"/>
          </a:solidFill>
          <a:ln w="6350">
            <a:solidFill>
              <a:srgbClr val="D8DEE9"/>
            </a:solidFill>
            <a:prstDash val="solid"/>
          </a:ln>
        </p:spPr>
      </p:sp>
      <p:sp>
        <p:nvSpPr>
          <p:cNvPr id="66" name="Text 64"/>
          <p:cNvSpPr txBox="1"/>
          <p:nvPr/>
        </p:nvSpPr>
        <p:spPr>
          <a:xfrm>
            <a:off x="5522976" y="1956816"/>
            <a:ext cx="1097280" cy="256032"/>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student_id</a:t>
            </a:r>
            <a:endParaRPr lang="en-US" sz="1000" dirty="0"/>
          </a:p>
        </p:txBody>
      </p:sp>
      <p:sp>
        <p:nvSpPr>
          <p:cNvPr id="67" name="Shape 65"/>
          <p:cNvSpPr/>
          <p:nvPr/>
        </p:nvSpPr>
        <p:spPr>
          <a:xfrm>
            <a:off x="6638544" y="1993392"/>
            <a:ext cx="320040" cy="182880"/>
          </a:xfrm>
          <a:prstGeom prst="roundRect">
            <a:avLst>
              <a:gd name="adj" fmla="val 50000"/>
            </a:avLst>
          </a:prstGeom>
          <a:solidFill>
            <a:srgbClr val="B45309"/>
          </a:solidFill>
          <a:ln/>
        </p:spPr>
      </p:sp>
      <p:sp>
        <p:nvSpPr>
          <p:cNvPr id="68" name="Text 66"/>
          <p:cNvSpPr txBox="1"/>
          <p:nvPr/>
        </p:nvSpPr>
        <p:spPr>
          <a:xfrm>
            <a:off x="6638544" y="1993392"/>
            <a:ext cx="32004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FK</a:t>
            </a:r>
            <a:endParaRPr lang="en-US" sz="800" dirty="0"/>
          </a:p>
        </p:txBody>
      </p:sp>
      <p:sp>
        <p:nvSpPr>
          <p:cNvPr id="69" name="Shape 67"/>
          <p:cNvSpPr/>
          <p:nvPr/>
        </p:nvSpPr>
        <p:spPr>
          <a:xfrm>
            <a:off x="5449824" y="2231136"/>
            <a:ext cx="1572768" cy="256032"/>
          </a:xfrm>
          <a:prstGeom prst="rect">
            <a:avLst/>
          </a:prstGeom>
          <a:solidFill>
            <a:srgbClr val="F2F4F8"/>
          </a:solidFill>
          <a:ln w="6350">
            <a:solidFill>
              <a:srgbClr val="D8DEE9"/>
            </a:solidFill>
            <a:prstDash val="solid"/>
          </a:ln>
        </p:spPr>
      </p:sp>
      <p:sp>
        <p:nvSpPr>
          <p:cNvPr id="70" name="Text 68"/>
          <p:cNvSpPr txBox="1"/>
          <p:nvPr/>
        </p:nvSpPr>
        <p:spPr>
          <a:xfrm>
            <a:off x="5522976" y="223113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amount</a:t>
            </a:r>
            <a:endParaRPr lang="en-US" sz="1000" dirty="0"/>
          </a:p>
        </p:txBody>
      </p:sp>
      <p:sp>
        <p:nvSpPr>
          <p:cNvPr id="71" name="Shape 69"/>
          <p:cNvSpPr/>
          <p:nvPr/>
        </p:nvSpPr>
        <p:spPr>
          <a:xfrm>
            <a:off x="5449824" y="2505456"/>
            <a:ext cx="1572768" cy="256032"/>
          </a:xfrm>
          <a:prstGeom prst="rect">
            <a:avLst/>
          </a:prstGeom>
          <a:solidFill>
            <a:srgbClr val="FFFFFF"/>
          </a:solidFill>
          <a:ln w="6350">
            <a:solidFill>
              <a:srgbClr val="D8DEE9"/>
            </a:solidFill>
            <a:prstDash val="solid"/>
          </a:ln>
        </p:spPr>
      </p:sp>
      <p:sp>
        <p:nvSpPr>
          <p:cNvPr id="72" name="Text 70"/>
          <p:cNvSpPr txBox="1"/>
          <p:nvPr/>
        </p:nvSpPr>
        <p:spPr>
          <a:xfrm>
            <a:off x="5522976" y="250545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payment_date</a:t>
            </a:r>
            <a:endParaRPr lang="en-US" sz="1000" dirty="0"/>
          </a:p>
        </p:txBody>
      </p:sp>
      <p:sp>
        <p:nvSpPr>
          <p:cNvPr id="73" name="Shape 71"/>
          <p:cNvSpPr/>
          <p:nvPr/>
        </p:nvSpPr>
        <p:spPr>
          <a:xfrm>
            <a:off x="5449824" y="2779776"/>
            <a:ext cx="1572768" cy="256032"/>
          </a:xfrm>
          <a:prstGeom prst="rect">
            <a:avLst/>
          </a:prstGeom>
          <a:solidFill>
            <a:srgbClr val="F2F4F8"/>
          </a:solidFill>
          <a:ln w="6350">
            <a:solidFill>
              <a:srgbClr val="D8DEE9"/>
            </a:solidFill>
            <a:prstDash val="solid"/>
          </a:ln>
        </p:spPr>
      </p:sp>
      <p:sp>
        <p:nvSpPr>
          <p:cNvPr id="74" name="Text 72"/>
          <p:cNvSpPr txBox="1"/>
          <p:nvPr/>
        </p:nvSpPr>
        <p:spPr>
          <a:xfrm>
            <a:off x="5522976" y="277977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payment_status</a:t>
            </a:r>
            <a:endParaRPr lang="en-US" sz="1000" dirty="0"/>
          </a:p>
        </p:txBody>
      </p:sp>
      <p:sp>
        <p:nvSpPr>
          <p:cNvPr id="75" name="Shape 73"/>
          <p:cNvSpPr/>
          <p:nvPr/>
        </p:nvSpPr>
        <p:spPr>
          <a:xfrm>
            <a:off x="7114032" y="1280160"/>
            <a:ext cx="1572768" cy="365760"/>
          </a:xfrm>
          <a:prstGeom prst="roundRect">
            <a:avLst>
              <a:gd name="adj" fmla="val 15000"/>
            </a:avLst>
          </a:prstGeom>
          <a:solidFill>
            <a:srgbClr val="0B2545"/>
          </a:solidFill>
          <a:ln/>
        </p:spPr>
      </p:sp>
      <p:sp>
        <p:nvSpPr>
          <p:cNvPr id="76" name="Text 74"/>
          <p:cNvSpPr txBox="1"/>
          <p:nvPr/>
        </p:nvSpPr>
        <p:spPr>
          <a:xfrm>
            <a:off x="7114032" y="1280160"/>
            <a:ext cx="157276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COMPLAINTS</a:t>
            </a:r>
            <a:endParaRPr lang="en-US" sz="1100" dirty="0"/>
          </a:p>
        </p:txBody>
      </p:sp>
      <p:sp>
        <p:nvSpPr>
          <p:cNvPr id="77" name="Shape 75"/>
          <p:cNvSpPr/>
          <p:nvPr/>
        </p:nvSpPr>
        <p:spPr>
          <a:xfrm>
            <a:off x="7114032" y="1682496"/>
            <a:ext cx="1572768" cy="256032"/>
          </a:xfrm>
          <a:prstGeom prst="rect">
            <a:avLst/>
          </a:prstGeom>
          <a:solidFill>
            <a:srgbClr val="F2F4F8"/>
          </a:solidFill>
          <a:ln w="6350">
            <a:solidFill>
              <a:srgbClr val="D8DEE9"/>
            </a:solidFill>
            <a:prstDash val="solid"/>
          </a:ln>
        </p:spPr>
      </p:sp>
      <p:sp>
        <p:nvSpPr>
          <p:cNvPr id="78" name="Text 76"/>
          <p:cNvSpPr txBox="1"/>
          <p:nvPr/>
        </p:nvSpPr>
        <p:spPr>
          <a:xfrm>
            <a:off x="7187184" y="1682496"/>
            <a:ext cx="1097280" cy="256032"/>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complaint_id</a:t>
            </a:r>
            <a:endParaRPr lang="en-US" sz="1000" dirty="0"/>
          </a:p>
        </p:txBody>
      </p:sp>
      <p:sp>
        <p:nvSpPr>
          <p:cNvPr id="79" name="Shape 77"/>
          <p:cNvSpPr/>
          <p:nvPr/>
        </p:nvSpPr>
        <p:spPr>
          <a:xfrm>
            <a:off x="8302752" y="1719072"/>
            <a:ext cx="320040" cy="182880"/>
          </a:xfrm>
          <a:prstGeom prst="roundRect">
            <a:avLst>
              <a:gd name="adj" fmla="val 50000"/>
            </a:avLst>
          </a:prstGeom>
          <a:solidFill>
            <a:srgbClr val="13478F"/>
          </a:solidFill>
          <a:ln/>
        </p:spPr>
      </p:sp>
      <p:sp>
        <p:nvSpPr>
          <p:cNvPr id="80" name="Text 78"/>
          <p:cNvSpPr txBox="1"/>
          <p:nvPr/>
        </p:nvSpPr>
        <p:spPr>
          <a:xfrm>
            <a:off x="8302752" y="1719072"/>
            <a:ext cx="32004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81" name="Shape 79"/>
          <p:cNvSpPr/>
          <p:nvPr/>
        </p:nvSpPr>
        <p:spPr>
          <a:xfrm>
            <a:off x="7114032" y="1956816"/>
            <a:ext cx="1572768" cy="256032"/>
          </a:xfrm>
          <a:prstGeom prst="rect">
            <a:avLst/>
          </a:prstGeom>
          <a:solidFill>
            <a:srgbClr val="FFFFFF"/>
          </a:solidFill>
          <a:ln w="6350">
            <a:solidFill>
              <a:srgbClr val="D8DEE9"/>
            </a:solidFill>
            <a:prstDash val="solid"/>
          </a:ln>
        </p:spPr>
      </p:sp>
      <p:sp>
        <p:nvSpPr>
          <p:cNvPr id="82" name="Text 80"/>
          <p:cNvSpPr txBox="1"/>
          <p:nvPr/>
        </p:nvSpPr>
        <p:spPr>
          <a:xfrm>
            <a:off x="7187184" y="1956816"/>
            <a:ext cx="1097280" cy="256032"/>
          </a:xfrm>
          <a:prstGeom prst="rect">
            <a:avLst/>
          </a:prstGeom>
          <a:noFill/>
          <a:ln/>
        </p:spPr>
        <p:txBody>
          <a:bodyPr wrap="square" lIns="0" tIns="0" rIns="0" bIns="0" rtlCol="0" anchor="ctr"/>
          <a:lstStyle/>
          <a:p>
            <a:pPr indent="0" marL="0">
              <a:buNone/>
            </a:pPr>
            <a:r>
              <a:rPr lang="en-US" sz="1000" b="1" dirty="0">
                <a:solidFill>
                  <a:srgbClr val="0B2545"/>
                </a:solidFill>
                <a:latin typeface="Calibri" pitchFamily="34" charset="0"/>
                <a:ea typeface="Calibri" pitchFamily="34" charset="-122"/>
                <a:cs typeface="Calibri" pitchFamily="34" charset="-120"/>
              </a:rPr>
              <a:t>student_id</a:t>
            </a:r>
            <a:endParaRPr lang="en-US" sz="1000" dirty="0"/>
          </a:p>
        </p:txBody>
      </p:sp>
      <p:sp>
        <p:nvSpPr>
          <p:cNvPr id="83" name="Shape 81"/>
          <p:cNvSpPr/>
          <p:nvPr/>
        </p:nvSpPr>
        <p:spPr>
          <a:xfrm>
            <a:off x="8302752" y="1993392"/>
            <a:ext cx="320040" cy="182880"/>
          </a:xfrm>
          <a:prstGeom prst="roundRect">
            <a:avLst>
              <a:gd name="adj" fmla="val 50000"/>
            </a:avLst>
          </a:prstGeom>
          <a:solidFill>
            <a:srgbClr val="B45309"/>
          </a:solidFill>
          <a:ln/>
        </p:spPr>
      </p:sp>
      <p:sp>
        <p:nvSpPr>
          <p:cNvPr id="84" name="Text 82"/>
          <p:cNvSpPr txBox="1"/>
          <p:nvPr/>
        </p:nvSpPr>
        <p:spPr>
          <a:xfrm>
            <a:off x="8302752" y="1993392"/>
            <a:ext cx="32004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FK</a:t>
            </a:r>
            <a:endParaRPr lang="en-US" sz="800" dirty="0"/>
          </a:p>
        </p:txBody>
      </p:sp>
      <p:sp>
        <p:nvSpPr>
          <p:cNvPr id="85" name="Shape 83"/>
          <p:cNvSpPr/>
          <p:nvPr/>
        </p:nvSpPr>
        <p:spPr>
          <a:xfrm>
            <a:off x="7114032" y="2231136"/>
            <a:ext cx="1572768" cy="256032"/>
          </a:xfrm>
          <a:prstGeom prst="rect">
            <a:avLst/>
          </a:prstGeom>
          <a:solidFill>
            <a:srgbClr val="F2F4F8"/>
          </a:solidFill>
          <a:ln w="6350">
            <a:solidFill>
              <a:srgbClr val="D8DEE9"/>
            </a:solidFill>
            <a:prstDash val="solid"/>
          </a:ln>
        </p:spPr>
      </p:sp>
      <p:sp>
        <p:nvSpPr>
          <p:cNvPr id="86" name="Text 84"/>
          <p:cNvSpPr txBox="1"/>
          <p:nvPr/>
        </p:nvSpPr>
        <p:spPr>
          <a:xfrm>
            <a:off x="7187184" y="223113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complaint_type</a:t>
            </a:r>
            <a:endParaRPr lang="en-US" sz="1000" dirty="0"/>
          </a:p>
        </p:txBody>
      </p:sp>
      <p:sp>
        <p:nvSpPr>
          <p:cNvPr id="87" name="Shape 85"/>
          <p:cNvSpPr/>
          <p:nvPr/>
        </p:nvSpPr>
        <p:spPr>
          <a:xfrm>
            <a:off x="7114032" y="2505456"/>
            <a:ext cx="1572768" cy="256032"/>
          </a:xfrm>
          <a:prstGeom prst="rect">
            <a:avLst/>
          </a:prstGeom>
          <a:solidFill>
            <a:srgbClr val="FFFFFF"/>
          </a:solidFill>
          <a:ln w="6350">
            <a:solidFill>
              <a:srgbClr val="D8DEE9"/>
            </a:solidFill>
            <a:prstDash val="solid"/>
          </a:ln>
        </p:spPr>
      </p:sp>
      <p:sp>
        <p:nvSpPr>
          <p:cNvPr id="88" name="Text 86"/>
          <p:cNvSpPr txBox="1"/>
          <p:nvPr/>
        </p:nvSpPr>
        <p:spPr>
          <a:xfrm>
            <a:off x="7187184" y="250545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description</a:t>
            </a:r>
            <a:endParaRPr lang="en-US" sz="1000" dirty="0"/>
          </a:p>
        </p:txBody>
      </p:sp>
      <p:sp>
        <p:nvSpPr>
          <p:cNvPr id="89" name="Shape 87"/>
          <p:cNvSpPr/>
          <p:nvPr/>
        </p:nvSpPr>
        <p:spPr>
          <a:xfrm>
            <a:off x="7114032" y="2779776"/>
            <a:ext cx="1572768" cy="256032"/>
          </a:xfrm>
          <a:prstGeom prst="rect">
            <a:avLst/>
          </a:prstGeom>
          <a:solidFill>
            <a:srgbClr val="F2F4F8"/>
          </a:solidFill>
          <a:ln w="6350">
            <a:solidFill>
              <a:srgbClr val="D8DEE9"/>
            </a:solidFill>
            <a:prstDash val="solid"/>
          </a:ln>
        </p:spPr>
      </p:sp>
      <p:sp>
        <p:nvSpPr>
          <p:cNvPr id="90" name="Text 88"/>
          <p:cNvSpPr txBox="1"/>
          <p:nvPr/>
        </p:nvSpPr>
        <p:spPr>
          <a:xfrm>
            <a:off x="7187184" y="277977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complaint_date</a:t>
            </a:r>
            <a:endParaRPr lang="en-US" sz="1000" dirty="0"/>
          </a:p>
        </p:txBody>
      </p:sp>
      <p:sp>
        <p:nvSpPr>
          <p:cNvPr id="91" name="Shape 89"/>
          <p:cNvSpPr/>
          <p:nvPr/>
        </p:nvSpPr>
        <p:spPr>
          <a:xfrm>
            <a:off x="7114032" y="3054096"/>
            <a:ext cx="1572768" cy="256032"/>
          </a:xfrm>
          <a:prstGeom prst="rect">
            <a:avLst/>
          </a:prstGeom>
          <a:solidFill>
            <a:srgbClr val="FFFFFF"/>
          </a:solidFill>
          <a:ln w="6350">
            <a:solidFill>
              <a:srgbClr val="D8DEE9"/>
            </a:solidFill>
            <a:prstDash val="solid"/>
          </a:ln>
        </p:spPr>
      </p:sp>
      <p:sp>
        <p:nvSpPr>
          <p:cNvPr id="92" name="Text 90"/>
          <p:cNvSpPr txBox="1"/>
          <p:nvPr/>
        </p:nvSpPr>
        <p:spPr>
          <a:xfrm>
            <a:off x="7187184" y="3054096"/>
            <a:ext cx="1097280" cy="256032"/>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status</a:t>
            </a:r>
            <a:endParaRPr lang="en-US" sz="1000" dirty="0"/>
          </a:p>
        </p:txBody>
      </p:sp>
      <p:sp>
        <p:nvSpPr>
          <p:cNvPr id="93" name="Shape 91"/>
          <p:cNvSpPr/>
          <p:nvPr/>
        </p:nvSpPr>
        <p:spPr>
          <a:xfrm>
            <a:off x="457200" y="3840480"/>
            <a:ext cx="8229600" cy="640080"/>
          </a:xfrm>
          <a:prstGeom prst="roundRect">
            <a:avLst>
              <a:gd name="adj" fmla="val 11429"/>
            </a:avLst>
          </a:prstGeom>
          <a:solidFill>
            <a:srgbClr val="E6EEF8"/>
          </a:solidFill>
          <a:ln/>
        </p:spPr>
      </p:sp>
      <p:sp>
        <p:nvSpPr>
          <p:cNvPr id="94" name="Shape 92"/>
          <p:cNvSpPr/>
          <p:nvPr/>
        </p:nvSpPr>
        <p:spPr>
          <a:xfrm>
            <a:off x="640080" y="4023360"/>
            <a:ext cx="365760" cy="201168"/>
          </a:xfrm>
          <a:prstGeom prst="roundRect">
            <a:avLst>
              <a:gd name="adj" fmla="val 50000"/>
            </a:avLst>
          </a:prstGeom>
          <a:solidFill>
            <a:srgbClr val="13478F"/>
          </a:solidFill>
          <a:ln/>
        </p:spPr>
      </p:sp>
      <p:sp>
        <p:nvSpPr>
          <p:cNvPr id="95" name="Text 93"/>
          <p:cNvSpPr txBox="1"/>
          <p:nvPr/>
        </p:nvSpPr>
        <p:spPr>
          <a:xfrm>
            <a:off x="640080" y="4023360"/>
            <a:ext cx="365760"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PK</a:t>
            </a:r>
            <a:endParaRPr lang="en-US" sz="850" dirty="0"/>
          </a:p>
        </p:txBody>
      </p:sp>
      <p:sp>
        <p:nvSpPr>
          <p:cNvPr id="96" name="Text 94"/>
          <p:cNvSpPr txBox="1"/>
          <p:nvPr/>
        </p:nvSpPr>
        <p:spPr>
          <a:xfrm>
            <a:off x="1097280" y="4005072"/>
            <a:ext cx="1097280" cy="237744"/>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Primary key</a:t>
            </a:r>
            <a:endParaRPr lang="en-US" sz="1100" dirty="0"/>
          </a:p>
        </p:txBody>
      </p:sp>
      <p:sp>
        <p:nvSpPr>
          <p:cNvPr id="97" name="Shape 95"/>
          <p:cNvSpPr/>
          <p:nvPr/>
        </p:nvSpPr>
        <p:spPr>
          <a:xfrm>
            <a:off x="2286000" y="4023360"/>
            <a:ext cx="365760" cy="201168"/>
          </a:xfrm>
          <a:prstGeom prst="roundRect">
            <a:avLst>
              <a:gd name="adj" fmla="val 50000"/>
            </a:avLst>
          </a:prstGeom>
          <a:solidFill>
            <a:srgbClr val="B45309"/>
          </a:solidFill>
          <a:ln/>
        </p:spPr>
      </p:sp>
      <p:sp>
        <p:nvSpPr>
          <p:cNvPr id="98" name="Text 96"/>
          <p:cNvSpPr txBox="1"/>
          <p:nvPr/>
        </p:nvSpPr>
        <p:spPr>
          <a:xfrm>
            <a:off x="2286000" y="4023360"/>
            <a:ext cx="365760" cy="20116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FK</a:t>
            </a:r>
            <a:endParaRPr lang="en-US" sz="850" dirty="0"/>
          </a:p>
        </p:txBody>
      </p:sp>
      <p:sp>
        <p:nvSpPr>
          <p:cNvPr id="99" name="Text 97"/>
          <p:cNvSpPr txBox="1"/>
          <p:nvPr/>
        </p:nvSpPr>
        <p:spPr>
          <a:xfrm>
            <a:off x="2743200" y="4005072"/>
            <a:ext cx="1097280" cy="237744"/>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Foreign key</a:t>
            </a:r>
            <a:endParaRPr lang="en-US" sz="1100" dirty="0"/>
          </a:p>
        </p:txBody>
      </p:sp>
      <p:sp>
        <p:nvSpPr>
          <p:cNvPr id="100" name="Text 98"/>
          <p:cNvSpPr txBox="1"/>
          <p:nvPr/>
        </p:nvSpPr>
        <p:spPr>
          <a:xfrm>
            <a:off x="3931920" y="3840480"/>
            <a:ext cx="4663440" cy="640080"/>
          </a:xfrm>
          <a:prstGeom prst="rect">
            <a:avLst/>
          </a:prstGeom>
          <a:noFill/>
          <a:ln/>
        </p:spPr>
        <p:txBody>
          <a:bodyPr wrap="square" lIns="0" tIns="0" rIns="0" bIns="0" rtlCol="0" anchor="ctr"/>
          <a:lstStyle/>
          <a:p>
            <a:pPr indent="0" marL="0">
              <a:buNone/>
            </a:pPr>
            <a:r>
              <a:rPr lang="en-US" sz="1150" i="1" dirty="0">
                <a:solidFill>
                  <a:srgbClr val="0B2545"/>
                </a:solidFill>
                <a:latin typeface="Calibri" pitchFamily="34" charset="0"/>
                <a:ea typeface="Calibri" pitchFamily="34" charset="-122"/>
                <a:cs typeface="Calibri" pitchFamily="34" charset="-120"/>
              </a:rPr>
              <a:t>Planned relational tables — the schema has not been created yet.</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844284" y="219456"/>
            <a:ext cx="1842516" cy="274320"/>
          </a:xfrm>
          <a:prstGeom prst="roundRect">
            <a:avLst>
              <a:gd name="adj" fmla="val 50000"/>
            </a:avLst>
          </a:prstGeom>
          <a:solidFill>
            <a:srgbClr val="13478F"/>
          </a:solidFill>
          <a:ln/>
        </p:spPr>
      </p:sp>
      <p:sp>
        <p:nvSpPr>
          <p:cNvPr id="3" name="Text 1"/>
          <p:cNvSpPr txBox="1"/>
          <p:nvPr/>
        </p:nvSpPr>
        <p:spPr>
          <a:xfrm>
            <a:off x="6844284" y="219456"/>
            <a:ext cx="184251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PROPOSED ER DIAGRAM</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Entity Relationship Diagram</a:t>
            </a:r>
            <a:endParaRPr lang="en-US" sz="2600" dirty="0"/>
          </a:p>
        </p:txBody>
      </p:sp>
      <p:sp>
        <p:nvSpPr>
          <p:cNvPr id="5" name="Shape 3"/>
          <p:cNvSpPr/>
          <p:nvPr/>
        </p:nvSpPr>
        <p:spPr>
          <a:xfrm>
            <a:off x="457200" y="1280160"/>
            <a:ext cx="2011680" cy="1316736"/>
          </a:xfrm>
          <a:prstGeom prst="roundRect">
            <a:avLst>
              <a:gd name="adj" fmla="val 5556"/>
            </a:avLst>
          </a:prstGeom>
          <a:solidFill>
            <a:srgbClr val="FFFFFF"/>
          </a:solidFill>
          <a:ln w="19050">
            <a:solidFill>
              <a:srgbClr val="0B2545"/>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457200" y="1280160"/>
            <a:ext cx="2011680" cy="320040"/>
          </a:xfrm>
          <a:prstGeom prst="rect">
            <a:avLst/>
          </a:prstGeom>
          <a:solidFill>
            <a:srgbClr val="0B2545"/>
          </a:solidFill>
          <a:ln w="19050">
            <a:solidFill>
              <a:srgbClr val="0B2545"/>
            </a:solidFill>
            <a:prstDash val="solid"/>
          </a:ln>
        </p:spPr>
      </p:sp>
      <p:sp>
        <p:nvSpPr>
          <p:cNvPr id="7" name="Text 5"/>
          <p:cNvSpPr txBox="1"/>
          <p:nvPr/>
        </p:nvSpPr>
        <p:spPr>
          <a:xfrm>
            <a:off x="457200" y="1280160"/>
            <a:ext cx="20116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STUDENT</a:t>
            </a:r>
            <a:endParaRPr lang="en-US" sz="1200" dirty="0"/>
          </a:p>
        </p:txBody>
      </p:sp>
      <p:sp>
        <p:nvSpPr>
          <p:cNvPr id="8" name="Text 6"/>
          <p:cNvSpPr txBox="1"/>
          <p:nvPr/>
        </p:nvSpPr>
        <p:spPr>
          <a:xfrm>
            <a:off x="566928" y="1627632"/>
            <a:ext cx="1371600" cy="237744"/>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student_id</a:t>
            </a:r>
            <a:endParaRPr lang="en-US" sz="1050" dirty="0"/>
          </a:p>
        </p:txBody>
      </p:sp>
      <p:sp>
        <p:nvSpPr>
          <p:cNvPr id="9" name="Shape 7"/>
          <p:cNvSpPr/>
          <p:nvPr/>
        </p:nvSpPr>
        <p:spPr>
          <a:xfrm>
            <a:off x="2011680" y="1655064"/>
            <a:ext cx="347472" cy="182880"/>
          </a:xfrm>
          <a:prstGeom prst="roundRect">
            <a:avLst>
              <a:gd name="adj" fmla="val 50000"/>
            </a:avLst>
          </a:prstGeom>
          <a:solidFill>
            <a:srgbClr val="13478F"/>
          </a:solidFill>
          <a:ln/>
        </p:spPr>
      </p:sp>
      <p:sp>
        <p:nvSpPr>
          <p:cNvPr id="10" name="Text 8"/>
          <p:cNvSpPr txBox="1"/>
          <p:nvPr/>
        </p:nvSpPr>
        <p:spPr>
          <a:xfrm>
            <a:off x="2011680" y="1655064"/>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11" name="Text 9"/>
          <p:cNvSpPr txBox="1"/>
          <p:nvPr/>
        </p:nvSpPr>
        <p:spPr>
          <a:xfrm>
            <a:off x="566928" y="1865376"/>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name</a:t>
            </a:r>
            <a:endParaRPr lang="en-US" sz="1050" dirty="0"/>
          </a:p>
        </p:txBody>
      </p:sp>
      <p:sp>
        <p:nvSpPr>
          <p:cNvPr id="12" name="Text 10"/>
          <p:cNvSpPr txBox="1"/>
          <p:nvPr/>
        </p:nvSpPr>
        <p:spPr>
          <a:xfrm>
            <a:off x="566928" y="2103120"/>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email</a:t>
            </a:r>
            <a:endParaRPr lang="en-US" sz="1050" dirty="0"/>
          </a:p>
        </p:txBody>
      </p:sp>
      <p:sp>
        <p:nvSpPr>
          <p:cNvPr id="13" name="Text 11"/>
          <p:cNvSpPr txBox="1"/>
          <p:nvPr/>
        </p:nvSpPr>
        <p:spPr>
          <a:xfrm>
            <a:off x="566928" y="2340864"/>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phone</a:t>
            </a:r>
            <a:endParaRPr lang="en-US" sz="1050" dirty="0"/>
          </a:p>
        </p:txBody>
      </p:sp>
      <p:sp>
        <p:nvSpPr>
          <p:cNvPr id="14" name="Shape 12"/>
          <p:cNvSpPr/>
          <p:nvPr/>
        </p:nvSpPr>
        <p:spPr>
          <a:xfrm>
            <a:off x="3566160" y="1280160"/>
            <a:ext cx="2011680" cy="1554480"/>
          </a:xfrm>
          <a:prstGeom prst="roundRect">
            <a:avLst>
              <a:gd name="adj" fmla="val 4706"/>
            </a:avLst>
          </a:prstGeom>
          <a:solidFill>
            <a:srgbClr val="FFFFFF"/>
          </a:solidFill>
          <a:ln w="19050">
            <a:solidFill>
              <a:srgbClr val="0B2545"/>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3566160" y="1280160"/>
            <a:ext cx="2011680" cy="320040"/>
          </a:xfrm>
          <a:prstGeom prst="rect">
            <a:avLst/>
          </a:prstGeom>
          <a:solidFill>
            <a:srgbClr val="0B2545"/>
          </a:solidFill>
          <a:ln w="19050">
            <a:solidFill>
              <a:srgbClr val="0B2545"/>
            </a:solidFill>
            <a:prstDash val="solid"/>
          </a:ln>
        </p:spPr>
      </p:sp>
      <p:sp>
        <p:nvSpPr>
          <p:cNvPr id="16" name="Text 14"/>
          <p:cNvSpPr txBox="1"/>
          <p:nvPr/>
        </p:nvSpPr>
        <p:spPr>
          <a:xfrm>
            <a:off x="3566160" y="1280160"/>
            <a:ext cx="20116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ALLOCATION</a:t>
            </a:r>
            <a:endParaRPr lang="en-US" sz="1200" dirty="0"/>
          </a:p>
        </p:txBody>
      </p:sp>
      <p:sp>
        <p:nvSpPr>
          <p:cNvPr id="17" name="Text 15"/>
          <p:cNvSpPr txBox="1"/>
          <p:nvPr/>
        </p:nvSpPr>
        <p:spPr>
          <a:xfrm>
            <a:off x="3675888" y="1627632"/>
            <a:ext cx="1371600" cy="237744"/>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allocation_id</a:t>
            </a:r>
            <a:endParaRPr lang="en-US" sz="1050" dirty="0"/>
          </a:p>
        </p:txBody>
      </p:sp>
      <p:sp>
        <p:nvSpPr>
          <p:cNvPr id="18" name="Shape 16"/>
          <p:cNvSpPr/>
          <p:nvPr/>
        </p:nvSpPr>
        <p:spPr>
          <a:xfrm>
            <a:off x="5120640" y="1655064"/>
            <a:ext cx="347472" cy="182880"/>
          </a:xfrm>
          <a:prstGeom prst="roundRect">
            <a:avLst>
              <a:gd name="adj" fmla="val 50000"/>
            </a:avLst>
          </a:prstGeom>
          <a:solidFill>
            <a:srgbClr val="13478F"/>
          </a:solidFill>
          <a:ln/>
        </p:spPr>
      </p:sp>
      <p:sp>
        <p:nvSpPr>
          <p:cNvPr id="19" name="Text 17"/>
          <p:cNvSpPr txBox="1"/>
          <p:nvPr/>
        </p:nvSpPr>
        <p:spPr>
          <a:xfrm>
            <a:off x="5120640" y="1655064"/>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20" name="Text 18"/>
          <p:cNvSpPr txBox="1"/>
          <p:nvPr/>
        </p:nvSpPr>
        <p:spPr>
          <a:xfrm>
            <a:off x="3675888" y="1865376"/>
            <a:ext cx="1371600" cy="237744"/>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student_id</a:t>
            </a:r>
            <a:endParaRPr lang="en-US" sz="1050" dirty="0"/>
          </a:p>
        </p:txBody>
      </p:sp>
      <p:sp>
        <p:nvSpPr>
          <p:cNvPr id="21" name="Shape 19"/>
          <p:cNvSpPr/>
          <p:nvPr/>
        </p:nvSpPr>
        <p:spPr>
          <a:xfrm>
            <a:off x="5120640" y="1892808"/>
            <a:ext cx="347472" cy="182880"/>
          </a:xfrm>
          <a:prstGeom prst="roundRect">
            <a:avLst>
              <a:gd name="adj" fmla="val 50000"/>
            </a:avLst>
          </a:prstGeom>
          <a:solidFill>
            <a:srgbClr val="B45309"/>
          </a:solidFill>
          <a:ln/>
        </p:spPr>
      </p:sp>
      <p:sp>
        <p:nvSpPr>
          <p:cNvPr id="22" name="Text 20"/>
          <p:cNvSpPr txBox="1"/>
          <p:nvPr/>
        </p:nvSpPr>
        <p:spPr>
          <a:xfrm>
            <a:off x="5120640" y="1892808"/>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FK</a:t>
            </a:r>
            <a:endParaRPr lang="en-US" sz="800" dirty="0"/>
          </a:p>
        </p:txBody>
      </p:sp>
      <p:sp>
        <p:nvSpPr>
          <p:cNvPr id="23" name="Text 21"/>
          <p:cNvSpPr txBox="1"/>
          <p:nvPr/>
        </p:nvSpPr>
        <p:spPr>
          <a:xfrm>
            <a:off x="3675888" y="2103120"/>
            <a:ext cx="1371600" cy="237744"/>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room_id</a:t>
            </a:r>
            <a:endParaRPr lang="en-US" sz="1050" dirty="0"/>
          </a:p>
        </p:txBody>
      </p:sp>
      <p:sp>
        <p:nvSpPr>
          <p:cNvPr id="24" name="Shape 22"/>
          <p:cNvSpPr/>
          <p:nvPr/>
        </p:nvSpPr>
        <p:spPr>
          <a:xfrm>
            <a:off x="5120640" y="2130552"/>
            <a:ext cx="347472" cy="182880"/>
          </a:xfrm>
          <a:prstGeom prst="roundRect">
            <a:avLst>
              <a:gd name="adj" fmla="val 50000"/>
            </a:avLst>
          </a:prstGeom>
          <a:solidFill>
            <a:srgbClr val="B45309"/>
          </a:solidFill>
          <a:ln/>
        </p:spPr>
      </p:sp>
      <p:sp>
        <p:nvSpPr>
          <p:cNvPr id="25" name="Text 23"/>
          <p:cNvSpPr txBox="1"/>
          <p:nvPr/>
        </p:nvSpPr>
        <p:spPr>
          <a:xfrm>
            <a:off x="5120640" y="2130552"/>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FK</a:t>
            </a:r>
            <a:endParaRPr lang="en-US" sz="800" dirty="0"/>
          </a:p>
        </p:txBody>
      </p:sp>
      <p:sp>
        <p:nvSpPr>
          <p:cNvPr id="26" name="Text 24"/>
          <p:cNvSpPr txBox="1"/>
          <p:nvPr/>
        </p:nvSpPr>
        <p:spPr>
          <a:xfrm>
            <a:off x="3675888" y="2340864"/>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allocation_date</a:t>
            </a:r>
            <a:endParaRPr lang="en-US" sz="1050" dirty="0"/>
          </a:p>
        </p:txBody>
      </p:sp>
      <p:sp>
        <p:nvSpPr>
          <p:cNvPr id="27" name="Text 25"/>
          <p:cNvSpPr txBox="1"/>
          <p:nvPr/>
        </p:nvSpPr>
        <p:spPr>
          <a:xfrm>
            <a:off x="3675888" y="2578608"/>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status</a:t>
            </a:r>
            <a:endParaRPr lang="en-US" sz="1050" dirty="0"/>
          </a:p>
        </p:txBody>
      </p:sp>
      <p:sp>
        <p:nvSpPr>
          <p:cNvPr id="28" name="Shape 26"/>
          <p:cNvSpPr/>
          <p:nvPr/>
        </p:nvSpPr>
        <p:spPr>
          <a:xfrm>
            <a:off x="6675120" y="1280160"/>
            <a:ext cx="2011680" cy="1316736"/>
          </a:xfrm>
          <a:prstGeom prst="roundRect">
            <a:avLst>
              <a:gd name="adj" fmla="val 5556"/>
            </a:avLst>
          </a:prstGeom>
          <a:solidFill>
            <a:srgbClr val="FFFFFF"/>
          </a:solidFill>
          <a:ln w="19050">
            <a:solidFill>
              <a:srgbClr val="0B2545"/>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6675120" y="1280160"/>
            <a:ext cx="2011680" cy="320040"/>
          </a:xfrm>
          <a:prstGeom prst="rect">
            <a:avLst/>
          </a:prstGeom>
          <a:solidFill>
            <a:srgbClr val="0B2545"/>
          </a:solidFill>
          <a:ln w="19050">
            <a:solidFill>
              <a:srgbClr val="0B2545"/>
            </a:solidFill>
            <a:prstDash val="solid"/>
          </a:ln>
        </p:spPr>
      </p:sp>
      <p:sp>
        <p:nvSpPr>
          <p:cNvPr id="30" name="Text 28"/>
          <p:cNvSpPr txBox="1"/>
          <p:nvPr/>
        </p:nvSpPr>
        <p:spPr>
          <a:xfrm>
            <a:off x="6675120" y="1280160"/>
            <a:ext cx="20116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ROOM</a:t>
            </a:r>
            <a:endParaRPr lang="en-US" sz="1200" dirty="0"/>
          </a:p>
        </p:txBody>
      </p:sp>
      <p:sp>
        <p:nvSpPr>
          <p:cNvPr id="31" name="Text 29"/>
          <p:cNvSpPr txBox="1"/>
          <p:nvPr/>
        </p:nvSpPr>
        <p:spPr>
          <a:xfrm>
            <a:off x="6784848" y="1627632"/>
            <a:ext cx="1371600" cy="237744"/>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room_id</a:t>
            </a:r>
            <a:endParaRPr lang="en-US" sz="1050" dirty="0"/>
          </a:p>
        </p:txBody>
      </p:sp>
      <p:sp>
        <p:nvSpPr>
          <p:cNvPr id="32" name="Shape 30"/>
          <p:cNvSpPr/>
          <p:nvPr/>
        </p:nvSpPr>
        <p:spPr>
          <a:xfrm>
            <a:off x="8229600" y="1655064"/>
            <a:ext cx="347472" cy="182880"/>
          </a:xfrm>
          <a:prstGeom prst="roundRect">
            <a:avLst>
              <a:gd name="adj" fmla="val 50000"/>
            </a:avLst>
          </a:prstGeom>
          <a:solidFill>
            <a:srgbClr val="13478F"/>
          </a:solidFill>
          <a:ln/>
        </p:spPr>
      </p:sp>
      <p:sp>
        <p:nvSpPr>
          <p:cNvPr id="33" name="Text 31"/>
          <p:cNvSpPr txBox="1"/>
          <p:nvPr/>
        </p:nvSpPr>
        <p:spPr>
          <a:xfrm>
            <a:off x="8229600" y="1655064"/>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34" name="Text 32"/>
          <p:cNvSpPr txBox="1"/>
          <p:nvPr/>
        </p:nvSpPr>
        <p:spPr>
          <a:xfrm>
            <a:off x="6784848" y="1865376"/>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room_number</a:t>
            </a:r>
            <a:endParaRPr lang="en-US" sz="1050" dirty="0"/>
          </a:p>
        </p:txBody>
      </p:sp>
      <p:sp>
        <p:nvSpPr>
          <p:cNvPr id="35" name="Text 33"/>
          <p:cNvSpPr txBox="1"/>
          <p:nvPr/>
        </p:nvSpPr>
        <p:spPr>
          <a:xfrm>
            <a:off x="6784848" y="2103120"/>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block</a:t>
            </a:r>
            <a:endParaRPr lang="en-US" sz="1050" dirty="0"/>
          </a:p>
        </p:txBody>
      </p:sp>
      <p:sp>
        <p:nvSpPr>
          <p:cNvPr id="36" name="Text 34"/>
          <p:cNvSpPr txBox="1"/>
          <p:nvPr/>
        </p:nvSpPr>
        <p:spPr>
          <a:xfrm>
            <a:off x="6784848" y="2340864"/>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capacity</a:t>
            </a:r>
            <a:endParaRPr lang="en-US" sz="1050" dirty="0"/>
          </a:p>
        </p:txBody>
      </p:sp>
      <p:sp>
        <p:nvSpPr>
          <p:cNvPr id="37" name="Shape 35"/>
          <p:cNvSpPr/>
          <p:nvPr/>
        </p:nvSpPr>
        <p:spPr>
          <a:xfrm>
            <a:off x="457200" y="3337560"/>
            <a:ext cx="2011680" cy="1316736"/>
          </a:xfrm>
          <a:prstGeom prst="roundRect">
            <a:avLst>
              <a:gd name="adj" fmla="val 5556"/>
            </a:avLst>
          </a:prstGeom>
          <a:solidFill>
            <a:srgbClr val="FFFFFF"/>
          </a:solidFill>
          <a:ln w="19050">
            <a:solidFill>
              <a:srgbClr val="0B2545"/>
            </a:solidFill>
            <a:prstDash val="solid"/>
          </a:ln>
          <a:effectLst>
            <a:outerShdw sx="100000" sy="100000" kx="0" ky="0" algn="bl" rotWithShape="0" blurRad="76200" dist="25400" dir="5400000">
              <a:srgbClr val="000000">
                <a:alpha val="12000"/>
              </a:srgbClr>
            </a:outerShdw>
          </a:effectLst>
        </p:spPr>
      </p:sp>
      <p:sp>
        <p:nvSpPr>
          <p:cNvPr id="38" name="Shape 36"/>
          <p:cNvSpPr/>
          <p:nvPr/>
        </p:nvSpPr>
        <p:spPr>
          <a:xfrm>
            <a:off x="457200" y="3337560"/>
            <a:ext cx="2011680" cy="320040"/>
          </a:xfrm>
          <a:prstGeom prst="rect">
            <a:avLst/>
          </a:prstGeom>
          <a:solidFill>
            <a:srgbClr val="0B2545"/>
          </a:solidFill>
          <a:ln w="19050">
            <a:solidFill>
              <a:srgbClr val="0B2545"/>
            </a:solidFill>
            <a:prstDash val="solid"/>
          </a:ln>
        </p:spPr>
      </p:sp>
      <p:sp>
        <p:nvSpPr>
          <p:cNvPr id="39" name="Text 37"/>
          <p:cNvSpPr txBox="1"/>
          <p:nvPr/>
        </p:nvSpPr>
        <p:spPr>
          <a:xfrm>
            <a:off x="457200" y="3337560"/>
            <a:ext cx="20116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FEES</a:t>
            </a:r>
            <a:endParaRPr lang="en-US" sz="1200" dirty="0"/>
          </a:p>
        </p:txBody>
      </p:sp>
      <p:sp>
        <p:nvSpPr>
          <p:cNvPr id="40" name="Text 38"/>
          <p:cNvSpPr txBox="1"/>
          <p:nvPr/>
        </p:nvSpPr>
        <p:spPr>
          <a:xfrm>
            <a:off x="566928" y="3685032"/>
            <a:ext cx="1371600" cy="237744"/>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fee_id</a:t>
            </a:r>
            <a:endParaRPr lang="en-US" sz="1050" dirty="0"/>
          </a:p>
        </p:txBody>
      </p:sp>
      <p:sp>
        <p:nvSpPr>
          <p:cNvPr id="41" name="Shape 39"/>
          <p:cNvSpPr/>
          <p:nvPr/>
        </p:nvSpPr>
        <p:spPr>
          <a:xfrm>
            <a:off x="2011680" y="3712464"/>
            <a:ext cx="347472" cy="182880"/>
          </a:xfrm>
          <a:prstGeom prst="roundRect">
            <a:avLst>
              <a:gd name="adj" fmla="val 50000"/>
            </a:avLst>
          </a:prstGeom>
          <a:solidFill>
            <a:srgbClr val="13478F"/>
          </a:solidFill>
          <a:ln/>
        </p:spPr>
      </p:sp>
      <p:sp>
        <p:nvSpPr>
          <p:cNvPr id="42" name="Text 40"/>
          <p:cNvSpPr txBox="1"/>
          <p:nvPr/>
        </p:nvSpPr>
        <p:spPr>
          <a:xfrm>
            <a:off x="2011680" y="3712464"/>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43" name="Text 41"/>
          <p:cNvSpPr txBox="1"/>
          <p:nvPr/>
        </p:nvSpPr>
        <p:spPr>
          <a:xfrm>
            <a:off x="566928" y="3922776"/>
            <a:ext cx="1371600" cy="237744"/>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student_id</a:t>
            </a:r>
            <a:endParaRPr lang="en-US" sz="1050" dirty="0"/>
          </a:p>
        </p:txBody>
      </p:sp>
      <p:sp>
        <p:nvSpPr>
          <p:cNvPr id="44" name="Shape 42"/>
          <p:cNvSpPr/>
          <p:nvPr/>
        </p:nvSpPr>
        <p:spPr>
          <a:xfrm>
            <a:off x="2011680" y="3950208"/>
            <a:ext cx="347472" cy="182880"/>
          </a:xfrm>
          <a:prstGeom prst="roundRect">
            <a:avLst>
              <a:gd name="adj" fmla="val 50000"/>
            </a:avLst>
          </a:prstGeom>
          <a:solidFill>
            <a:srgbClr val="B45309"/>
          </a:solidFill>
          <a:ln/>
        </p:spPr>
      </p:sp>
      <p:sp>
        <p:nvSpPr>
          <p:cNvPr id="45" name="Text 43"/>
          <p:cNvSpPr txBox="1"/>
          <p:nvPr/>
        </p:nvSpPr>
        <p:spPr>
          <a:xfrm>
            <a:off x="2011680" y="3950208"/>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FK</a:t>
            </a:r>
            <a:endParaRPr lang="en-US" sz="800" dirty="0"/>
          </a:p>
        </p:txBody>
      </p:sp>
      <p:sp>
        <p:nvSpPr>
          <p:cNvPr id="46" name="Text 44"/>
          <p:cNvSpPr txBox="1"/>
          <p:nvPr/>
        </p:nvSpPr>
        <p:spPr>
          <a:xfrm>
            <a:off x="566928" y="4160520"/>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amount</a:t>
            </a:r>
            <a:endParaRPr lang="en-US" sz="1050" dirty="0"/>
          </a:p>
        </p:txBody>
      </p:sp>
      <p:sp>
        <p:nvSpPr>
          <p:cNvPr id="47" name="Text 45"/>
          <p:cNvSpPr txBox="1"/>
          <p:nvPr/>
        </p:nvSpPr>
        <p:spPr>
          <a:xfrm>
            <a:off x="566928" y="4398264"/>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payment_status</a:t>
            </a:r>
            <a:endParaRPr lang="en-US" sz="1050" dirty="0"/>
          </a:p>
        </p:txBody>
      </p:sp>
      <p:sp>
        <p:nvSpPr>
          <p:cNvPr id="48" name="Shape 46"/>
          <p:cNvSpPr/>
          <p:nvPr/>
        </p:nvSpPr>
        <p:spPr>
          <a:xfrm>
            <a:off x="3566160" y="3337560"/>
            <a:ext cx="2011680" cy="1316736"/>
          </a:xfrm>
          <a:prstGeom prst="roundRect">
            <a:avLst>
              <a:gd name="adj" fmla="val 5556"/>
            </a:avLst>
          </a:prstGeom>
          <a:solidFill>
            <a:srgbClr val="FFFFFF"/>
          </a:solidFill>
          <a:ln w="19050">
            <a:solidFill>
              <a:srgbClr val="0B2545"/>
            </a:solidFill>
            <a:prstDash val="solid"/>
          </a:ln>
          <a:effectLst>
            <a:outerShdw sx="100000" sy="100000" kx="0" ky="0" algn="bl" rotWithShape="0" blurRad="76200" dist="25400" dir="5400000">
              <a:srgbClr val="000000">
                <a:alpha val="12000"/>
              </a:srgbClr>
            </a:outerShdw>
          </a:effectLst>
        </p:spPr>
      </p:sp>
      <p:sp>
        <p:nvSpPr>
          <p:cNvPr id="49" name="Shape 47"/>
          <p:cNvSpPr/>
          <p:nvPr/>
        </p:nvSpPr>
        <p:spPr>
          <a:xfrm>
            <a:off x="3566160" y="3337560"/>
            <a:ext cx="2011680" cy="320040"/>
          </a:xfrm>
          <a:prstGeom prst="rect">
            <a:avLst/>
          </a:prstGeom>
          <a:solidFill>
            <a:srgbClr val="0B2545"/>
          </a:solidFill>
          <a:ln w="19050">
            <a:solidFill>
              <a:srgbClr val="0B2545"/>
            </a:solidFill>
            <a:prstDash val="solid"/>
          </a:ln>
        </p:spPr>
      </p:sp>
      <p:sp>
        <p:nvSpPr>
          <p:cNvPr id="50" name="Text 48"/>
          <p:cNvSpPr txBox="1"/>
          <p:nvPr/>
        </p:nvSpPr>
        <p:spPr>
          <a:xfrm>
            <a:off x="3566160" y="3337560"/>
            <a:ext cx="201168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COMPLAINTS</a:t>
            </a:r>
            <a:endParaRPr lang="en-US" sz="1200" dirty="0"/>
          </a:p>
        </p:txBody>
      </p:sp>
      <p:sp>
        <p:nvSpPr>
          <p:cNvPr id="51" name="Text 49"/>
          <p:cNvSpPr txBox="1"/>
          <p:nvPr/>
        </p:nvSpPr>
        <p:spPr>
          <a:xfrm>
            <a:off x="3675888" y="3685032"/>
            <a:ext cx="1371600" cy="237744"/>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complaint_id</a:t>
            </a:r>
            <a:endParaRPr lang="en-US" sz="1050" dirty="0"/>
          </a:p>
        </p:txBody>
      </p:sp>
      <p:sp>
        <p:nvSpPr>
          <p:cNvPr id="52" name="Shape 50"/>
          <p:cNvSpPr/>
          <p:nvPr/>
        </p:nvSpPr>
        <p:spPr>
          <a:xfrm>
            <a:off x="5120640" y="3712464"/>
            <a:ext cx="347472" cy="182880"/>
          </a:xfrm>
          <a:prstGeom prst="roundRect">
            <a:avLst>
              <a:gd name="adj" fmla="val 50000"/>
            </a:avLst>
          </a:prstGeom>
          <a:solidFill>
            <a:srgbClr val="13478F"/>
          </a:solidFill>
          <a:ln/>
        </p:spPr>
      </p:sp>
      <p:sp>
        <p:nvSpPr>
          <p:cNvPr id="53" name="Text 51"/>
          <p:cNvSpPr txBox="1"/>
          <p:nvPr/>
        </p:nvSpPr>
        <p:spPr>
          <a:xfrm>
            <a:off x="5120640" y="3712464"/>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54" name="Text 52"/>
          <p:cNvSpPr txBox="1"/>
          <p:nvPr/>
        </p:nvSpPr>
        <p:spPr>
          <a:xfrm>
            <a:off x="3675888" y="3922776"/>
            <a:ext cx="1371600" cy="237744"/>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student_id</a:t>
            </a:r>
            <a:endParaRPr lang="en-US" sz="1050" dirty="0"/>
          </a:p>
        </p:txBody>
      </p:sp>
      <p:sp>
        <p:nvSpPr>
          <p:cNvPr id="55" name="Shape 53"/>
          <p:cNvSpPr/>
          <p:nvPr/>
        </p:nvSpPr>
        <p:spPr>
          <a:xfrm>
            <a:off x="5120640" y="3950208"/>
            <a:ext cx="347472" cy="182880"/>
          </a:xfrm>
          <a:prstGeom prst="roundRect">
            <a:avLst>
              <a:gd name="adj" fmla="val 50000"/>
            </a:avLst>
          </a:prstGeom>
          <a:solidFill>
            <a:srgbClr val="B45309"/>
          </a:solidFill>
          <a:ln/>
        </p:spPr>
      </p:sp>
      <p:sp>
        <p:nvSpPr>
          <p:cNvPr id="56" name="Text 54"/>
          <p:cNvSpPr txBox="1"/>
          <p:nvPr/>
        </p:nvSpPr>
        <p:spPr>
          <a:xfrm>
            <a:off x="5120640" y="3950208"/>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FK</a:t>
            </a:r>
            <a:endParaRPr lang="en-US" sz="800" dirty="0"/>
          </a:p>
        </p:txBody>
      </p:sp>
      <p:sp>
        <p:nvSpPr>
          <p:cNvPr id="57" name="Text 55"/>
          <p:cNvSpPr txBox="1"/>
          <p:nvPr/>
        </p:nvSpPr>
        <p:spPr>
          <a:xfrm>
            <a:off x="3675888" y="4160520"/>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complaint_type</a:t>
            </a:r>
            <a:endParaRPr lang="en-US" sz="1050" dirty="0"/>
          </a:p>
        </p:txBody>
      </p:sp>
      <p:sp>
        <p:nvSpPr>
          <p:cNvPr id="58" name="Text 56"/>
          <p:cNvSpPr txBox="1"/>
          <p:nvPr/>
        </p:nvSpPr>
        <p:spPr>
          <a:xfrm>
            <a:off x="3675888" y="4398264"/>
            <a:ext cx="137160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status</a:t>
            </a:r>
            <a:endParaRPr lang="en-US" sz="1050" dirty="0"/>
          </a:p>
        </p:txBody>
      </p:sp>
      <p:sp>
        <p:nvSpPr>
          <p:cNvPr id="59" name="Shape 57"/>
          <p:cNvSpPr/>
          <p:nvPr/>
        </p:nvSpPr>
        <p:spPr>
          <a:xfrm>
            <a:off x="2468880" y="1828800"/>
            <a:ext cx="1097280" cy="0"/>
          </a:xfrm>
          <a:prstGeom prst="line">
            <a:avLst/>
          </a:prstGeom>
          <a:noFill/>
          <a:ln w="25400">
            <a:solidFill>
              <a:srgbClr val="0B2545"/>
            </a:solidFill>
            <a:prstDash val="solid"/>
          </a:ln>
        </p:spPr>
      </p:sp>
      <p:sp>
        <p:nvSpPr>
          <p:cNvPr id="60" name="Shape 58"/>
          <p:cNvSpPr/>
          <p:nvPr/>
        </p:nvSpPr>
        <p:spPr>
          <a:xfrm>
            <a:off x="5577840" y="1828800"/>
            <a:ext cx="1097280" cy="0"/>
          </a:xfrm>
          <a:prstGeom prst="line">
            <a:avLst/>
          </a:prstGeom>
          <a:noFill/>
          <a:ln w="25400">
            <a:solidFill>
              <a:srgbClr val="0B2545"/>
            </a:solidFill>
            <a:prstDash val="solid"/>
          </a:ln>
        </p:spPr>
      </p:sp>
      <p:sp>
        <p:nvSpPr>
          <p:cNvPr id="61" name="Shape 59"/>
          <p:cNvSpPr/>
          <p:nvPr/>
        </p:nvSpPr>
        <p:spPr>
          <a:xfrm>
            <a:off x="2651760" y="1700784"/>
            <a:ext cx="822960" cy="256032"/>
          </a:xfrm>
          <a:prstGeom prst="roundRect">
            <a:avLst>
              <a:gd name="adj" fmla="val 50000"/>
            </a:avLst>
          </a:prstGeom>
          <a:solidFill>
            <a:srgbClr val="E6EEF8"/>
          </a:solidFill>
          <a:ln/>
        </p:spPr>
      </p:sp>
      <p:sp>
        <p:nvSpPr>
          <p:cNvPr id="62" name="Text 60"/>
          <p:cNvSpPr txBox="1"/>
          <p:nvPr/>
        </p:nvSpPr>
        <p:spPr>
          <a:xfrm>
            <a:off x="2651760" y="1700784"/>
            <a:ext cx="822960" cy="256032"/>
          </a:xfrm>
          <a:prstGeom prst="rect">
            <a:avLst/>
          </a:prstGeom>
          <a:noFill/>
          <a:ln/>
        </p:spPr>
        <p:txBody>
          <a:bodyPr wrap="square" lIns="0" tIns="0" rIns="0" bIns="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is assigned</a:t>
            </a:r>
            <a:endParaRPr lang="en-US" sz="950" dirty="0"/>
          </a:p>
        </p:txBody>
      </p:sp>
      <p:sp>
        <p:nvSpPr>
          <p:cNvPr id="63" name="Shape 61"/>
          <p:cNvSpPr/>
          <p:nvPr/>
        </p:nvSpPr>
        <p:spPr>
          <a:xfrm>
            <a:off x="5760720" y="1700784"/>
            <a:ext cx="822960" cy="256032"/>
          </a:xfrm>
          <a:prstGeom prst="roundRect">
            <a:avLst>
              <a:gd name="adj" fmla="val 50000"/>
            </a:avLst>
          </a:prstGeom>
          <a:solidFill>
            <a:srgbClr val="E6EEF8"/>
          </a:solidFill>
          <a:ln/>
        </p:spPr>
      </p:sp>
      <p:sp>
        <p:nvSpPr>
          <p:cNvPr id="64" name="Text 62"/>
          <p:cNvSpPr txBox="1"/>
          <p:nvPr/>
        </p:nvSpPr>
        <p:spPr>
          <a:xfrm>
            <a:off x="5760720" y="1700784"/>
            <a:ext cx="822960" cy="256032"/>
          </a:xfrm>
          <a:prstGeom prst="rect">
            <a:avLst/>
          </a:prstGeom>
          <a:noFill/>
          <a:ln/>
        </p:spPr>
        <p:txBody>
          <a:bodyPr wrap="square" lIns="0" tIns="0" rIns="0" bIns="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for room</a:t>
            </a:r>
            <a:endParaRPr lang="en-US" sz="950" dirty="0"/>
          </a:p>
        </p:txBody>
      </p:sp>
      <p:sp>
        <p:nvSpPr>
          <p:cNvPr id="65" name="Text 63"/>
          <p:cNvSpPr txBox="1"/>
          <p:nvPr/>
        </p:nvSpPr>
        <p:spPr>
          <a:xfrm>
            <a:off x="2514600" y="1536192"/>
            <a:ext cx="182880" cy="228600"/>
          </a:xfrm>
          <a:prstGeom prst="rect">
            <a:avLst/>
          </a:prstGeom>
          <a:noFill/>
          <a:ln/>
        </p:spPr>
        <p:txBody>
          <a:bodyPr wrap="square" lIns="0" tIns="0" rIns="0" bIns="0" rtlCol="0" anchor="t"/>
          <a:lstStyle/>
          <a:p>
            <a:pPr indent="0" marL="0">
              <a:buNone/>
            </a:pPr>
            <a:r>
              <a:rPr lang="en-US" sz="1300" b="1" dirty="0">
                <a:solidFill>
                  <a:srgbClr val="13478F"/>
                </a:solidFill>
                <a:latin typeface="Calibri" pitchFamily="34" charset="0"/>
                <a:ea typeface="Calibri" pitchFamily="34" charset="-122"/>
                <a:cs typeface="Calibri" pitchFamily="34" charset="-120"/>
              </a:rPr>
              <a:t>1</a:t>
            </a:r>
            <a:endParaRPr lang="en-US" sz="1300" dirty="0"/>
          </a:p>
        </p:txBody>
      </p:sp>
      <p:sp>
        <p:nvSpPr>
          <p:cNvPr id="66" name="Text 64"/>
          <p:cNvSpPr txBox="1"/>
          <p:nvPr/>
        </p:nvSpPr>
        <p:spPr>
          <a:xfrm>
            <a:off x="3337560" y="1536192"/>
            <a:ext cx="228600" cy="228600"/>
          </a:xfrm>
          <a:prstGeom prst="rect">
            <a:avLst/>
          </a:prstGeom>
          <a:noFill/>
          <a:ln/>
        </p:spPr>
        <p:txBody>
          <a:bodyPr wrap="square" lIns="0" tIns="0" rIns="0" bIns="0" rtlCol="0" anchor="t"/>
          <a:lstStyle/>
          <a:p>
            <a:pPr indent="0" marL="0">
              <a:buNone/>
            </a:pPr>
            <a:r>
              <a:rPr lang="en-US" sz="1300" b="1" dirty="0">
                <a:solidFill>
                  <a:srgbClr val="13478F"/>
                </a:solidFill>
                <a:latin typeface="Calibri" pitchFamily="34" charset="0"/>
                <a:ea typeface="Calibri" pitchFamily="34" charset="-122"/>
                <a:cs typeface="Calibri" pitchFamily="34" charset="-120"/>
              </a:rPr>
              <a:t>M</a:t>
            </a:r>
            <a:endParaRPr lang="en-US" sz="1300" dirty="0"/>
          </a:p>
        </p:txBody>
      </p:sp>
      <p:sp>
        <p:nvSpPr>
          <p:cNvPr id="67" name="Text 65"/>
          <p:cNvSpPr txBox="1"/>
          <p:nvPr/>
        </p:nvSpPr>
        <p:spPr>
          <a:xfrm>
            <a:off x="5623560" y="1536192"/>
            <a:ext cx="228600" cy="228600"/>
          </a:xfrm>
          <a:prstGeom prst="rect">
            <a:avLst/>
          </a:prstGeom>
          <a:noFill/>
          <a:ln/>
        </p:spPr>
        <p:txBody>
          <a:bodyPr wrap="square" lIns="0" tIns="0" rIns="0" bIns="0" rtlCol="0" anchor="t"/>
          <a:lstStyle/>
          <a:p>
            <a:pPr indent="0" marL="0">
              <a:buNone/>
            </a:pPr>
            <a:r>
              <a:rPr lang="en-US" sz="1300" b="1" dirty="0">
                <a:solidFill>
                  <a:srgbClr val="13478F"/>
                </a:solidFill>
                <a:latin typeface="Calibri" pitchFamily="34" charset="0"/>
                <a:ea typeface="Calibri" pitchFamily="34" charset="-122"/>
                <a:cs typeface="Calibri" pitchFamily="34" charset="-120"/>
              </a:rPr>
              <a:t>M</a:t>
            </a:r>
            <a:endParaRPr lang="en-US" sz="1300" dirty="0"/>
          </a:p>
        </p:txBody>
      </p:sp>
      <p:sp>
        <p:nvSpPr>
          <p:cNvPr id="68" name="Text 66"/>
          <p:cNvSpPr txBox="1"/>
          <p:nvPr/>
        </p:nvSpPr>
        <p:spPr>
          <a:xfrm>
            <a:off x="6492240" y="1536192"/>
            <a:ext cx="182880" cy="228600"/>
          </a:xfrm>
          <a:prstGeom prst="rect">
            <a:avLst/>
          </a:prstGeom>
          <a:noFill/>
          <a:ln/>
        </p:spPr>
        <p:txBody>
          <a:bodyPr wrap="square" lIns="0" tIns="0" rIns="0" bIns="0" rtlCol="0" anchor="t"/>
          <a:lstStyle/>
          <a:p>
            <a:pPr indent="0" marL="0">
              <a:buNone/>
            </a:pPr>
            <a:r>
              <a:rPr lang="en-US" sz="1300" b="1" dirty="0">
                <a:solidFill>
                  <a:srgbClr val="13478F"/>
                </a:solidFill>
                <a:latin typeface="Calibri" pitchFamily="34" charset="0"/>
                <a:ea typeface="Calibri" pitchFamily="34" charset="-122"/>
                <a:cs typeface="Calibri" pitchFamily="34" charset="-120"/>
              </a:rPr>
              <a:t>1</a:t>
            </a:r>
            <a:endParaRPr lang="en-US" sz="1300" dirty="0"/>
          </a:p>
        </p:txBody>
      </p:sp>
      <p:sp>
        <p:nvSpPr>
          <p:cNvPr id="69" name="Shape 67"/>
          <p:cNvSpPr/>
          <p:nvPr/>
        </p:nvSpPr>
        <p:spPr>
          <a:xfrm>
            <a:off x="1463040" y="2596896"/>
            <a:ext cx="0" cy="740664"/>
          </a:xfrm>
          <a:prstGeom prst="line">
            <a:avLst/>
          </a:prstGeom>
          <a:noFill/>
          <a:ln w="25400">
            <a:solidFill>
              <a:srgbClr val="0B2545"/>
            </a:solidFill>
            <a:prstDash val="solid"/>
          </a:ln>
        </p:spPr>
      </p:sp>
      <p:sp>
        <p:nvSpPr>
          <p:cNvPr id="70" name="Shape 68"/>
          <p:cNvSpPr/>
          <p:nvPr/>
        </p:nvSpPr>
        <p:spPr>
          <a:xfrm>
            <a:off x="1463040" y="3017520"/>
            <a:ext cx="3108960" cy="0"/>
          </a:xfrm>
          <a:prstGeom prst="line">
            <a:avLst/>
          </a:prstGeom>
          <a:noFill/>
          <a:ln w="25400">
            <a:solidFill>
              <a:srgbClr val="0B2545"/>
            </a:solidFill>
            <a:prstDash val="solid"/>
          </a:ln>
        </p:spPr>
      </p:sp>
      <p:sp>
        <p:nvSpPr>
          <p:cNvPr id="71" name="Shape 69"/>
          <p:cNvSpPr/>
          <p:nvPr/>
        </p:nvSpPr>
        <p:spPr>
          <a:xfrm>
            <a:off x="4572000" y="3017520"/>
            <a:ext cx="0" cy="320040"/>
          </a:xfrm>
          <a:prstGeom prst="line">
            <a:avLst/>
          </a:prstGeom>
          <a:noFill/>
          <a:ln w="25400">
            <a:solidFill>
              <a:srgbClr val="0B2545"/>
            </a:solidFill>
            <a:prstDash val="solid"/>
          </a:ln>
        </p:spPr>
      </p:sp>
      <p:sp>
        <p:nvSpPr>
          <p:cNvPr id="72" name="Text 70"/>
          <p:cNvSpPr txBox="1"/>
          <p:nvPr/>
        </p:nvSpPr>
        <p:spPr>
          <a:xfrm>
            <a:off x="1536192" y="2697480"/>
            <a:ext cx="182880" cy="228600"/>
          </a:xfrm>
          <a:prstGeom prst="rect">
            <a:avLst/>
          </a:prstGeom>
          <a:noFill/>
          <a:ln/>
        </p:spPr>
        <p:txBody>
          <a:bodyPr wrap="square" lIns="0" tIns="0" rIns="0" bIns="0" rtlCol="0" anchor="t"/>
          <a:lstStyle/>
          <a:p>
            <a:pPr indent="0" marL="0">
              <a:buNone/>
            </a:pPr>
            <a:r>
              <a:rPr lang="en-US" sz="1300" b="1" dirty="0">
                <a:solidFill>
                  <a:srgbClr val="13478F"/>
                </a:solidFill>
                <a:latin typeface="Calibri" pitchFamily="34" charset="0"/>
                <a:ea typeface="Calibri" pitchFamily="34" charset="-122"/>
                <a:cs typeface="Calibri" pitchFamily="34" charset="-120"/>
              </a:rPr>
              <a:t>1</a:t>
            </a:r>
            <a:endParaRPr lang="en-US" sz="1300" dirty="0"/>
          </a:p>
        </p:txBody>
      </p:sp>
      <p:sp>
        <p:nvSpPr>
          <p:cNvPr id="73" name="Text 71"/>
          <p:cNvSpPr txBox="1"/>
          <p:nvPr/>
        </p:nvSpPr>
        <p:spPr>
          <a:xfrm>
            <a:off x="1536192" y="3127248"/>
            <a:ext cx="228600" cy="228600"/>
          </a:xfrm>
          <a:prstGeom prst="rect">
            <a:avLst/>
          </a:prstGeom>
          <a:noFill/>
          <a:ln/>
        </p:spPr>
        <p:txBody>
          <a:bodyPr wrap="square" lIns="0" tIns="0" rIns="0" bIns="0" rtlCol="0" anchor="t"/>
          <a:lstStyle/>
          <a:p>
            <a:pPr indent="0" marL="0">
              <a:buNone/>
            </a:pPr>
            <a:r>
              <a:rPr lang="en-US" sz="1300" b="1" dirty="0">
                <a:solidFill>
                  <a:srgbClr val="13478F"/>
                </a:solidFill>
                <a:latin typeface="Calibri" pitchFamily="34" charset="0"/>
                <a:ea typeface="Calibri" pitchFamily="34" charset="-122"/>
                <a:cs typeface="Calibri" pitchFamily="34" charset="-120"/>
              </a:rPr>
              <a:t>M</a:t>
            </a:r>
            <a:endParaRPr lang="en-US" sz="1300" dirty="0"/>
          </a:p>
        </p:txBody>
      </p:sp>
      <p:sp>
        <p:nvSpPr>
          <p:cNvPr id="74" name="Text 72"/>
          <p:cNvSpPr txBox="1"/>
          <p:nvPr/>
        </p:nvSpPr>
        <p:spPr>
          <a:xfrm>
            <a:off x="4645152" y="3127248"/>
            <a:ext cx="228600" cy="228600"/>
          </a:xfrm>
          <a:prstGeom prst="rect">
            <a:avLst/>
          </a:prstGeom>
          <a:noFill/>
          <a:ln/>
        </p:spPr>
        <p:txBody>
          <a:bodyPr wrap="square" lIns="0" tIns="0" rIns="0" bIns="0" rtlCol="0" anchor="t"/>
          <a:lstStyle/>
          <a:p>
            <a:pPr indent="0" marL="0">
              <a:buNone/>
            </a:pPr>
            <a:r>
              <a:rPr lang="en-US" sz="1300" b="1" dirty="0">
                <a:solidFill>
                  <a:srgbClr val="13478F"/>
                </a:solidFill>
                <a:latin typeface="Calibri" pitchFamily="34" charset="0"/>
                <a:ea typeface="Calibri" pitchFamily="34" charset="-122"/>
                <a:cs typeface="Calibri" pitchFamily="34" charset="-120"/>
              </a:rPr>
              <a:t>M</a:t>
            </a:r>
            <a:endParaRPr lang="en-US" sz="1300" dirty="0"/>
          </a:p>
        </p:txBody>
      </p:sp>
      <p:sp>
        <p:nvSpPr>
          <p:cNvPr id="75" name="Shape 73"/>
          <p:cNvSpPr/>
          <p:nvPr/>
        </p:nvSpPr>
        <p:spPr>
          <a:xfrm>
            <a:off x="1737360" y="2889504"/>
            <a:ext cx="548640" cy="256032"/>
          </a:xfrm>
          <a:prstGeom prst="roundRect">
            <a:avLst>
              <a:gd name="adj" fmla="val 50000"/>
            </a:avLst>
          </a:prstGeom>
          <a:solidFill>
            <a:srgbClr val="E6EEF8"/>
          </a:solidFill>
          <a:ln/>
        </p:spPr>
      </p:sp>
      <p:sp>
        <p:nvSpPr>
          <p:cNvPr id="76" name="Text 74"/>
          <p:cNvSpPr txBox="1"/>
          <p:nvPr/>
        </p:nvSpPr>
        <p:spPr>
          <a:xfrm>
            <a:off x="1737360" y="2889504"/>
            <a:ext cx="548640" cy="256032"/>
          </a:xfrm>
          <a:prstGeom prst="rect">
            <a:avLst/>
          </a:prstGeom>
          <a:noFill/>
          <a:ln/>
        </p:spPr>
        <p:txBody>
          <a:bodyPr wrap="square" lIns="0" tIns="0" rIns="0" bIns="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pays</a:t>
            </a:r>
            <a:endParaRPr lang="en-US" sz="950" dirty="0"/>
          </a:p>
        </p:txBody>
      </p:sp>
      <p:sp>
        <p:nvSpPr>
          <p:cNvPr id="77" name="Shape 75"/>
          <p:cNvSpPr/>
          <p:nvPr/>
        </p:nvSpPr>
        <p:spPr>
          <a:xfrm>
            <a:off x="2788920" y="2889504"/>
            <a:ext cx="640080" cy="256032"/>
          </a:xfrm>
          <a:prstGeom prst="roundRect">
            <a:avLst>
              <a:gd name="adj" fmla="val 50000"/>
            </a:avLst>
          </a:prstGeom>
          <a:solidFill>
            <a:srgbClr val="E6EEF8"/>
          </a:solidFill>
          <a:ln/>
        </p:spPr>
      </p:sp>
      <p:sp>
        <p:nvSpPr>
          <p:cNvPr id="78" name="Text 76"/>
          <p:cNvSpPr txBox="1"/>
          <p:nvPr/>
        </p:nvSpPr>
        <p:spPr>
          <a:xfrm>
            <a:off x="2788920" y="2889504"/>
            <a:ext cx="640080" cy="256032"/>
          </a:xfrm>
          <a:prstGeom prst="rect">
            <a:avLst/>
          </a:prstGeom>
          <a:noFill/>
          <a:ln/>
        </p:spPr>
        <p:txBody>
          <a:bodyPr wrap="square" lIns="0" tIns="0" rIns="0" bIns="0" rtlCol="0" anchor="ctr"/>
          <a:lstStyle/>
          <a:p>
            <a:pPr algn="ctr" indent="0" marL="0">
              <a:buNone/>
            </a:pPr>
            <a:r>
              <a:rPr lang="en-US" sz="950" b="1" dirty="0">
                <a:solidFill>
                  <a:srgbClr val="0B2545"/>
                </a:solidFill>
                <a:latin typeface="Calibri" pitchFamily="34" charset="0"/>
                <a:ea typeface="Calibri" pitchFamily="34" charset="-122"/>
                <a:cs typeface="Calibri" pitchFamily="34" charset="-120"/>
              </a:rPr>
              <a:t>raises</a:t>
            </a:r>
            <a:endParaRPr lang="en-US" sz="950" dirty="0"/>
          </a:p>
        </p:txBody>
      </p:sp>
      <p:sp>
        <p:nvSpPr>
          <p:cNvPr id="79" name="Shape 77"/>
          <p:cNvSpPr/>
          <p:nvPr/>
        </p:nvSpPr>
        <p:spPr>
          <a:xfrm>
            <a:off x="6675120" y="3337560"/>
            <a:ext cx="2011680" cy="1234440"/>
          </a:xfrm>
          <a:prstGeom prst="roundRect">
            <a:avLst>
              <a:gd name="adj" fmla="val 5926"/>
            </a:avLst>
          </a:prstGeom>
          <a:solidFill>
            <a:srgbClr val="F2F4F8"/>
          </a:solidFill>
          <a:ln/>
        </p:spPr>
      </p:sp>
      <p:sp>
        <p:nvSpPr>
          <p:cNvPr id="80" name="Text 78"/>
          <p:cNvSpPr txBox="1"/>
          <p:nvPr/>
        </p:nvSpPr>
        <p:spPr>
          <a:xfrm>
            <a:off x="6812280" y="3401568"/>
            <a:ext cx="1737360" cy="22860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Legend</a:t>
            </a:r>
            <a:endParaRPr lang="en-US" sz="1150" dirty="0"/>
          </a:p>
        </p:txBody>
      </p:sp>
      <p:sp>
        <p:nvSpPr>
          <p:cNvPr id="81" name="Shape 79"/>
          <p:cNvSpPr/>
          <p:nvPr/>
        </p:nvSpPr>
        <p:spPr>
          <a:xfrm>
            <a:off x="6812280" y="3685032"/>
            <a:ext cx="347472" cy="182880"/>
          </a:xfrm>
          <a:prstGeom prst="roundRect">
            <a:avLst>
              <a:gd name="adj" fmla="val 50000"/>
            </a:avLst>
          </a:prstGeom>
          <a:solidFill>
            <a:srgbClr val="13478F"/>
          </a:solidFill>
          <a:ln/>
        </p:spPr>
      </p:sp>
      <p:sp>
        <p:nvSpPr>
          <p:cNvPr id="82" name="Text 80"/>
          <p:cNvSpPr txBox="1"/>
          <p:nvPr/>
        </p:nvSpPr>
        <p:spPr>
          <a:xfrm>
            <a:off x="6812280" y="3685032"/>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PK</a:t>
            </a:r>
            <a:endParaRPr lang="en-US" sz="800" dirty="0"/>
          </a:p>
        </p:txBody>
      </p:sp>
      <p:sp>
        <p:nvSpPr>
          <p:cNvPr id="83" name="Text 81"/>
          <p:cNvSpPr txBox="1"/>
          <p:nvPr/>
        </p:nvSpPr>
        <p:spPr>
          <a:xfrm>
            <a:off x="7269480" y="3657600"/>
            <a:ext cx="128016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Primary key</a:t>
            </a:r>
            <a:endParaRPr lang="en-US" sz="1050" dirty="0"/>
          </a:p>
        </p:txBody>
      </p:sp>
      <p:sp>
        <p:nvSpPr>
          <p:cNvPr id="84" name="Shape 82"/>
          <p:cNvSpPr/>
          <p:nvPr/>
        </p:nvSpPr>
        <p:spPr>
          <a:xfrm>
            <a:off x="6812280" y="3959352"/>
            <a:ext cx="347472" cy="182880"/>
          </a:xfrm>
          <a:prstGeom prst="roundRect">
            <a:avLst>
              <a:gd name="adj" fmla="val 50000"/>
            </a:avLst>
          </a:prstGeom>
          <a:solidFill>
            <a:srgbClr val="B45309"/>
          </a:solidFill>
          <a:ln/>
        </p:spPr>
      </p:sp>
      <p:sp>
        <p:nvSpPr>
          <p:cNvPr id="85" name="Text 83"/>
          <p:cNvSpPr txBox="1"/>
          <p:nvPr/>
        </p:nvSpPr>
        <p:spPr>
          <a:xfrm>
            <a:off x="6812280" y="3959352"/>
            <a:ext cx="347472"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FK</a:t>
            </a:r>
            <a:endParaRPr lang="en-US" sz="800" dirty="0"/>
          </a:p>
        </p:txBody>
      </p:sp>
      <p:sp>
        <p:nvSpPr>
          <p:cNvPr id="86" name="Text 84"/>
          <p:cNvSpPr txBox="1"/>
          <p:nvPr/>
        </p:nvSpPr>
        <p:spPr>
          <a:xfrm>
            <a:off x="7269480" y="3931920"/>
            <a:ext cx="1280160" cy="23774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Foreign key</a:t>
            </a:r>
            <a:endParaRPr lang="en-US" sz="1050" dirty="0"/>
          </a:p>
        </p:txBody>
      </p:sp>
      <p:sp>
        <p:nvSpPr>
          <p:cNvPr id="87" name="Text 85"/>
          <p:cNvSpPr txBox="1"/>
          <p:nvPr/>
        </p:nvSpPr>
        <p:spPr>
          <a:xfrm>
            <a:off x="6812280" y="4224528"/>
            <a:ext cx="1737360" cy="237744"/>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1 = one    M = many</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315200" y="219456"/>
            <a:ext cx="1371600" cy="274320"/>
          </a:xfrm>
          <a:prstGeom prst="roundRect">
            <a:avLst>
              <a:gd name="adj" fmla="val 50000"/>
            </a:avLst>
          </a:prstGeom>
          <a:solidFill>
            <a:srgbClr val="0F766E"/>
          </a:solidFill>
          <a:ln/>
        </p:spPr>
      </p:sp>
      <p:sp>
        <p:nvSpPr>
          <p:cNvPr id="3" name="Text 1"/>
          <p:cNvSpPr txBox="1"/>
          <p:nvPr/>
        </p:nvSpPr>
        <p:spPr>
          <a:xfrm>
            <a:off x="7315200" y="219456"/>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PLANNED</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Technologies Used</a:t>
            </a:r>
            <a:endParaRPr lang="en-US" sz="2600" dirty="0"/>
          </a:p>
        </p:txBody>
      </p:sp>
      <p:sp>
        <p:nvSpPr>
          <p:cNvPr id="5" name="Shape 3"/>
          <p:cNvSpPr/>
          <p:nvPr/>
        </p:nvSpPr>
        <p:spPr>
          <a:xfrm>
            <a:off x="457200" y="1234440"/>
            <a:ext cx="2468880" cy="2011680"/>
          </a:xfrm>
          <a:prstGeom prst="roundRect">
            <a:avLst>
              <a:gd name="adj" fmla="val 3636"/>
            </a:avLst>
          </a:prstGeom>
          <a:solidFill>
            <a:srgbClr val="F2F4F8"/>
          </a:solidFill>
          <a:ln/>
          <a:effectLst>
            <a:outerShdw sx="100000" sy="100000" kx="0" ky="0" algn="bl" rotWithShape="0" blurRad="76200" dist="25400" dir="5400000">
              <a:srgbClr val="000000">
                <a:alpha val="12000"/>
              </a:srgbClr>
            </a:outerShdw>
          </a:effectLst>
        </p:spPr>
      </p:sp>
      <p:sp>
        <p:nvSpPr>
          <p:cNvPr id="6" name="Shape 4"/>
          <p:cNvSpPr/>
          <p:nvPr/>
        </p:nvSpPr>
        <p:spPr>
          <a:xfrm>
            <a:off x="457200" y="1234440"/>
            <a:ext cx="2468880" cy="411480"/>
          </a:xfrm>
          <a:prstGeom prst="roundRect">
            <a:avLst>
              <a:gd name="adj" fmla="val 17778"/>
            </a:avLst>
          </a:prstGeom>
          <a:solidFill>
            <a:srgbClr val="0B2545"/>
          </a:solidFill>
          <a:ln/>
        </p:spPr>
      </p:sp>
      <p:sp>
        <p:nvSpPr>
          <p:cNvPr id="7" name="Text 5"/>
          <p:cNvSpPr txBox="1"/>
          <p:nvPr/>
        </p:nvSpPr>
        <p:spPr>
          <a:xfrm>
            <a:off x="457200" y="123444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Frontend</a:t>
            </a:r>
            <a:endParaRPr lang="en-US" sz="1400" dirty="0"/>
          </a:p>
        </p:txBody>
      </p:sp>
      <p:sp>
        <p:nvSpPr>
          <p:cNvPr id="8" name="Shape 6"/>
          <p:cNvSpPr/>
          <p:nvPr/>
        </p:nvSpPr>
        <p:spPr>
          <a:xfrm>
            <a:off x="777240" y="1810512"/>
            <a:ext cx="365760" cy="365760"/>
          </a:xfrm>
          <a:prstGeom prst="ellipse">
            <a:avLst/>
          </a:prstGeom>
          <a:solidFill>
            <a:srgbClr val="13478F"/>
          </a:solidFill>
          <a:ln/>
        </p:spPr>
      </p:sp>
      <p:pic>
        <p:nvPicPr>
          <p:cNvPr id="9" name="Image 0" descr="preencoded.png">    </p:cNvPr>
          <p:cNvPicPr>
            <a:picLocks noChangeAspect="1"/>
          </p:cNvPicPr>
          <p:nvPr/>
        </p:nvPicPr>
        <p:blipFill>
          <a:blip r:embed="rId1"/>
          <a:stretch>
            <a:fillRect/>
          </a:stretch>
        </p:blipFill>
        <p:spPr>
          <a:xfrm>
            <a:off x="865022" y="1898294"/>
            <a:ext cx="190195" cy="190195"/>
          </a:xfrm>
          <a:prstGeom prst="rect">
            <a:avLst/>
          </a:prstGeom>
        </p:spPr>
      </p:pic>
      <p:sp>
        <p:nvSpPr>
          <p:cNvPr id="10" name="Text 7"/>
          <p:cNvSpPr txBox="1"/>
          <p:nvPr/>
        </p:nvSpPr>
        <p:spPr>
          <a:xfrm>
            <a:off x="1325880" y="1810512"/>
            <a:ext cx="14630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HTML</a:t>
            </a:r>
            <a:endParaRPr lang="en-US" sz="1400" dirty="0"/>
          </a:p>
        </p:txBody>
      </p:sp>
      <p:sp>
        <p:nvSpPr>
          <p:cNvPr id="11" name="Shape 8"/>
          <p:cNvSpPr/>
          <p:nvPr/>
        </p:nvSpPr>
        <p:spPr>
          <a:xfrm>
            <a:off x="777240" y="2267712"/>
            <a:ext cx="365760" cy="365760"/>
          </a:xfrm>
          <a:prstGeom prst="ellipse">
            <a:avLst/>
          </a:prstGeom>
          <a:solidFill>
            <a:srgbClr val="13478F"/>
          </a:solidFill>
          <a:ln/>
        </p:spPr>
      </p:sp>
      <p:pic>
        <p:nvPicPr>
          <p:cNvPr id="12" name="Image 1" descr="preencoded.png">    </p:cNvPr>
          <p:cNvPicPr>
            <a:picLocks noChangeAspect="1"/>
          </p:cNvPicPr>
          <p:nvPr/>
        </p:nvPicPr>
        <p:blipFill>
          <a:blip r:embed="rId2"/>
          <a:stretch>
            <a:fillRect/>
          </a:stretch>
        </p:blipFill>
        <p:spPr>
          <a:xfrm>
            <a:off x="865022" y="2355494"/>
            <a:ext cx="190195" cy="190195"/>
          </a:xfrm>
          <a:prstGeom prst="rect">
            <a:avLst/>
          </a:prstGeom>
        </p:spPr>
      </p:pic>
      <p:sp>
        <p:nvSpPr>
          <p:cNvPr id="13" name="Text 9"/>
          <p:cNvSpPr txBox="1"/>
          <p:nvPr/>
        </p:nvSpPr>
        <p:spPr>
          <a:xfrm>
            <a:off x="1325880" y="2267712"/>
            <a:ext cx="14630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CSS</a:t>
            </a:r>
            <a:endParaRPr lang="en-US" sz="1400" dirty="0"/>
          </a:p>
        </p:txBody>
      </p:sp>
      <p:sp>
        <p:nvSpPr>
          <p:cNvPr id="14" name="Shape 10"/>
          <p:cNvSpPr/>
          <p:nvPr/>
        </p:nvSpPr>
        <p:spPr>
          <a:xfrm>
            <a:off x="777240" y="2724912"/>
            <a:ext cx="365760" cy="365760"/>
          </a:xfrm>
          <a:prstGeom prst="ellipse">
            <a:avLst/>
          </a:prstGeom>
          <a:solidFill>
            <a:srgbClr val="13478F"/>
          </a:solidFill>
          <a:ln/>
        </p:spPr>
      </p:sp>
      <p:pic>
        <p:nvPicPr>
          <p:cNvPr id="15" name="Image 2" descr="preencoded.png">    </p:cNvPr>
          <p:cNvPicPr>
            <a:picLocks noChangeAspect="1"/>
          </p:cNvPicPr>
          <p:nvPr/>
        </p:nvPicPr>
        <p:blipFill>
          <a:blip r:embed="rId3"/>
          <a:stretch>
            <a:fillRect/>
          </a:stretch>
        </p:blipFill>
        <p:spPr>
          <a:xfrm>
            <a:off x="865022" y="2812694"/>
            <a:ext cx="190195" cy="190195"/>
          </a:xfrm>
          <a:prstGeom prst="rect">
            <a:avLst/>
          </a:prstGeom>
        </p:spPr>
      </p:pic>
      <p:sp>
        <p:nvSpPr>
          <p:cNvPr id="16" name="Text 11"/>
          <p:cNvSpPr txBox="1"/>
          <p:nvPr/>
        </p:nvSpPr>
        <p:spPr>
          <a:xfrm>
            <a:off x="1325880" y="2724912"/>
            <a:ext cx="14630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JavaScript</a:t>
            </a:r>
            <a:endParaRPr lang="en-US" sz="1400" dirty="0"/>
          </a:p>
        </p:txBody>
      </p:sp>
      <p:sp>
        <p:nvSpPr>
          <p:cNvPr id="17" name="Shape 12"/>
          <p:cNvSpPr/>
          <p:nvPr/>
        </p:nvSpPr>
        <p:spPr>
          <a:xfrm>
            <a:off x="2944368" y="2240280"/>
            <a:ext cx="374904" cy="0"/>
          </a:xfrm>
          <a:prstGeom prst="line">
            <a:avLst/>
          </a:prstGeom>
          <a:noFill/>
          <a:ln w="31750">
            <a:solidFill>
              <a:srgbClr val="13478F"/>
            </a:solidFill>
            <a:prstDash val="solid"/>
            <a:tailEnd type="triangle"/>
          </a:ln>
        </p:spPr>
      </p:sp>
      <p:sp>
        <p:nvSpPr>
          <p:cNvPr id="18" name="Shape 13"/>
          <p:cNvSpPr/>
          <p:nvPr/>
        </p:nvSpPr>
        <p:spPr>
          <a:xfrm>
            <a:off x="3337560" y="1234440"/>
            <a:ext cx="2468880" cy="2011680"/>
          </a:xfrm>
          <a:prstGeom prst="roundRect">
            <a:avLst>
              <a:gd name="adj" fmla="val 3636"/>
            </a:avLst>
          </a:prstGeom>
          <a:solidFill>
            <a:srgbClr val="F2F4F8"/>
          </a:solidFill>
          <a:ln/>
          <a:effectLst>
            <a:outerShdw sx="100000" sy="100000" kx="0" ky="0" algn="bl" rotWithShape="0" blurRad="76200" dist="25400" dir="5400000">
              <a:srgbClr val="000000">
                <a:alpha val="12000"/>
              </a:srgbClr>
            </a:outerShdw>
          </a:effectLst>
        </p:spPr>
      </p:sp>
      <p:sp>
        <p:nvSpPr>
          <p:cNvPr id="19" name="Shape 14"/>
          <p:cNvSpPr/>
          <p:nvPr/>
        </p:nvSpPr>
        <p:spPr>
          <a:xfrm>
            <a:off x="3337560" y="1234440"/>
            <a:ext cx="2468880" cy="411480"/>
          </a:xfrm>
          <a:prstGeom prst="roundRect">
            <a:avLst>
              <a:gd name="adj" fmla="val 17778"/>
            </a:avLst>
          </a:prstGeom>
          <a:solidFill>
            <a:srgbClr val="0B2545"/>
          </a:solidFill>
          <a:ln/>
        </p:spPr>
      </p:sp>
      <p:sp>
        <p:nvSpPr>
          <p:cNvPr id="20" name="Text 15"/>
          <p:cNvSpPr txBox="1"/>
          <p:nvPr/>
        </p:nvSpPr>
        <p:spPr>
          <a:xfrm>
            <a:off x="3337560" y="123444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Backend</a:t>
            </a:r>
            <a:endParaRPr lang="en-US" sz="1400" dirty="0"/>
          </a:p>
        </p:txBody>
      </p:sp>
      <p:sp>
        <p:nvSpPr>
          <p:cNvPr id="21" name="Shape 16"/>
          <p:cNvSpPr/>
          <p:nvPr/>
        </p:nvSpPr>
        <p:spPr>
          <a:xfrm>
            <a:off x="3657600" y="1810512"/>
            <a:ext cx="365760" cy="365760"/>
          </a:xfrm>
          <a:prstGeom prst="ellipse">
            <a:avLst/>
          </a:prstGeom>
          <a:solidFill>
            <a:srgbClr val="13478F"/>
          </a:solidFill>
          <a:ln/>
        </p:spPr>
      </p:sp>
      <p:pic>
        <p:nvPicPr>
          <p:cNvPr id="22" name="Image 3" descr="preencoded.png">    </p:cNvPr>
          <p:cNvPicPr>
            <a:picLocks noChangeAspect="1"/>
          </p:cNvPicPr>
          <p:nvPr/>
        </p:nvPicPr>
        <p:blipFill>
          <a:blip r:embed="rId4"/>
          <a:stretch>
            <a:fillRect/>
          </a:stretch>
        </p:blipFill>
        <p:spPr>
          <a:xfrm>
            <a:off x="3745382" y="1898294"/>
            <a:ext cx="190195" cy="190195"/>
          </a:xfrm>
          <a:prstGeom prst="rect">
            <a:avLst/>
          </a:prstGeom>
        </p:spPr>
      </p:pic>
      <p:sp>
        <p:nvSpPr>
          <p:cNvPr id="23" name="Text 17"/>
          <p:cNvSpPr txBox="1"/>
          <p:nvPr/>
        </p:nvSpPr>
        <p:spPr>
          <a:xfrm>
            <a:off x="4206240" y="1810512"/>
            <a:ext cx="14630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Node.js</a:t>
            </a:r>
            <a:endParaRPr lang="en-US" sz="1400" dirty="0"/>
          </a:p>
        </p:txBody>
      </p:sp>
      <p:sp>
        <p:nvSpPr>
          <p:cNvPr id="24" name="Shape 18"/>
          <p:cNvSpPr/>
          <p:nvPr/>
        </p:nvSpPr>
        <p:spPr>
          <a:xfrm>
            <a:off x="3657600" y="2267712"/>
            <a:ext cx="365760" cy="365760"/>
          </a:xfrm>
          <a:prstGeom prst="ellipse">
            <a:avLst/>
          </a:prstGeom>
          <a:solidFill>
            <a:srgbClr val="13478F"/>
          </a:solidFill>
          <a:ln/>
        </p:spPr>
      </p:sp>
      <p:pic>
        <p:nvPicPr>
          <p:cNvPr id="25" name="Image 4" descr="preencoded.png">    </p:cNvPr>
          <p:cNvPicPr>
            <a:picLocks noChangeAspect="1"/>
          </p:cNvPicPr>
          <p:nvPr/>
        </p:nvPicPr>
        <p:blipFill>
          <a:blip r:embed="rId5"/>
          <a:stretch>
            <a:fillRect/>
          </a:stretch>
        </p:blipFill>
        <p:spPr>
          <a:xfrm>
            <a:off x="3745382" y="2355494"/>
            <a:ext cx="190195" cy="190195"/>
          </a:xfrm>
          <a:prstGeom prst="rect">
            <a:avLst/>
          </a:prstGeom>
        </p:spPr>
      </p:pic>
      <p:sp>
        <p:nvSpPr>
          <p:cNvPr id="26" name="Text 19"/>
          <p:cNvSpPr txBox="1"/>
          <p:nvPr/>
        </p:nvSpPr>
        <p:spPr>
          <a:xfrm>
            <a:off x="4206240" y="2267712"/>
            <a:ext cx="14630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Express.js</a:t>
            </a:r>
            <a:endParaRPr lang="en-US" sz="1400" dirty="0"/>
          </a:p>
        </p:txBody>
      </p:sp>
      <p:sp>
        <p:nvSpPr>
          <p:cNvPr id="27" name="Shape 20"/>
          <p:cNvSpPr/>
          <p:nvPr/>
        </p:nvSpPr>
        <p:spPr>
          <a:xfrm>
            <a:off x="5824728" y="2240280"/>
            <a:ext cx="374904" cy="0"/>
          </a:xfrm>
          <a:prstGeom prst="line">
            <a:avLst/>
          </a:prstGeom>
          <a:noFill/>
          <a:ln w="31750">
            <a:solidFill>
              <a:srgbClr val="13478F"/>
            </a:solidFill>
            <a:prstDash val="solid"/>
            <a:tailEnd type="triangle"/>
          </a:ln>
        </p:spPr>
      </p:sp>
      <p:sp>
        <p:nvSpPr>
          <p:cNvPr id="28" name="Shape 21"/>
          <p:cNvSpPr/>
          <p:nvPr/>
        </p:nvSpPr>
        <p:spPr>
          <a:xfrm>
            <a:off x="6217920" y="1234440"/>
            <a:ext cx="2468880" cy="2011680"/>
          </a:xfrm>
          <a:prstGeom prst="roundRect">
            <a:avLst>
              <a:gd name="adj" fmla="val 3636"/>
            </a:avLst>
          </a:prstGeom>
          <a:solidFill>
            <a:srgbClr val="F2F4F8"/>
          </a:solidFill>
          <a:ln/>
          <a:effectLst>
            <a:outerShdw sx="100000" sy="100000" kx="0" ky="0" algn="bl" rotWithShape="0" blurRad="76200" dist="25400" dir="5400000">
              <a:srgbClr val="000000">
                <a:alpha val="12000"/>
              </a:srgbClr>
            </a:outerShdw>
          </a:effectLst>
        </p:spPr>
      </p:sp>
      <p:sp>
        <p:nvSpPr>
          <p:cNvPr id="29" name="Shape 22"/>
          <p:cNvSpPr/>
          <p:nvPr/>
        </p:nvSpPr>
        <p:spPr>
          <a:xfrm>
            <a:off x="6217920" y="1234440"/>
            <a:ext cx="2468880" cy="411480"/>
          </a:xfrm>
          <a:prstGeom prst="roundRect">
            <a:avLst>
              <a:gd name="adj" fmla="val 17778"/>
            </a:avLst>
          </a:prstGeom>
          <a:solidFill>
            <a:srgbClr val="0B2545"/>
          </a:solidFill>
          <a:ln/>
        </p:spPr>
      </p:sp>
      <p:sp>
        <p:nvSpPr>
          <p:cNvPr id="30" name="Text 23"/>
          <p:cNvSpPr txBox="1"/>
          <p:nvPr/>
        </p:nvSpPr>
        <p:spPr>
          <a:xfrm>
            <a:off x="6217920" y="123444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Database</a:t>
            </a:r>
            <a:endParaRPr lang="en-US" sz="1400" dirty="0"/>
          </a:p>
        </p:txBody>
      </p:sp>
      <p:sp>
        <p:nvSpPr>
          <p:cNvPr id="31" name="Shape 24"/>
          <p:cNvSpPr/>
          <p:nvPr/>
        </p:nvSpPr>
        <p:spPr>
          <a:xfrm>
            <a:off x="6537960" y="1810512"/>
            <a:ext cx="365760" cy="365760"/>
          </a:xfrm>
          <a:prstGeom prst="ellipse">
            <a:avLst/>
          </a:prstGeom>
          <a:solidFill>
            <a:srgbClr val="13478F"/>
          </a:solidFill>
          <a:ln/>
        </p:spPr>
      </p:sp>
      <p:pic>
        <p:nvPicPr>
          <p:cNvPr id="32" name="Image 5" descr="preencoded.png">    </p:cNvPr>
          <p:cNvPicPr>
            <a:picLocks noChangeAspect="1"/>
          </p:cNvPicPr>
          <p:nvPr/>
        </p:nvPicPr>
        <p:blipFill>
          <a:blip r:embed="rId6"/>
          <a:stretch>
            <a:fillRect/>
          </a:stretch>
        </p:blipFill>
        <p:spPr>
          <a:xfrm>
            <a:off x="6625742" y="1898294"/>
            <a:ext cx="190195" cy="190195"/>
          </a:xfrm>
          <a:prstGeom prst="rect">
            <a:avLst/>
          </a:prstGeom>
        </p:spPr>
      </p:pic>
      <p:sp>
        <p:nvSpPr>
          <p:cNvPr id="33" name="Text 25"/>
          <p:cNvSpPr txBox="1"/>
          <p:nvPr/>
        </p:nvSpPr>
        <p:spPr>
          <a:xfrm>
            <a:off x="7086600" y="1810512"/>
            <a:ext cx="14630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MySQL</a:t>
            </a:r>
            <a:endParaRPr lang="en-US" sz="1400" dirty="0"/>
          </a:p>
        </p:txBody>
      </p:sp>
      <p:sp>
        <p:nvSpPr>
          <p:cNvPr id="34" name="Shape 26"/>
          <p:cNvSpPr/>
          <p:nvPr/>
        </p:nvSpPr>
        <p:spPr>
          <a:xfrm>
            <a:off x="457200" y="3429000"/>
            <a:ext cx="8229600" cy="777240"/>
          </a:xfrm>
          <a:prstGeom prst="roundRect">
            <a:avLst>
              <a:gd name="adj" fmla="val 9412"/>
            </a:avLst>
          </a:prstGeom>
          <a:solidFill>
            <a:srgbClr val="E6EEF8"/>
          </a:solidFill>
          <a:ln/>
        </p:spPr>
      </p:sp>
      <p:sp>
        <p:nvSpPr>
          <p:cNvPr id="35" name="Text 27"/>
          <p:cNvSpPr txBox="1"/>
          <p:nvPr/>
        </p:nvSpPr>
        <p:spPr>
          <a:xfrm>
            <a:off x="640080" y="3474720"/>
            <a:ext cx="3108960" cy="228600"/>
          </a:xfrm>
          <a:prstGeom prst="rect">
            <a:avLst/>
          </a:prstGeom>
          <a:noFill/>
          <a:ln/>
        </p:spPr>
        <p:txBody>
          <a:bodyPr wrap="square" lIns="0" tIns="0" rIns="0" bIns="0" rtlCol="0" anchor="t"/>
          <a:lstStyle/>
          <a:p>
            <a:pPr indent="0" marL="0">
              <a:buNone/>
            </a:pPr>
            <a:r>
              <a:rPr lang="en-US" sz="1100" b="1" dirty="0">
                <a:solidFill>
                  <a:srgbClr val="0B2545"/>
                </a:solidFill>
                <a:latin typeface="Calibri" pitchFamily="34" charset="0"/>
                <a:ea typeface="Calibri" pitchFamily="34" charset="-122"/>
                <a:cs typeface="Calibri" pitchFamily="34" charset="-120"/>
              </a:rPr>
              <a:t>Development &amp; version control</a:t>
            </a:r>
            <a:endParaRPr lang="en-US" sz="1100" dirty="0"/>
          </a:p>
        </p:txBody>
      </p:sp>
      <p:sp>
        <p:nvSpPr>
          <p:cNvPr id="36" name="Shape 28"/>
          <p:cNvSpPr/>
          <p:nvPr/>
        </p:nvSpPr>
        <p:spPr>
          <a:xfrm>
            <a:off x="640080" y="3749040"/>
            <a:ext cx="347472" cy="347472"/>
          </a:xfrm>
          <a:prstGeom prst="ellipse">
            <a:avLst/>
          </a:prstGeom>
          <a:solidFill>
            <a:srgbClr val="0B2545"/>
          </a:solidFill>
          <a:ln/>
        </p:spPr>
      </p:sp>
      <p:pic>
        <p:nvPicPr>
          <p:cNvPr id="37" name="Image 6" descr="preencoded.png">    </p:cNvPr>
          <p:cNvPicPr>
            <a:picLocks noChangeAspect="1"/>
          </p:cNvPicPr>
          <p:nvPr/>
        </p:nvPicPr>
        <p:blipFill>
          <a:blip r:embed="rId7"/>
          <a:stretch>
            <a:fillRect/>
          </a:stretch>
        </p:blipFill>
        <p:spPr>
          <a:xfrm>
            <a:off x="723473" y="3832433"/>
            <a:ext cx="180685" cy="180685"/>
          </a:xfrm>
          <a:prstGeom prst="rect">
            <a:avLst/>
          </a:prstGeom>
        </p:spPr>
      </p:pic>
      <p:sp>
        <p:nvSpPr>
          <p:cNvPr id="38" name="Text 29"/>
          <p:cNvSpPr txBox="1"/>
          <p:nvPr/>
        </p:nvSpPr>
        <p:spPr>
          <a:xfrm>
            <a:off x="1097280" y="3749040"/>
            <a:ext cx="1828800" cy="34747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VS Code</a:t>
            </a:r>
            <a:endParaRPr lang="en-US" sz="1350" dirty="0"/>
          </a:p>
        </p:txBody>
      </p:sp>
      <p:sp>
        <p:nvSpPr>
          <p:cNvPr id="39" name="Shape 30"/>
          <p:cNvSpPr/>
          <p:nvPr/>
        </p:nvSpPr>
        <p:spPr>
          <a:xfrm>
            <a:off x="3291840" y="3749040"/>
            <a:ext cx="347472" cy="347472"/>
          </a:xfrm>
          <a:prstGeom prst="ellipse">
            <a:avLst/>
          </a:prstGeom>
          <a:solidFill>
            <a:srgbClr val="0B2545"/>
          </a:solidFill>
          <a:ln/>
        </p:spPr>
      </p:sp>
      <p:pic>
        <p:nvPicPr>
          <p:cNvPr id="40" name="Image 7" descr="preencoded.png">    </p:cNvPr>
          <p:cNvPicPr>
            <a:picLocks noChangeAspect="1"/>
          </p:cNvPicPr>
          <p:nvPr/>
        </p:nvPicPr>
        <p:blipFill>
          <a:blip r:embed="rId8"/>
          <a:stretch>
            <a:fillRect/>
          </a:stretch>
        </p:blipFill>
        <p:spPr>
          <a:xfrm>
            <a:off x="3375233" y="3832433"/>
            <a:ext cx="180685" cy="180685"/>
          </a:xfrm>
          <a:prstGeom prst="rect">
            <a:avLst/>
          </a:prstGeom>
        </p:spPr>
      </p:pic>
      <p:sp>
        <p:nvSpPr>
          <p:cNvPr id="41" name="Text 31"/>
          <p:cNvSpPr txBox="1"/>
          <p:nvPr/>
        </p:nvSpPr>
        <p:spPr>
          <a:xfrm>
            <a:off x="3749040" y="3749040"/>
            <a:ext cx="1828800" cy="34747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Git</a:t>
            </a:r>
            <a:endParaRPr lang="en-US" sz="1350" dirty="0"/>
          </a:p>
        </p:txBody>
      </p:sp>
      <p:sp>
        <p:nvSpPr>
          <p:cNvPr id="42" name="Shape 32"/>
          <p:cNvSpPr/>
          <p:nvPr/>
        </p:nvSpPr>
        <p:spPr>
          <a:xfrm>
            <a:off x="5943600" y="3749040"/>
            <a:ext cx="347472" cy="347472"/>
          </a:xfrm>
          <a:prstGeom prst="ellipse">
            <a:avLst/>
          </a:prstGeom>
          <a:solidFill>
            <a:srgbClr val="0B2545"/>
          </a:solidFill>
          <a:ln/>
        </p:spPr>
      </p:sp>
      <p:pic>
        <p:nvPicPr>
          <p:cNvPr id="43" name="Image 8" descr="preencoded.png">    </p:cNvPr>
          <p:cNvPicPr>
            <a:picLocks noChangeAspect="1"/>
          </p:cNvPicPr>
          <p:nvPr/>
        </p:nvPicPr>
        <p:blipFill>
          <a:blip r:embed="rId9"/>
          <a:stretch>
            <a:fillRect/>
          </a:stretch>
        </p:blipFill>
        <p:spPr>
          <a:xfrm>
            <a:off x="6026993" y="3832433"/>
            <a:ext cx="180685" cy="180685"/>
          </a:xfrm>
          <a:prstGeom prst="rect">
            <a:avLst/>
          </a:prstGeom>
        </p:spPr>
      </p:pic>
      <p:sp>
        <p:nvSpPr>
          <p:cNvPr id="44" name="Text 33"/>
          <p:cNvSpPr txBox="1"/>
          <p:nvPr/>
        </p:nvSpPr>
        <p:spPr>
          <a:xfrm>
            <a:off x="6400800" y="3749040"/>
            <a:ext cx="1828800" cy="347472"/>
          </a:xfrm>
          <a:prstGeom prst="rect">
            <a:avLst/>
          </a:prstGeom>
          <a:noFill/>
          <a:ln/>
        </p:spPr>
        <p:txBody>
          <a:bodyPr wrap="square" lIns="0" tIns="0" rIns="0" bIns="0"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GitHub</a:t>
            </a:r>
            <a:endParaRPr lang="en-US" sz="1350" dirty="0"/>
          </a:p>
        </p:txBody>
      </p:sp>
      <p:sp>
        <p:nvSpPr>
          <p:cNvPr id="45" name="Text 34"/>
          <p:cNvSpPr txBox="1"/>
          <p:nvPr/>
        </p:nvSpPr>
        <p:spPr>
          <a:xfrm>
            <a:off x="457200" y="4343400"/>
            <a:ext cx="8229600" cy="256032"/>
          </a:xfrm>
          <a:prstGeom prst="rect">
            <a:avLst/>
          </a:prstGeom>
          <a:noFill/>
          <a:ln/>
        </p:spPr>
        <p:txBody>
          <a:bodyPr wrap="square" lIns="0" tIns="0" rIns="0" bIns="0" rtlCol="0" anchor="t"/>
          <a:lstStyle/>
          <a:p>
            <a:pPr algn="ctr" indent="0" marL="0">
              <a:buNone/>
            </a:pPr>
            <a:r>
              <a:rPr lang="en-US" sz="1100" i="1" dirty="0">
                <a:solidFill>
                  <a:srgbClr val="6B7280"/>
                </a:solidFill>
                <a:latin typeface="Calibri" pitchFamily="34" charset="0"/>
                <a:ea typeface="Calibri" pitchFamily="34" charset="-122"/>
                <a:cs typeface="Calibri" pitchFamily="34" charset="-120"/>
              </a:rPr>
              <a:t>These technologies are specified in our project abstract.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688836" y="219456"/>
            <a:ext cx="1997964" cy="274320"/>
          </a:xfrm>
          <a:prstGeom prst="roundRect">
            <a:avLst>
              <a:gd name="adj" fmla="val 50000"/>
            </a:avLst>
          </a:prstGeom>
          <a:solidFill>
            <a:srgbClr val="0F766E"/>
          </a:solidFill>
          <a:ln/>
        </p:spPr>
      </p:sp>
      <p:sp>
        <p:nvSpPr>
          <p:cNvPr id="3" name="Text 1"/>
          <p:cNvSpPr txBox="1"/>
          <p:nvPr/>
        </p:nvSpPr>
        <p:spPr>
          <a:xfrm>
            <a:off x="6688836" y="219456"/>
            <a:ext cx="199796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REST API DESIGN</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Implementation – Module 3</a:t>
            </a:r>
            <a:endParaRPr lang="en-US" sz="2600" dirty="0"/>
          </a:p>
        </p:txBody>
      </p:sp>
      <p:sp>
        <p:nvSpPr>
          <p:cNvPr id="5" name="Shape 3"/>
          <p:cNvSpPr/>
          <p:nvPr/>
        </p:nvSpPr>
        <p:spPr>
          <a:xfrm>
            <a:off x="457200" y="1234440"/>
            <a:ext cx="2651760" cy="1645920"/>
          </a:xfrm>
          <a:prstGeom prst="roundRect">
            <a:avLst>
              <a:gd name="adj" fmla="val 4444"/>
            </a:avLst>
          </a:prstGeom>
          <a:solidFill>
            <a:srgbClr val="F2F4F8"/>
          </a:solidFill>
          <a:ln/>
          <a:effectLst>
            <a:outerShdw sx="100000" sy="100000" kx="0" ky="0" algn="bl" rotWithShape="0" blurRad="76200" dist="25400" dir="5400000">
              <a:srgbClr val="000000">
                <a:alpha val="12000"/>
              </a:srgbClr>
            </a:outerShdw>
          </a:effectLst>
        </p:spPr>
      </p:sp>
      <p:sp>
        <p:nvSpPr>
          <p:cNvPr id="6" name="Shape 4"/>
          <p:cNvSpPr/>
          <p:nvPr/>
        </p:nvSpPr>
        <p:spPr>
          <a:xfrm>
            <a:off x="566928" y="1307592"/>
            <a:ext cx="292608" cy="292608"/>
          </a:xfrm>
          <a:prstGeom prst="ellipse">
            <a:avLst/>
          </a:prstGeom>
          <a:solidFill>
            <a:srgbClr val="13478F"/>
          </a:solidFill>
          <a:ln/>
        </p:spPr>
      </p:sp>
      <p:pic>
        <p:nvPicPr>
          <p:cNvPr id="7" name="Image 0" descr="preencoded.png">    </p:cNvPr>
          <p:cNvPicPr>
            <a:picLocks noChangeAspect="1"/>
          </p:cNvPicPr>
          <p:nvPr/>
        </p:nvPicPr>
        <p:blipFill>
          <a:blip r:embed="rId1"/>
          <a:stretch>
            <a:fillRect/>
          </a:stretch>
        </p:blipFill>
        <p:spPr>
          <a:xfrm>
            <a:off x="637154" y="1377818"/>
            <a:ext cx="152156" cy="152156"/>
          </a:xfrm>
          <a:prstGeom prst="rect">
            <a:avLst/>
          </a:prstGeom>
        </p:spPr>
      </p:pic>
      <p:sp>
        <p:nvSpPr>
          <p:cNvPr id="8" name="Text 5"/>
          <p:cNvSpPr txBox="1"/>
          <p:nvPr/>
        </p:nvSpPr>
        <p:spPr>
          <a:xfrm>
            <a:off x="960120" y="1307592"/>
            <a:ext cx="201168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Students</a:t>
            </a:r>
            <a:endParaRPr lang="en-US" sz="1250" dirty="0"/>
          </a:p>
        </p:txBody>
      </p:sp>
      <p:sp>
        <p:nvSpPr>
          <p:cNvPr id="9" name="Shape 6"/>
          <p:cNvSpPr/>
          <p:nvPr/>
        </p:nvSpPr>
        <p:spPr>
          <a:xfrm>
            <a:off x="566928" y="1709928"/>
            <a:ext cx="502920" cy="182880"/>
          </a:xfrm>
          <a:prstGeom prst="roundRect">
            <a:avLst>
              <a:gd name="adj" fmla="val 50000"/>
            </a:avLst>
          </a:prstGeom>
          <a:solidFill>
            <a:srgbClr val="1B7F5B"/>
          </a:solidFill>
          <a:ln/>
        </p:spPr>
      </p:sp>
      <p:sp>
        <p:nvSpPr>
          <p:cNvPr id="10" name="Text 7"/>
          <p:cNvSpPr txBox="1"/>
          <p:nvPr/>
        </p:nvSpPr>
        <p:spPr>
          <a:xfrm>
            <a:off x="566928" y="17099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11" name="Text 8"/>
          <p:cNvSpPr txBox="1"/>
          <p:nvPr/>
        </p:nvSpPr>
        <p:spPr>
          <a:xfrm>
            <a:off x="1143000" y="16916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/api/students</a:t>
            </a:r>
            <a:endParaRPr lang="en-US" sz="950" dirty="0"/>
          </a:p>
        </p:txBody>
      </p:sp>
      <p:sp>
        <p:nvSpPr>
          <p:cNvPr id="12" name="Shape 9"/>
          <p:cNvSpPr/>
          <p:nvPr/>
        </p:nvSpPr>
        <p:spPr>
          <a:xfrm>
            <a:off x="566928" y="1938528"/>
            <a:ext cx="502920" cy="182880"/>
          </a:xfrm>
          <a:prstGeom prst="roundRect">
            <a:avLst>
              <a:gd name="adj" fmla="val 50000"/>
            </a:avLst>
          </a:prstGeom>
          <a:solidFill>
            <a:srgbClr val="1B7F5B"/>
          </a:solidFill>
          <a:ln/>
        </p:spPr>
      </p:sp>
      <p:sp>
        <p:nvSpPr>
          <p:cNvPr id="13" name="Text 10"/>
          <p:cNvSpPr txBox="1"/>
          <p:nvPr/>
        </p:nvSpPr>
        <p:spPr>
          <a:xfrm>
            <a:off x="566928" y="19385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14" name="Text 11"/>
          <p:cNvSpPr txBox="1"/>
          <p:nvPr/>
        </p:nvSpPr>
        <p:spPr>
          <a:xfrm>
            <a:off x="1143000" y="19202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/api/students/:id</a:t>
            </a:r>
            <a:endParaRPr lang="en-US" sz="950" dirty="0"/>
          </a:p>
        </p:txBody>
      </p:sp>
      <p:sp>
        <p:nvSpPr>
          <p:cNvPr id="15" name="Shape 12"/>
          <p:cNvSpPr/>
          <p:nvPr/>
        </p:nvSpPr>
        <p:spPr>
          <a:xfrm>
            <a:off x="566928" y="2167128"/>
            <a:ext cx="502920" cy="182880"/>
          </a:xfrm>
          <a:prstGeom prst="roundRect">
            <a:avLst>
              <a:gd name="adj" fmla="val 50000"/>
            </a:avLst>
          </a:prstGeom>
          <a:solidFill>
            <a:srgbClr val="13478F"/>
          </a:solidFill>
          <a:ln/>
        </p:spPr>
      </p:sp>
      <p:sp>
        <p:nvSpPr>
          <p:cNvPr id="16" name="Text 13"/>
          <p:cNvSpPr txBox="1"/>
          <p:nvPr/>
        </p:nvSpPr>
        <p:spPr>
          <a:xfrm>
            <a:off x="566928" y="21671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17" name="Text 14"/>
          <p:cNvSpPr txBox="1"/>
          <p:nvPr/>
        </p:nvSpPr>
        <p:spPr>
          <a:xfrm>
            <a:off x="1143000" y="21488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/api/students</a:t>
            </a:r>
            <a:endParaRPr lang="en-US" sz="950" dirty="0"/>
          </a:p>
        </p:txBody>
      </p:sp>
      <p:sp>
        <p:nvSpPr>
          <p:cNvPr id="18" name="Shape 15"/>
          <p:cNvSpPr/>
          <p:nvPr/>
        </p:nvSpPr>
        <p:spPr>
          <a:xfrm>
            <a:off x="566928" y="2395728"/>
            <a:ext cx="502920" cy="182880"/>
          </a:xfrm>
          <a:prstGeom prst="roundRect">
            <a:avLst>
              <a:gd name="adj" fmla="val 50000"/>
            </a:avLst>
          </a:prstGeom>
          <a:solidFill>
            <a:srgbClr val="B45309"/>
          </a:solidFill>
          <a:ln/>
        </p:spPr>
      </p:sp>
      <p:sp>
        <p:nvSpPr>
          <p:cNvPr id="19" name="Text 16"/>
          <p:cNvSpPr txBox="1"/>
          <p:nvPr/>
        </p:nvSpPr>
        <p:spPr>
          <a:xfrm>
            <a:off x="566928" y="23957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PUT</a:t>
            </a:r>
            <a:endParaRPr lang="en-US" sz="800" dirty="0"/>
          </a:p>
        </p:txBody>
      </p:sp>
      <p:sp>
        <p:nvSpPr>
          <p:cNvPr id="20" name="Text 17"/>
          <p:cNvSpPr txBox="1"/>
          <p:nvPr/>
        </p:nvSpPr>
        <p:spPr>
          <a:xfrm>
            <a:off x="1143000" y="23774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/api/students/:id</a:t>
            </a:r>
            <a:endParaRPr lang="en-US" sz="950" dirty="0"/>
          </a:p>
        </p:txBody>
      </p:sp>
      <p:sp>
        <p:nvSpPr>
          <p:cNvPr id="21" name="Shape 18"/>
          <p:cNvSpPr/>
          <p:nvPr/>
        </p:nvSpPr>
        <p:spPr>
          <a:xfrm>
            <a:off x="566928" y="2624328"/>
            <a:ext cx="502920" cy="182880"/>
          </a:xfrm>
          <a:prstGeom prst="roundRect">
            <a:avLst>
              <a:gd name="adj" fmla="val 50000"/>
            </a:avLst>
          </a:prstGeom>
          <a:solidFill>
            <a:srgbClr val="B3261E"/>
          </a:solidFill>
          <a:ln/>
        </p:spPr>
      </p:sp>
      <p:sp>
        <p:nvSpPr>
          <p:cNvPr id="22" name="Text 19"/>
          <p:cNvSpPr txBox="1"/>
          <p:nvPr/>
        </p:nvSpPr>
        <p:spPr>
          <a:xfrm>
            <a:off x="566928" y="26243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DELETE</a:t>
            </a:r>
            <a:endParaRPr lang="en-US" sz="800" dirty="0"/>
          </a:p>
        </p:txBody>
      </p:sp>
      <p:sp>
        <p:nvSpPr>
          <p:cNvPr id="23" name="Text 20"/>
          <p:cNvSpPr txBox="1"/>
          <p:nvPr/>
        </p:nvSpPr>
        <p:spPr>
          <a:xfrm>
            <a:off x="1143000" y="26060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/api/students/:id</a:t>
            </a:r>
            <a:endParaRPr lang="en-US" sz="950" dirty="0"/>
          </a:p>
        </p:txBody>
      </p:sp>
      <p:sp>
        <p:nvSpPr>
          <p:cNvPr id="24" name="Shape 21"/>
          <p:cNvSpPr/>
          <p:nvPr/>
        </p:nvSpPr>
        <p:spPr>
          <a:xfrm>
            <a:off x="3246120" y="1234440"/>
            <a:ext cx="2651760" cy="1645920"/>
          </a:xfrm>
          <a:prstGeom prst="roundRect">
            <a:avLst>
              <a:gd name="adj" fmla="val 4444"/>
            </a:avLst>
          </a:prstGeom>
          <a:solidFill>
            <a:srgbClr val="F2F4F8"/>
          </a:solidFill>
          <a:ln/>
          <a:effectLst>
            <a:outerShdw sx="100000" sy="100000" kx="0" ky="0" algn="bl" rotWithShape="0" blurRad="76200" dist="25400" dir="5400000">
              <a:srgbClr val="000000">
                <a:alpha val="12000"/>
              </a:srgbClr>
            </a:outerShdw>
          </a:effectLst>
        </p:spPr>
      </p:sp>
      <p:sp>
        <p:nvSpPr>
          <p:cNvPr id="25" name="Shape 22"/>
          <p:cNvSpPr/>
          <p:nvPr/>
        </p:nvSpPr>
        <p:spPr>
          <a:xfrm>
            <a:off x="3355848" y="1307592"/>
            <a:ext cx="292608" cy="292608"/>
          </a:xfrm>
          <a:prstGeom prst="ellipse">
            <a:avLst/>
          </a:prstGeom>
          <a:solidFill>
            <a:srgbClr val="13478F"/>
          </a:solidFill>
          <a:ln/>
        </p:spPr>
      </p:sp>
      <p:pic>
        <p:nvPicPr>
          <p:cNvPr id="26" name="Image 1" descr="preencoded.png">    </p:cNvPr>
          <p:cNvPicPr>
            <a:picLocks noChangeAspect="1"/>
          </p:cNvPicPr>
          <p:nvPr/>
        </p:nvPicPr>
        <p:blipFill>
          <a:blip r:embed="rId2"/>
          <a:stretch>
            <a:fillRect/>
          </a:stretch>
        </p:blipFill>
        <p:spPr>
          <a:xfrm>
            <a:off x="3426074" y="1377818"/>
            <a:ext cx="152156" cy="152156"/>
          </a:xfrm>
          <a:prstGeom prst="rect">
            <a:avLst/>
          </a:prstGeom>
        </p:spPr>
      </p:pic>
      <p:sp>
        <p:nvSpPr>
          <p:cNvPr id="27" name="Text 23"/>
          <p:cNvSpPr txBox="1"/>
          <p:nvPr/>
        </p:nvSpPr>
        <p:spPr>
          <a:xfrm>
            <a:off x="3749040" y="1307592"/>
            <a:ext cx="201168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Rooms</a:t>
            </a:r>
            <a:endParaRPr lang="en-US" sz="1250" dirty="0"/>
          </a:p>
        </p:txBody>
      </p:sp>
      <p:sp>
        <p:nvSpPr>
          <p:cNvPr id="28" name="Shape 24"/>
          <p:cNvSpPr/>
          <p:nvPr/>
        </p:nvSpPr>
        <p:spPr>
          <a:xfrm>
            <a:off x="3355848" y="1709928"/>
            <a:ext cx="502920" cy="182880"/>
          </a:xfrm>
          <a:prstGeom prst="roundRect">
            <a:avLst>
              <a:gd name="adj" fmla="val 50000"/>
            </a:avLst>
          </a:prstGeom>
          <a:solidFill>
            <a:srgbClr val="1B7F5B"/>
          </a:solidFill>
          <a:ln/>
        </p:spPr>
      </p:sp>
      <p:sp>
        <p:nvSpPr>
          <p:cNvPr id="29" name="Text 25"/>
          <p:cNvSpPr txBox="1"/>
          <p:nvPr/>
        </p:nvSpPr>
        <p:spPr>
          <a:xfrm>
            <a:off x="3355848" y="17099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30" name="Text 26"/>
          <p:cNvSpPr txBox="1"/>
          <p:nvPr/>
        </p:nvSpPr>
        <p:spPr>
          <a:xfrm>
            <a:off x="3931920" y="16916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/api/rooms</a:t>
            </a:r>
            <a:endParaRPr lang="en-US" sz="950" dirty="0"/>
          </a:p>
        </p:txBody>
      </p:sp>
      <p:sp>
        <p:nvSpPr>
          <p:cNvPr id="31" name="Shape 27"/>
          <p:cNvSpPr/>
          <p:nvPr/>
        </p:nvSpPr>
        <p:spPr>
          <a:xfrm>
            <a:off x="3355848" y="1938528"/>
            <a:ext cx="502920" cy="182880"/>
          </a:xfrm>
          <a:prstGeom prst="roundRect">
            <a:avLst>
              <a:gd name="adj" fmla="val 50000"/>
            </a:avLst>
          </a:prstGeom>
          <a:solidFill>
            <a:srgbClr val="13478F"/>
          </a:solidFill>
          <a:ln/>
        </p:spPr>
      </p:sp>
      <p:sp>
        <p:nvSpPr>
          <p:cNvPr id="32" name="Text 28"/>
          <p:cNvSpPr txBox="1"/>
          <p:nvPr/>
        </p:nvSpPr>
        <p:spPr>
          <a:xfrm>
            <a:off x="3355848" y="19385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33" name="Text 29"/>
          <p:cNvSpPr txBox="1"/>
          <p:nvPr/>
        </p:nvSpPr>
        <p:spPr>
          <a:xfrm>
            <a:off x="3931920" y="19202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/api/rooms</a:t>
            </a:r>
            <a:endParaRPr lang="en-US" sz="950" dirty="0"/>
          </a:p>
        </p:txBody>
      </p:sp>
      <p:sp>
        <p:nvSpPr>
          <p:cNvPr id="34" name="Shape 30"/>
          <p:cNvSpPr/>
          <p:nvPr/>
        </p:nvSpPr>
        <p:spPr>
          <a:xfrm>
            <a:off x="3355848" y="2167128"/>
            <a:ext cx="502920" cy="182880"/>
          </a:xfrm>
          <a:prstGeom prst="roundRect">
            <a:avLst>
              <a:gd name="adj" fmla="val 50000"/>
            </a:avLst>
          </a:prstGeom>
          <a:solidFill>
            <a:srgbClr val="B45309"/>
          </a:solidFill>
          <a:ln/>
        </p:spPr>
      </p:sp>
      <p:sp>
        <p:nvSpPr>
          <p:cNvPr id="35" name="Text 31"/>
          <p:cNvSpPr txBox="1"/>
          <p:nvPr/>
        </p:nvSpPr>
        <p:spPr>
          <a:xfrm>
            <a:off x="3355848" y="21671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PUT</a:t>
            </a:r>
            <a:endParaRPr lang="en-US" sz="800" dirty="0"/>
          </a:p>
        </p:txBody>
      </p:sp>
      <p:sp>
        <p:nvSpPr>
          <p:cNvPr id="36" name="Text 32"/>
          <p:cNvSpPr txBox="1"/>
          <p:nvPr/>
        </p:nvSpPr>
        <p:spPr>
          <a:xfrm>
            <a:off x="3931920" y="21488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/api/rooms/:id</a:t>
            </a:r>
            <a:endParaRPr lang="en-US" sz="950" dirty="0"/>
          </a:p>
        </p:txBody>
      </p:sp>
      <p:sp>
        <p:nvSpPr>
          <p:cNvPr id="37" name="Shape 33"/>
          <p:cNvSpPr/>
          <p:nvPr/>
        </p:nvSpPr>
        <p:spPr>
          <a:xfrm>
            <a:off x="6035040" y="1234440"/>
            <a:ext cx="2651760" cy="1645920"/>
          </a:xfrm>
          <a:prstGeom prst="roundRect">
            <a:avLst>
              <a:gd name="adj" fmla="val 4444"/>
            </a:avLst>
          </a:prstGeom>
          <a:solidFill>
            <a:srgbClr val="F2F4F8"/>
          </a:solidFill>
          <a:ln/>
          <a:effectLst>
            <a:outerShdw sx="100000" sy="100000" kx="0" ky="0" algn="bl" rotWithShape="0" blurRad="76200" dist="25400" dir="5400000">
              <a:srgbClr val="000000">
                <a:alpha val="12000"/>
              </a:srgbClr>
            </a:outerShdw>
          </a:effectLst>
        </p:spPr>
      </p:sp>
      <p:sp>
        <p:nvSpPr>
          <p:cNvPr id="38" name="Shape 34"/>
          <p:cNvSpPr/>
          <p:nvPr/>
        </p:nvSpPr>
        <p:spPr>
          <a:xfrm>
            <a:off x="6144768" y="1307592"/>
            <a:ext cx="292608" cy="292608"/>
          </a:xfrm>
          <a:prstGeom prst="ellipse">
            <a:avLst/>
          </a:prstGeom>
          <a:solidFill>
            <a:srgbClr val="13478F"/>
          </a:solidFill>
          <a:ln/>
        </p:spPr>
      </p:sp>
      <p:pic>
        <p:nvPicPr>
          <p:cNvPr id="39" name="Image 2" descr="preencoded.png">    </p:cNvPr>
          <p:cNvPicPr>
            <a:picLocks noChangeAspect="1"/>
          </p:cNvPicPr>
          <p:nvPr/>
        </p:nvPicPr>
        <p:blipFill>
          <a:blip r:embed="rId3"/>
          <a:stretch>
            <a:fillRect/>
          </a:stretch>
        </p:blipFill>
        <p:spPr>
          <a:xfrm>
            <a:off x="6214994" y="1377818"/>
            <a:ext cx="152156" cy="152156"/>
          </a:xfrm>
          <a:prstGeom prst="rect">
            <a:avLst/>
          </a:prstGeom>
        </p:spPr>
      </p:pic>
      <p:sp>
        <p:nvSpPr>
          <p:cNvPr id="40" name="Text 35"/>
          <p:cNvSpPr txBox="1"/>
          <p:nvPr/>
        </p:nvSpPr>
        <p:spPr>
          <a:xfrm>
            <a:off x="6537960" y="1307592"/>
            <a:ext cx="201168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Allocations</a:t>
            </a:r>
            <a:endParaRPr lang="en-US" sz="1250" dirty="0"/>
          </a:p>
        </p:txBody>
      </p:sp>
      <p:sp>
        <p:nvSpPr>
          <p:cNvPr id="41" name="Shape 36"/>
          <p:cNvSpPr/>
          <p:nvPr/>
        </p:nvSpPr>
        <p:spPr>
          <a:xfrm>
            <a:off x="6144768" y="1709928"/>
            <a:ext cx="502920" cy="182880"/>
          </a:xfrm>
          <a:prstGeom prst="roundRect">
            <a:avLst>
              <a:gd name="adj" fmla="val 50000"/>
            </a:avLst>
          </a:prstGeom>
          <a:solidFill>
            <a:srgbClr val="13478F"/>
          </a:solidFill>
          <a:ln/>
        </p:spPr>
      </p:sp>
      <p:sp>
        <p:nvSpPr>
          <p:cNvPr id="42" name="Text 37"/>
          <p:cNvSpPr txBox="1"/>
          <p:nvPr/>
        </p:nvSpPr>
        <p:spPr>
          <a:xfrm>
            <a:off x="6144768" y="17099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43" name="Text 38"/>
          <p:cNvSpPr txBox="1"/>
          <p:nvPr/>
        </p:nvSpPr>
        <p:spPr>
          <a:xfrm>
            <a:off x="6720840" y="16916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/api/allocations</a:t>
            </a:r>
            <a:endParaRPr lang="en-US" sz="950" dirty="0"/>
          </a:p>
        </p:txBody>
      </p:sp>
      <p:sp>
        <p:nvSpPr>
          <p:cNvPr id="44" name="Shape 39"/>
          <p:cNvSpPr/>
          <p:nvPr/>
        </p:nvSpPr>
        <p:spPr>
          <a:xfrm>
            <a:off x="6144768" y="1938528"/>
            <a:ext cx="502920" cy="182880"/>
          </a:xfrm>
          <a:prstGeom prst="roundRect">
            <a:avLst>
              <a:gd name="adj" fmla="val 50000"/>
            </a:avLst>
          </a:prstGeom>
          <a:solidFill>
            <a:srgbClr val="1B7F5B"/>
          </a:solidFill>
          <a:ln/>
        </p:spPr>
      </p:sp>
      <p:sp>
        <p:nvSpPr>
          <p:cNvPr id="45" name="Text 40"/>
          <p:cNvSpPr txBox="1"/>
          <p:nvPr/>
        </p:nvSpPr>
        <p:spPr>
          <a:xfrm>
            <a:off x="6144768" y="19385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46" name="Text 41"/>
          <p:cNvSpPr txBox="1"/>
          <p:nvPr/>
        </p:nvSpPr>
        <p:spPr>
          <a:xfrm>
            <a:off x="6720840" y="19202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/api/allocations</a:t>
            </a:r>
            <a:endParaRPr lang="en-US" sz="950" dirty="0"/>
          </a:p>
        </p:txBody>
      </p:sp>
      <p:sp>
        <p:nvSpPr>
          <p:cNvPr id="47" name="Shape 42"/>
          <p:cNvSpPr/>
          <p:nvPr/>
        </p:nvSpPr>
        <p:spPr>
          <a:xfrm>
            <a:off x="6144768" y="2167128"/>
            <a:ext cx="502920" cy="182880"/>
          </a:xfrm>
          <a:prstGeom prst="roundRect">
            <a:avLst>
              <a:gd name="adj" fmla="val 50000"/>
            </a:avLst>
          </a:prstGeom>
          <a:solidFill>
            <a:srgbClr val="B45309"/>
          </a:solidFill>
          <a:ln/>
        </p:spPr>
      </p:sp>
      <p:sp>
        <p:nvSpPr>
          <p:cNvPr id="48" name="Text 43"/>
          <p:cNvSpPr txBox="1"/>
          <p:nvPr/>
        </p:nvSpPr>
        <p:spPr>
          <a:xfrm>
            <a:off x="6144768" y="216712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PUT</a:t>
            </a:r>
            <a:endParaRPr lang="en-US" sz="800" dirty="0"/>
          </a:p>
        </p:txBody>
      </p:sp>
      <p:sp>
        <p:nvSpPr>
          <p:cNvPr id="49" name="Text 44"/>
          <p:cNvSpPr txBox="1"/>
          <p:nvPr/>
        </p:nvSpPr>
        <p:spPr>
          <a:xfrm>
            <a:off x="6720840" y="214884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/api/allocations/:id</a:t>
            </a:r>
            <a:endParaRPr lang="en-US" sz="950" dirty="0"/>
          </a:p>
        </p:txBody>
      </p:sp>
      <p:sp>
        <p:nvSpPr>
          <p:cNvPr id="50" name="Shape 45"/>
          <p:cNvSpPr/>
          <p:nvPr/>
        </p:nvSpPr>
        <p:spPr>
          <a:xfrm>
            <a:off x="457200" y="3017520"/>
            <a:ext cx="265176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51" name="Shape 46"/>
          <p:cNvSpPr/>
          <p:nvPr/>
        </p:nvSpPr>
        <p:spPr>
          <a:xfrm>
            <a:off x="566928" y="3090672"/>
            <a:ext cx="292608" cy="292608"/>
          </a:xfrm>
          <a:prstGeom prst="ellipse">
            <a:avLst/>
          </a:prstGeom>
          <a:solidFill>
            <a:srgbClr val="13478F"/>
          </a:solidFill>
          <a:ln/>
        </p:spPr>
      </p:sp>
      <p:pic>
        <p:nvPicPr>
          <p:cNvPr id="52" name="Image 3" descr="preencoded.png">    </p:cNvPr>
          <p:cNvPicPr>
            <a:picLocks noChangeAspect="1"/>
          </p:cNvPicPr>
          <p:nvPr/>
        </p:nvPicPr>
        <p:blipFill>
          <a:blip r:embed="rId4"/>
          <a:stretch>
            <a:fillRect/>
          </a:stretch>
        </p:blipFill>
        <p:spPr>
          <a:xfrm>
            <a:off x="637154" y="3160898"/>
            <a:ext cx="152156" cy="152156"/>
          </a:xfrm>
          <a:prstGeom prst="rect">
            <a:avLst/>
          </a:prstGeom>
        </p:spPr>
      </p:pic>
      <p:sp>
        <p:nvSpPr>
          <p:cNvPr id="53" name="Text 47"/>
          <p:cNvSpPr txBox="1"/>
          <p:nvPr/>
        </p:nvSpPr>
        <p:spPr>
          <a:xfrm>
            <a:off x="960120" y="3090672"/>
            <a:ext cx="201168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Fees</a:t>
            </a:r>
            <a:endParaRPr lang="en-US" sz="1250" dirty="0"/>
          </a:p>
        </p:txBody>
      </p:sp>
      <p:sp>
        <p:nvSpPr>
          <p:cNvPr id="54" name="Shape 48"/>
          <p:cNvSpPr/>
          <p:nvPr/>
        </p:nvSpPr>
        <p:spPr>
          <a:xfrm>
            <a:off x="566928" y="3493008"/>
            <a:ext cx="502920" cy="182880"/>
          </a:xfrm>
          <a:prstGeom prst="roundRect">
            <a:avLst>
              <a:gd name="adj" fmla="val 50000"/>
            </a:avLst>
          </a:prstGeom>
          <a:solidFill>
            <a:srgbClr val="13478F"/>
          </a:solidFill>
          <a:ln/>
        </p:spPr>
      </p:sp>
      <p:sp>
        <p:nvSpPr>
          <p:cNvPr id="55" name="Text 49"/>
          <p:cNvSpPr txBox="1"/>
          <p:nvPr/>
        </p:nvSpPr>
        <p:spPr>
          <a:xfrm>
            <a:off x="566928" y="349300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56" name="Text 50"/>
          <p:cNvSpPr txBox="1"/>
          <p:nvPr/>
        </p:nvSpPr>
        <p:spPr>
          <a:xfrm>
            <a:off x="1143000" y="347472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/api/fees</a:t>
            </a:r>
            <a:endParaRPr lang="en-US" sz="950" dirty="0"/>
          </a:p>
        </p:txBody>
      </p:sp>
      <p:sp>
        <p:nvSpPr>
          <p:cNvPr id="57" name="Shape 51"/>
          <p:cNvSpPr/>
          <p:nvPr/>
        </p:nvSpPr>
        <p:spPr>
          <a:xfrm>
            <a:off x="566928" y="3721608"/>
            <a:ext cx="502920" cy="182880"/>
          </a:xfrm>
          <a:prstGeom prst="roundRect">
            <a:avLst>
              <a:gd name="adj" fmla="val 50000"/>
            </a:avLst>
          </a:prstGeom>
          <a:solidFill>
            <a:srgbClr val="1B7F5B"/>
          </a:solidFill>
          <a:ln/>
        </p:spPr>
      </p:sp>
      <p:sp>
        <p:nvSpPr>
          <p:cNvPr id="58" name="Text 52"/>
          <p:cNvSpPr txBox="1"/>
          <p:nvPr/>
        </p:nvSpPr>
        <p:spPr>
          <a:xfrm>
            <a:off x="566928" y="372160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59" name="Text 53"/>
          <p:cNvSpPr txBox="1"/>
          <p:nvPr/>
        </p:nvSpPr>
        <p:spPr>
          <a:xfrm>
            <a:off x="1143000" y="370332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/api/fees</a:t>
            </a:r>
            <a:endParaRPr lang="en-US" sz="950" dirty="0"/>
          </a:p>
        </p:txBody>
      </p:sp>
      <p:sp>
        <p:nvSpPr>
          <p:cNvPr id="60" name="Shape 54"/>
          <p:cNvSpPr/>
          <p:nvPr/>
        </p:nvSpPr>
        <p:spPr>
          <a:xfrm>
            <a:off x="3246120" y="3017520"/>
            <a:ext cx="2651760" cy="1463040"/>
          </a:xfrm>
          <a:prstGeom prst="roundRect">
            <a:avLst>
              <a:gd name="adj" fmla="val 5000"/>
            </a:avLst>
          </a:prstGeom>
          <a:solidFill>
            <a:srgbClr val="F2F4F8"/>
          </a:solidFill>
          <a:ln/>
          <a:effectLst>
            <a:outerShdw sx="100000" sy="100000" kx="0" ky="0" algn="bl" rotWithShape="0" blurRad="76200" dist="25400" dir="5400000">
              <a:srgbClr val="000000">
                <a:alpha val="12000"/>
              </a:srgbClr>
            </a:outerShdw>
          </a:effectLst>
        </p:spPr>
      </p:sp>
      <p:sp>
        <p:nvSpPr>
          <p:cNvPr id="61" name="Shape 55"/>
          <p:cNvSpPr/>
          <p:nvPr/>
        </p:nvSpPr>
        <p:spPr>
          <a:xfrm>
            <a:off x="3355848" y="3090672"/>
            <a:ext cx="292608" cy="292608"/>
          </a:xfrm>
          <a:prstGeom prst="ellipse">
            <a:avLst/>
          </a:prstGeom>
          <a:solidFill>
            <a:srgbClr val="13478F"/>
          </a:solidFill>
          <a:ln/>
        </p:spPr>
      </p:sp>
      <p:pic>
        <p:nvPicPr>
          <p:cNvPr id="62" name="Image 4" descr="preencoded.png">    </p:cNvPr>
          <p:cNvPicPr>
            <a:picLocks noChangeAspect="1"/>
          </p:cNvPicPr>
          <p:nvPr/>
        </p:nvPicPr>
        <p:blipFill>
          <a:blip r:embed="rId5"/>
          <a:stretch>
            <a:fillRect/>
          </a:stretch>
        </p:blipFill>
        <p:spPr>
          <a:xfrm>
            <a:off x="3426074" y="3160898"/>
            <a:ext cx="152156" cy="152156"/>
          </a:xfrm>
          <a:prstGeom prst="rect">
            <a:avLst/>
          </a:prstGeom>
        </p:spPr>
      </p:pic>
      <p:sp>
        <p:nvSpPr>
          <p:cNvPr id="63" name="Text 56"/>
          <p:cNvSpPr txBox="1"/>
          <p:nvPr/>
        </p:nvSpPr>
        <p:spPr>
          <a:xfrm>
            <a:off x="3749040" y="3090672"/>
            <a:ext cx="2011680" cy="29260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Complaints</a:t>
            </a:r>
            <a:endParaRPr lang="en-US" sz="1250" dirty="0"/>
          </a:p>
        </p:txBody>
      </p:sp>
      <p:sp>
        <p:nvSpPr>
          <p:cNvPr id="64" name="Shape 57"/>
          <p:cNvSpPr/>
          <p:nvPr/>
        </p:nvSpPr>
        <p:spPr>
          <a:xfrm>
            <a:off x="3355848" y="3493008"/>
            <a:ext cx="502920" cy="182880"/>
          </a:xfrm>
          <a:prstGeom prst="roundRect">
            <a:avLst>
              <a:gd name="adj" fmla="val 50000"/>
            </a:avLst>
          </a:prstGeom>
          <a:solidFill>
            <a:srgbClr val="13478F"/>
          </a:solidFill>
          <a:ln/>
        </p:spPr>
      </p:sp>
      <p:sp>
        <p:nvSpPr>
          <p:cNvPr id="65" name="Text 58"/>
          <p:cNvSpPr txBox="1"/>
          <p:nvPr/>
        </p:nvSpPr>
        <p:spPr>
          <a:xfrm>
            <a:off x="3355848" y="349300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POST</a:t>
            </a:r>
            <a:endParaRPr lang="en-US" sz="800" dirty="0"/>
          </a:p>
        </p:txBody>
      </p:sp>
      <p:sp>
        <p:nvSpPr>
          <p:cNvPr id="66" name="Text 59"/>
          <p:cNvSpPr txBox="1"/>
          <p:nvPr/>
        </p:nvSpPr>
        <p:spPr>
          <a:xfrm>
            <a:off x="3931920" y="347472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/api/complaints</a:t>
            </a:r>
            <a:endParaRPr lang="en-US" sz="950" dirty="0"/>
          </a:p>
        </p:txBody>
      </p:sp>
      <p:sp>
        <p:nvSpPr>
          <p:cNvPr id="67" name="Shape 60"/>
          <p:cNvSpPr/>
          <p:nvPr/>
        </p:nvSpPr>
        <p:spPr>
          <a:xfrm>
            <a:off x="3355848" y="3721608"/>
            <a:ext cx="502920" cy="182880"/>
          </a:xfrm>
          <a:prstGeom prst="roundRect">
            <a:avLst>
              <a:gd name="adj" fmla="val 50000"/>
            </a:avLst>
          </a:prstGeom>
          <a:solidFill>
            <a:srgbClr val="1B7F5B"/>
          </a:solidFill>
          <a:ln/>
        </p:spPr>
      </p:sp>
      <p:sp>
        <p:nvSpPr>
          <p:cNvPr id="68" name="Text 61"/>
          <p:cNvSpPr txBox="1"/>
          <p:nvPr/>
        </p:nvSpPr>
        <p:spPr>
          <a:xfrm>
            <a:off x="3355848" y="372160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GET</a:t>
            </a:r>
            <a:endParaRPr lang="en-US" sz="800" dirty="0"/>
          </a:p>
        </p:txBody>
      </p:sp>
      <p:sp>
        <p:nvSpPr>
          <p:cNvPr id="69" name="Text 62"/>
          <p:cNvSpPr txBox="1"/>
          <p:nvPr/>
        </p:nvSpPr>
        <p:spPr>
          <a:xfrm>
            <a:off x="3931920" y="370332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/api/complaints</a:t>
            </a:r>
            <a:endParaRPr lang="en-US" sz="950" dirty="0"/>
          </a:p>
        </p:txBody>
      </p:sp>
      <p:sp>
        <p:nvSpPr>
          <p:cNvPr id="70" name="Shape 63"/>
          <p:cNvSpPr/>
          <p:nvPr/>
        </p:nvSpPr>
        <p:spPr>
          <a:xfrm>
            <a:off x="3355848" y="3950208"/>
            <a:ext cx="502920" cy="182880"/>
          </a:xfrm>
          <a:prstGeom prst="roundRect">
            <a:avLst>
              <a:gd name="adj" fmla="val 50000"/>
            </a:avLst>
          </a:prstGeom>
          <a:solidFill>
            <a:srgbClr val="B45309"/>
          </a:solidFill>
          <a:ln/>
        </p:spPr>
      </p:sp>
      <p:sp>
        <p:nvSpPr>
          <p:cNvPr id="71" name="Text 64"/>
          <p:cNvSpPr txBox="1"/>
          <p:nvPr/>
        </p:nvSpPr>
        <p:spPr>
          <a:xfrm>
            <a:off x="3355848" y="3950208"/>
            <a:ext cx="502920" cy="18288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PUT</a:t>
            </a:r>
            <a:endParaRPr lang="en-US" sz="800" dirty="0"/>
          </a:p>
        </p:txBody>
      </p:sp>
      <p:sp>
        <p:nvSpPr>
          <p:cNvPr id="72" name="Text 65"/>
          <p:cNvSpPr txBox="1"/>
          <p:nvPr/>
        </p:nvSpPr>
        <p:spPr>
          <a:xfrm>
            <a:off x="3931920" y="3931920"/>
            <a:ext cx="1920240" cy="219456"/>
          </a:xfrm>
          <a:prstGeom prst="rect">
            <a:avLst/>
          </a:prstGeom>
          <a:noFill/>
          <a:ln/>
        </p:spPr>
        <p:txBody>
          <a:bodyPr wrap="square" lIns="0" tIns="0" rIns="0" bIns="0" rtlCol="0" anchor="ctr"/>
          <a:lstStyle/>
          <a:p>
            <a:pPr indent="0" marL="0">
              <a:buNone/>
            </a:pPr>
            <a:r>
              <a:rPr lang="en-US" sz="950" dirty="0">
                <a:solidFill>
                  <a:srgbClr val="1F2937"/>
                </a:solidFill>
                <a:latin typeface="Courier New" pitchFamily="34" charset="0"/>
                <a:ea typeface="Courier New" pitchFamily="34" charset="-122"/>
                <a:cs typeface="Courier New" pitchFamily="34" charset="-120"/>
              </a:rPr>
              <a:t>/api/complaints/:id</a:t>
            </a:r>
            <a:endParaRPr lang="en-US" sz="950" dirty="0"/>
          </a:p>
        </p:txBody>
      </p:sp>
      <p:sp>
        <p:nvSpPr>
          <p:cNvPr id="73" name="Shape 66"/>
          <p:cNvSpPr/>
          <p:nvPr/>
        </p:nvSpPr>
        <p:spPr>
          <a:xfrm>
            <a:off x="6035040" y="3017520"/>
            <a:ext cx="2651760" cy="1463040"/>
          </a:xfrm>
          <a:prstGeom prst="roundRect">
            <a:avLst>
              <a:gd name="adj" fmla="val 5000"/>
            </a:avLst>
          </a:prstGeom>
          <a:solidFill>
            <a:srgbClr val="FEF3C7"/>
          </a:solidFill>
          <a:ln/>
        </p:spPr>
      </p:sp>
      <p:sp>
        <p:nvSpPr>
          <p:cNvPr id="74" name="Shape 67"/>
          <p:cNvSpPr/>
          <p:nvPr/>
        </p:nvSpPr>
        <p:spPr>
          <a:xfrm>
            <a:off x="6172200" y="3127248"/>
            <a:ext cx="310896" cy="310896"/>
          </a:xfrm>
          <a:prstGeom prst="ellipse">
            <a:avLst/>
          </a:prstGeom>
          <a:solidFill>
            <a:srgbClr val="B45309"/>
          </a:solidFill>
          <a:ln/>
        </p:spPr>
      </p:sp>
      <p:pic>
        <p:nvPicPr>
          <p:cNvPr id="75" name="Image 5" descr="preencoded.png">    </p:cNvPr>
          <p:cNvPicPr>
            <a:picLocks noChangeAspect="1"/>
          </p:cNvPicPr>
          <p:nvPr/>
        </p:nvPicPr>
        <p:blipFill>
          <a:blip r:embed="rId6"/>
          <a:stretch>
            <a:fillRect/>
          </a:stretch>
        </p:blipFill>
        <p:spPr>
          <a:xfrm>
            <a:off x="6246815" y="3201863"/>
            <a:ext cx="161666" cy="161666"/>
          </a:xfrm>
          <a:prstGeom prst="rect">
            <a:avLst/>
          </a:prstGeom>
        </p:spPr>
      </p:pic>
      <p:sp>
        <p:nvSpPr>
          <p:cNvPr id="76" name="Text 68"/>
          <p:cNvSpPr txBox="1"/>
          <p:nvPr/>
        </p:nvSpPr>
        <p:spPr>
          <a:xfrm>
            <a:off x="6583680" y="3127248"/>
            <a:ext cx="2011680" cy="310896"/>
          </a:xfrm>
          <a:prstGeom prst="rect">
            <a:avLst/>
          </a:prstGeom>
          <a:noFill/>
          <a:ln/>
        </p:spPr>
        <p:txBody>
          <a:bodyPr wrap="square" lIns="0" tIns="0" rIns="0" bIns="0" rtlCol="0" anchor="ctr"/>
          <a:lstStyle/>
          <a:p>
            <a:pPr indent="0" marL="0">
              <a:buNone/>
            </a:pPr>
            <a:r>
              <a:rPr lang="en-US" sz="1250" b="1" dirty="0">
                <a:solidFill>
                  <a:srgbClr val="B45309"/>
                </a:solidFill>
                <a:latin typeface="Calibri" pitchFamily="34" charset="0"/>
                <a:ea typeface="Calibri" pitchFamily="34" charset="-122"/>
                <a:cs typeface="Calibri" pitchFamily="34" charset="-120"/>
              </a:rPr>
              <a:t>Design only</a:t>
            </a:r>
            <a:endParaRPr lang="en-US" sz="1250" dirty="0"/>
          </a:p>
        </p:txBody>
      </p:sp>
      <p:sp>
        <p:nvSpPr>
          <p:cNvPr id="77" name="Text 69"/>
          <p:cNvSpPr txBox="1"/>
          <p:nvPr/>
        </p:nvSpPr>
        <p:spPr>
          <a:xfrm>
            <a:off x="6172200" y="3566160"/>
            <a:ext cx="2377440" cy="8229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These endpoints are proposed. None are implemented or working yet.</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155180" y="219456"/>
            <a:ext cx="1531620" cy="274320"/>
          </a:xfrm>
          <a:prstGeom prst="roundRect">
            <a:avLst>
              <a:gd name="adj" fmla="val 50000"/>
            </a:avLst>
          </a:prstGeom>
          <a:solidFill>
            <a:srgbClr val="13478F"/>
          </a:solidFill>
          <a:ln/>
        </p:spPr>
      </p:sp>
      <p:sp>
        <p:nvSpPr>
          <p:cNvPr id="3" name="Text 1"/>
          <p:cNvSpPr txBox="1"/>
          <p:nvPr/>
        </p:nvSpPr>
        <p:spPr>
          <a:xfrm>
            <a:off x="7155180" y="219456"/>
            <a:ext cx="15316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METHODOLOGY</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Proposed Methodology</a:t>
            </a:r>
            <a:endParaRPr lang="en-US" sz="2600" dirty="0"/>
          </a:p>
        </p:txBody>
      </p:sp>
      <p:sp>
        <p:nvSpPr>
          <p:cNvPr id="5" name="Shape 3"/>
          <p:cNvSpPr/>
          <p:nvPr/>
        </p:nvSpPr>
        <p:spPr>
          <a:xfrm>
            <a:off x="457200" y="1371600"/>
            <a:ext cx="1371600" cy="1051560"/>
          </a:xfrm>
          <a:prstGeom prst="roundRect">
            <a:avLst>
              <a:gd name="adj" fmla="val 6957"/>
            </a:avLst>
          </a:prstGeom>
          <a:solidFill>
            <a:srgbClr val="E6EEF8"/>
          </a:solidFill>
          <a:ln/>
          <a:effectLst>
            <a:outerShdw sx="100000" sy="100000" kx="0" ky="0" algn="bl" rotWithShape="0" blurRad="76200" dist="25400" dir="5400000">
              <a:srgbClr val="000000">
                <a:alpha val="12000"/>
              </a:srgbClr>
            </a:outerShdw>
          </a:effectLst>
        </p:spPr>
      </p:sp>
      <p:sp>
        <p:nvSpPr>
          <p:cNvPr id="6" name="Shape 4"/>
          <p:cNvSpPr/>
          <p:nvPr/>
        </p:nvSpPr>
        <p:spPr>
          <a:xfrm>
            <a:off x="941832" y="1481328"/>
            <a:ext cx="402336" cy="402336"/>
          </a:xfrm>
          <a:prstGeom prst="ellipse">
            <a:avLst/>
          </a:prstGeom>
          <a:solidFill>
            <a:srgbClr val="13478F"/>
          </a:solidFill>
          <a:ln/>
        </p:spPr>
      </p:sp>
      <p:pic>
        <p:nvPicPr>
          <p:cNvPr id="7" name="Image 0" descr="preencoded.png">    </p:cNvPr>
          <p:cNvPicPr>
            <a:picLocks noChangeAspect="1"/>
          </p:cNvPicPr>
          <p:nvPr/>
        </p:nvPicPr>
        <p:blipFill>
          <a:blip r:embed="rId1"/>
          <a:stretch>
            <a:fillRect/>
          </a:stretch>
        </p:blipFill>
        <p:spPr>
          <a:xfrm>
            <a:off x="1038393" y="1577889"/>
            <a:ext cx="209215" cy="209215"/>
          </a:xfrm>
          <a:prstGeom prst="rect">
            <a:avLst/>
          </a:prstGeom>
        </p:spPr>
      </p:pic>
      <p:sp>
        <p:nvSpPr>
          <p:cNvPr id="8" name="Text 5"/>
          <p:cNvSpPr txBox="1"/>
          <p:nvPr/>
        </p:nvSpPr>
        <p:spPr>
          <a:xfrm>
            <a:off x="512064" y="1938528"/>
            <a:ext cx="1261872"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Login / Access</a:t>
            </a:r>
            <a:endParaRPr lang="en-US" sz="1100" dirty="0"/>
          </a:p>
        </p:txBody>
      </p:sp>
      <p:sp>
        <p:nvSpPr>
          <p:cNvPr id="9" name="Shape 6"/>
          <p:cNvSpPr/>
          <p:nvPr/>
        </p:nvSpPr>
        <p:spPr>
          <a:xfrm>
            <a:off x="384048" y="1280160"/>
            <a:ext cx="256032" cy="256032"/>
          </a:xfrm>
          <a:prstGeom prst="ellipse">
            <a:avLst/>
          </a:prstGeom>
          <a:solidFill>
            <a:srgbClr val="0B2545"/>
          </a:solidFill>
          <a:ln/>
        </p:spPr>
      </p:sp>
      <p:sp>
        <p:nvSpPr>
          <p:cNvPr id="10" name="Text 7"/>
          <p:cNvSpPr txBox="1"/>
          <p:nvPr/>
        </p:nvSpPr>
        <p:spPr>
          <a:xfrm>
            <a:off x="384048" y="12801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8"/>
          <p:cNvSpPr/>
          <p:nvPr/>
        </p:nvSpPr>
        <p:spPr>
          <a:xfrm>
            <a:off x="1847088" y="1897380"/>
            <a:ext cx="306324" cy="0"/>
          </a:xfrm>
          <a:prstGeom prst="line">
            <a:avLst/>
          </a:prstGeom>
          <a:noFill/>
          <a:ln w="25400">
            <a:solidFill>
              <a:srgbClr val="13478F"/>
            </a:solidFill>
            <a:prstDash val="solid"/>
            <a:tailEnd type="triangle"/>
          </a:ln>
        </p:spPr>
      </p:sp>
      <p:sp>
        <p:nvSpPr>
          <p:cNvPr id="12" name="Shape 9"/>
          <p:cNvSpPr/>
          <p:nvPr/>
        </p:nvSpPr>
        <p:spPr>
          <a:xfrm>
            <a:off x="2171700" y="1371600"/>
            <a:ext cx="1371600" cy="1051560"/>
          </a:xfrm>
          <a:prstGeom prst="roundRect">
            <a:avLst>
              <a:gd name="adj" fmla="val 6957"/>
            </a:avLst>
          </a:prstGeom>
          <a:solidFill>
            <a:srgbClr val="E6EEF8"/>
          </a:solidFill>
          <a:ln/>
          <a:effectLst>
            <a:outerShdw sx="100000" sy="100000" kx="0" ky="0" algn="bl" rotWithShape="0" blurRad="76200" dist="25400" dir="5400000">
              <a:srgbClr val="000000">
                <a:alpha val="12000"/>
              </a:srgbClr>
            </a:outerShdw>
          </a:effectLst>
        </p:spPr>
      </p:sp>
      <p:sp>
        <p:nvSpPr>
          <p:cNvPr id="13" name="Shape 10"/>
          <p:cNvSpPr/>
          <p:nvPr/>
        </p:nvSpPr>
        <p:spPr>
          <a:xfrm>
            <a:off x="2656332" y="1481328"/>
            <a:ext cx="402336" cy="402336"/>
          </a:xfrm>
          <a:prstGeom prst="ellipse">
            <a:avLst/>
          </a:prstGeom>
          <a:solidFill>
            <a:srgbClr val="13478F"/>
          </a:solidFill>
          <a:ln/>
        </p:spPr>
      </p:sp>
      <p:pic>
        <p:nvPicPr>
          <p:cNvPr id="14" name="Image 1" descr="preencoded.png">    </p:cNvPr>
          <p:cNvPicPr>
            <a:picLocks noChangeAspect="1"/>
          </p:cNvPicPr>
          <p:nvPr/>
        </p:nvPicPr>
        <p:blipFill>
          <a:blip r:embed="rId2"/>
          <a:stretch>
            <a:fillRect/>
          </a:stretch>
        </p:blipFill>
        <p:spPr>
          <a:xfrm>
            <a:off x="2752893" y="1577889"/>
            <a:ext cx="209215" cy="209215"/>
          </a:xfrm>
          <a:prstGeom prst="rect">
            <a:avLst/>
          </a:prstGeom>
        </p:spPr>
      </p:pic>
      <p:sp>
        <p:nvSpPr>
          <p:cNvPr id="15" name="Text 11"/>
          <p:cNvSpPr txBox="1"/>
          <p:nvPr/>
        </p:nvSpPr>
        <p:spPr>
          <a:xfrm>
            <a:off x="2226564" y="1938528"/>
            <a:ext cx="1261872"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Dashboard</a:t>
            </a:r>
            <a:endParaRPr lang="en-US" sz="1100" dirty="0"/>
          </a:p>
        </p:txBody>
      </p:sp>
      <p:sp>
        <p:nvSpPr>
          <p:cNvPr id="16" name="Shape 12"/>
          <p:cNvSpPr/>
          <p:nvPr/>
        </p:nvSpPr>
        <p:spPr>
          <a:xfrm>
            <a:off x="2098548" y="1280160"/>
            <a:ext cx="256032" cy="256032"/>
          </a:xfrm>
          <a:prstGeom prst="ellipse">
            <a:avLst/>
          </a:prstGeom>
          <a:solidFill>
            <a:srgbClr val="0B2545"/>
          </a:solidFill>
          <a:ln/>
        </p:spPr>
      </p:sp>
      <p:sp>
        <p:nvSpPr>
          <p:cNvPr id="17" name="Text 13"/>
          <p:cNvSpPr txBox="1"/>
          <p:nvPr/>
        </p:nvSpPr>
        <p:spPr>
          <a:xfrm>
            <a:off x="2098548" y="12801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8" name="Shape 14"/>
          <p:cNvSpPr/>
          <p:nvPr/>
        </p:nvSpPr>
        <p:spPr>
          <a:xfrm>
            <a:off x="3561588" y="1897380"/>
            <a:ext cx="306324" cy="0"/>
          </a:xfrm>
          <a:prstGeom prst="line">
            <a:avLst/>
          </a:prstGeom>
          <a:noFill/>
          <a:ln w="25400">
            <a:solidFill>
              <a:srgbClr val="13478F"/>
            </a:solidFill>
            <a:prstDash val="solid"/>
            <a:tailEnd type="triangle"/>
          </a:ln>
        </p:spPr>
      </p:sp>
      <p:sp>
        <p:nvSpPr>
          <p:cNvPr id="19" name="Shape 15"/>
          <p:cNvSpPr/>
          <p:nvPr/>
        </p:nvSpPr>
        <p:spPr>
          <a:xfrm>
            <a:off x="3886200" y="1371600"/>
            <a:ext cx="1371600" cy="1051560"/>
          </a:xfrm>
          <a:prstGeom prst="roundRect">
            <a:avLst>
              <a:gd name="adj" fmla="val 6957"/>
            </a:avLst>
          </a:prstGeom>
          <a:solidFill>
            <a:srgbClr val="E6EEF8"/>
          </a:solidFill>
          <a:ln/>
          <a:effectLst>
            <a:outerShdw sx="100000" sy="100000" kx="0" ky="0" algn="bl" rotWithShape="0" blurRad="76200" dist="25400" dir="5400000">
              <a:srgbClr val="000000">
                <a:alpha val="12000"/>
              </a:srgbClr>
            </a:outerShdw>
          </a:effectLst>
        </p:spPr>
      </p:sp>
      <p:sp>
        <p:nvSpPr>
          <p:cNvPr id="20" name="Shape 16"/>
          <p:cNvSpPr/>
          <p:nvPr/>
        </p:nvSpPr>
        <p:spPr>
          <a:xfrm>
            <a:off x="4370832" y="1481328"/>
            <a:ext cx="402336" cy="402336"/>
          </a:xfrm>
          <a:prstGeom prst="ellipse">
            <a:avLst/>
          </a:prstGeom>
          <a:solidFill>
            <a:srgbClr val="13478F"/>
          </a:solidFill>
          <a:ln/>
        </p:spPr>
      </p:sp>
      <p:pic>
        <p:nvPicPr>
          <p:cNvPr id="21" name="Image 2" descr="preencoded.png">    </p:cNvPr>
          <p:cNvPicPr>
            <a:picLocks noChangeAspect="1"/>
          </p:cNvPicPr>
          <p:nvPr/>
        </p:nvPicPr>
        <p:blipFill>
          <a:blip r:embed="rId3"/>
          <a:stretch>
            <a:fillRect/>
          </a:stretch>
        </p:blipFill>
        <p:spPr>
          <a:xfrm>
            <a:off x="4467393" y="1577889"/>
            <a:ext cx="209215" cy="209215"/>
          </a:xfrm>
          <a:prstGeom prst="rect">
            <a:avLst/>
          </a:prstGeom>
        </p:spPr>
      </p:pic>
      <p:sp>
        <p:nvSpPr>
          <p:cNvPr id="22" name="Text 17"/>
          <p:cNvSpPr txBox="1"/>
          <p:nvPr/>
        </p:nvSpPr>
        <p:spPr>
          <a:xfrm>
            <a:off x="3941064" y="1938528"/>
            <a:ext cx="1261872"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Select Module</a:t>
            </a:r>
            <a:endParaRPr lang="en-US" sz="1100" dirty="0"/>
          </a:p>
        </p:txBody>
      </p:sp>
      <p:sp>
        <p:nvSpPr>
          <p:cNvPr id="23" name="Shape 18"/>
          <p:cNvSpPr/>
          <p:nvPr/>
        </p:nvSpPr>
        <p:spPr>
          <a:xfrm>
            <a:off x="3813048" y="1280160"/>
            <a:ext cx="256032" cy="256032"/>
          </a:xfrm>
          <a:prstGeom prst="ellipse">
            <a:avLst/>
          </a:prstGeom>
          <a:solidFill>
            <a:srgbClr val="0B2545"/>
          </a:solidFill>
          <a:ln/>
        </p:spPr>
      </p:sp>
      <p:sp>
        <p:nvSpPr>
          <p:cNvPr id="24" name="Text 19"/>
          <p:cNvSpPr txBox="1"/>
          <p:nvPr/>
        </p:nvSpPr>
        <p:spPr>
          <a:xfrm>
            <a:off x="3813048" y="12801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5" name="Shape 20"/>
          <p:cNvSpPr/>
          <p:nvPr/>
        </p:nvSpPr>
        <p:spPr>
          <a:xfrm>
            <a:off x="5276088" y="1897380"/>
            <a:ext cx="306324" cy="0"/>
          </a:xfrm>
          <a:prstGeom prst="line">
            <a:avLst/>
          </a:prstGeom>
          <a:noFill/>
          <a:ln w="25400">
            <a:solidFill>
              <a:srgbClr val="13478F"/>
            </a:solidFill>
            <a:prstDash val="solid"/>
            <a:tailEnd type="triangle"/>
          </a:ln>
        </p:spPr>
      </p:sp>
      <p:sp>
        <p:nvSpPr>
          <p:cNvPr id="26" name="Shape 21"/>
          <p:cNvSpPr/>
          <p:nvPr/>
        </p:nvSpPr>
        <p:spPr>
          <a:xfrm>
            <a:off x="5600700" y="1371600"/>
            <a:ext cx="1371600" cy="1051560"/>
          </a:xfrm>
          <a:prstGeom prst="roundRect">
            <a:avLst>
              <a:gd name="adj" fmla="val 6957"/>
            </a:avLst>
          </a:prstGeom>
          <a:solidFill>
            <a:srgbClr val="E6EEF8"/>
          </a:solidFill>
          <a:ln/>
          <a:effectLst>
            <a:outerShdw sx="100000" sy="100000" kx="0" ky="0" algn="bl" rotWithShape="0" blurRad="76200" dist="25400" dir="5400000">
              <a:srgbClr val="000000">
                <a:alpha val="12000"/>
              </a:srgbClr>
            </a:outerShdw>
          </a:effectLst>
        </p:spPr>
      </p:sp>
      <p:sp>
        <p:nvSpPr>
          <p:cNvPr id="27" name="Shape 22"/>
          <p:cNvSpPr/>
          <p:nvPr/>
        </p:nvSpPr>
        <p:spPr>
          <a:xfrm>
            <a:off x="6085332" y="1481328"/>
            <a:ext cx="402336" cy="402336"/>
          </a:xfrm>
          <a:prstGeom prst="ellipse">
            <a:avLst/>
          </a:prstGeom>
          <a:solidFill>
            <a:srgbClr val="13478F"/>
          </a:solidFill>
          <a:ln/>
        </p:spPr>
      </p:sp>
      <p:pic>
        <p:nvPicPr>
          <p:cNvPr id="28" name="Image 3" descr="preencoded.png">    </p:cNvPr>
          <p:cNvPicPr>
            <a:picLocks noChangeAspect="1"/>
          </p:cNvPicPr>
          <p:nvPr/>
        </p:nvPicPr>
        <p:blipFill>
          <a:blip r:embed="rId4"/>
          <a:stretch>
            <a:fillRect/>
          </a:stretch>
        </p:blipFill>
        <p:spPr>
          <a:xfrm>
            <a:off x="6181893" y="1577889"/>
            <a:ext cx="209215" cy="209215"/>
          </a:xfrm>
          <a:prstGeom prst="rect">
            <a:avLst/>
          </a:prstGeom>
        </p:spPr>
      </p:pic>
      <p:sp>
        <p:nvSpPr>
          <p:cNvPr id="29" name="Text 23"/>
          <p:cNvSpPr txBox="1"/>
          <p:nvPr/>
        </p:nvSpPr>
        <p:spPr>
          <a:xfrm>
            <a:off x="5655564" y="1938528"/>
            <a:ext cx="1261872"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Enter / Request Data</a:t>
            </a:r>
            <a:endParaRPr lang="en-US" sz="1100" dirty="0"/>
          </a:p>
        </p:txBody>
      </p:sp>
      <p:sp>
        <p:nvSpPr>
          <p:cNvPr id="30" name="Shape 24"/>
          <p:cNvSpPr/>
          <p:nvPr/>
        </p:nvSpPr>
        <p:spPr>
          <a:xfrm>
            <a:off x="5527548" y="1280160"/>
            <a:ext cx="256032" cy="256032"/>
          </a:xfrm>
          <a:prstGeom prst="ellipse">
            <a:avLst/>
          </a:prstGeom>
          <a:solidFill>
            <a:srgbClr val="0B2545"/>
          </a:solidFill>
          <a:ln/>
        </p:spPr>
      </p:sp>
      <p:sp>
        <p:nvSpPr>
          <p:cNvPr id="31" name="Text 25"/>
          <p:cNvSpPr txBox="1"/>
          <p:nvPr/>
        </p:nvSpPr>
        <p:spPr>
          <a:xfrm>
            <a:off x="5527548" y="12801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Shape 26"/>
          <p:cNvSpPr/>
          <p:nvPr/>
        </p:nvSpPr>
        <p:spPr>
          <a:xfrm>
            <a:off x="6990588" y="1897380"/>
            <a:ext cx="306324" cy="0"/>
          </a:xfrm>
          <a:prstGeom prst="line">
            <a:avLst/>
          </a:prstGeom>
          <a:noFill/>
          <a:ln w="25400">
            <a:solidFill>
              <a:srgbClr val="13478F"/>
            </a:solidFill>
            <a:prstDash val="solid"/>
            <a:tailEnd type="triangle"/>
          </a:ln>
        </p:spPr>
      </p:sp>
      <p:sp>
        <p:nvSpPr>
          <p:cNvPr id="33" name="Shape 27"/>
          <p:cNvSpPr/>
          <p:nvPr/>
        </p:nvSpPr>
        <p:spPr>
          <a:xfrm>
            <a:off x="7315200" y="1371600"/>
            <a:ext cx="1371600" cy="1051560"/>
          </a:xfrm>
          <a:prstGeom prst="roundRect">
            <a:avLst>
              <a:gd name="adj" fmla="val 6957"/>
            </a:avLst>
          </a:prstGeom>
          <a:solidFill>
            <a:srgbClr val="E6EEF8"/>
          </a:solidFill>
          <a:ln/>
          <a:effectLst>
            <a:outerShdw sx="100000" sy="100000" kx="0" ky="0" algn="bl" rotWithShape="0" blurRad="76200" dist="25400" dir="5400000">
              <a:srgbClr val="000000">
                <a:alpha val="12000"/>
              </a:srgbClr>
            </a:outerShdw>
          </a:effectLst>
        </p:spPr>
      </p:sp>
      <p:sp>
        <p:nvSpPr>
          <p:cNvPr id="34" name="Shape 28"/>
          <p:cNvSpPr/>
          <p:nvPr/>
        </p:nvSpPr>
        <p:spPr>
          <a:xfrm>
            <a:off x="7799832" y="1481328"/>
            <a:ext cx="402336" cy="402336"/>
          </a:xfrm>
          <a:prstGeom prst="ellipse">
            <a:avLst/>
          </a:prstGeom>
          <a:solidFill>
            <a:srgbClr val="13478F"/>
          </a:solidFill>
          <a:ln/>
        </p:spPr>
      </p:sp>
      <p:pic>
        <p:nvPicPr>
          <p:cNvPr id="35" name="Image 4" descr="preencoded.png">    </p:cNvPr>
          <p:cNvPicPr>
            <a:picLocks noChangeAspect="1"/>
          </p:cNvPicPr>
          <p:nvPr/>
        </p:nvPicPr>
        <p:blipFill>
          <a:blip r:embed="rId5"/>
          <a:stretch>
            <a:fillRect/>
          </a:stretch>
        </p:blipFill>
        <p:spPr>
          <a:xfrm>
            <a:off x="7896393" y="1577889"/>
            <a:ext cx="209215" cy="209215"/>
          </a:xfrm>
          <a:prstGeom prst="rect">
            <a:avLst/>
          </a:prstGeom>
        </p:spPr>
      </p:pic>
      <p:sp>
        <p:nvSpPr>
          <p:cNvPr id="36" name="Text 29"/>
          <p:cNvSpPr txBox="1"/>
          <p:nvPr/>
        </p:nvSpPr>
        <p:spPr>
          <a:xfrm>
            <a:off x="7370064" y="1938528"/>
            <a:ext cx="1261872"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Frontend Validation</a:t>
            </a:r>
            <a:endParaRPr lang="en-US" sz="1100" dirty="0"/>
          </a:p>
        </p:txBody>
      </p:sp>
      <p:sp>
        <p:nvSpPr>
          <p:cNvPr id="37" name="Shape 30"/>
          <p:cNvSpPr/>
          <p:nvPr/>
        </p:nvSpPr>
        <p:spPr>
          <a:xfrm>
            <a:off x="7242048" y="1280160"/>
            <a:ext cx="256032" cy="256032"/>
          </a:xfrm>
          <a:prstGeom prst="ellipse">
            <a:avLst/>
          </a:prstGeom>
          <a:solidFill>
            <a:srgbClr val="0B2545"/>
          </a:solidFill>
          <a:ln/>
        </p:spPr>
      </p:sp>
      <p:sp>
        <p:nvSpPr>
          <p:cNvPr id="38" name="Text 31"/>
          <p:cNvSpPr txBox="1"/>
          <p:nvPr/>
        </p:nvSpPr>
        <p:spPr>
          <a:xfrm>
            <a:off x="7242048" y="12801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9" name="Shape 32"/>
          <p:cNvSpPr/>
          <p:nvPr/>
        </p:nvSpPr>
        <p:spPr>
          <a:xfrm>
            <a:off x="8001000" y="2441448"/>
            <a:ext cx="0" cy="731520"/>
          </a:xfrm>
          <a:prstGeom prst="line">
            <a:avLst/>
          </a:prstGeom>
          <a:noFill/>
          <a:ln w="25400">
            <a:solidFill>
              <a:srgbClr val="13478F"/>
            </a:solidFill>
            <a:prstDash val="solid"/>
            <a:tailEnd type="triangle"/>
          </a:ln>
        </p:spPr>
      </p:sp>
      <p:sp>
        <p:nvSpPr>
          <p:cNvPr id="40" name="Shape 33"/>
          <p:cNvSpPr/>
          <p:nvPr/>
        </p:nvSpPr>
        <p:spPr>
          <a:xfrm>
            <a:off x="7315200" y="3200400"/>
            <a:ext cx="1371600" cy="1051560"/>
          </a:xfrm>
          <a:prstGeom prst="roundRect">
            <a:avLst>
              <a:gd name="adj" fmla="val 6957"/>
            </a:avLst>
          </a:prstGeom>
          <a:solidFill>
            <a:srgbClr val="F2F4F8"/>
          </a:solidFill>
          <a:ln/>
          <a:effectLst>
            <a:outerShdw sx="100000" sy="100000" kx="0" ky="0" algn="bl" rotWithShape="0" blurRad="76200" dist="25400" dir="5400000">
              <a:srgbClr val="000000">
                <a:alpha val="12000"/>
              </a:srgbClr>
            </a:outerShdw>
          </a:effectLst>
        </p:spPr>
      </p:sp>
      <p:sp>
        <p:nvSpPr>
          <p:cNvPr id="41" name="Shape 34"/>
          <p:cNvSpPr/>
          <p:nvPr/>
        </p:nvSpPr>
        <p:spPr>
          <a:xfrm>
            <a:off x="7799832" y="3310128"/>
            <a:ext cx="402336" cy="402336"/>
          </a:xfrm>
          <a:prstGeom prst="ellipse">
            <a:avLst/>
          </a:prstGeom>
          <a:solidFill>
            <a:srgbClr val="13478F"/>
          </a:solidFill>
          <a:ln/>
        </p:spPr>
      </p:sp>
      <p:pic>
        <p:nvPicPr>
          <p:cNvPr id="42" name="Image 5" descr="preencoded.png">    </p:cNvPr>
          <p:cNvPicPr>
            <a:picLocks noChangeAspect="1"/>
          </p:cNvPicPr>
          <p:nvPr/>
        </p:nvPicPr>
        <p:blipFill>
          <a:blip r:embed="rId6"/>
          <a:stretch>
            <a:fillRect/>
          </a:stretch>
        </p:blipFill>
        <p:spPr>
          <a:xfrm>
            <a:off x="7896393" y="3406689"/>
            <a:ext cx="209215" cy="209215"/>
          </a:xfrm>
          <a:prstGeom prst="rect">
            <a:avLst/>
          </a:prstGeom>
        </p:spPr>
      </p:pic>
      <p:sp>
        <p:nvSpPr>
          <p:cNvPr id="43" name="Text 35"/>
          <p:cNvSpPr txBox="1"/>
          <p:nvPr/>
        </p:nvSpPr>
        <p:spPr>
          <a:xfrm>
            <a:off x="7370064" y="3767328"/>
            <a:ext cx="1261872"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Express API</a:t>
            </a:r>
            <a:endParaRPr lang="en-US" sz="1100" dirty="0"/>
          </a:p>
        </p:txBody>
      </p:sp>
      <p:sp>
        <p:nvSpPr>
          <p:cNvPr id="44" name="Shape 36"/>
          <p:cNvSpPr/>
          <p:nvPr/>
        </p:nvSpPr>
        <p:spPr>
          <a:xfrm>
            <a:off x="7242048" y="3108960"/>
            <a:ext cx="256032" cy="256032"/>
          </a:xfrm>
          <a:prstGeom prst="ellipse">
            <a:avLst/>
          </a:prstGeom>
          <a:solidFill>
            <a:srgbClr val="0B2545"/>
          </a:solidFill>
          <a:ln/>
        </p:spPr>
      </p:sp>
      <p:sp>
        <p:nvSpPr>
          <p:cNvPr id="45" name="Text 37"/>
          <p:cNvSpPr txBox="1"/>
          <p:nvPr/>
        </p:nvSpPr>
        <p:spPr>
          <a:xfrm>
            <a:off x="7242048" y="31089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6" name="Shape 38"/>
          <p:cNvSpPr/>
          <p:nvPr/>
        </p:nvSpPr>
        <p:spPr>
          <a:xfrm flipH="1">
            <a:off x="6990588" y="3726180"/>
            <a:ext cx="306324" cy="0"/>
          </a:xfrm>
          <a:prstGeom prst="line">
            <a:avLst/>
          </a:prstGeom>
          <a:noFill/>
          <a:ln w="25400">
            <a:solidFill>
              <a:srgbClr val="13478F"/>
            </a:solidFill>
            <a:prstDash val="solid"/>
            <a:tailEnd type="triangle"/>
          </a:ln>
        </p:spPr>
      </p:sp>
      <p:sp>
        <p:nvSpPr>
          <p:cNvPr id="47" name="Shape 39"/>
          <p:cNvSpPr/>
          <p:nvPr/>
        </p:nvSpPr>
        <p:spPr>
          <a:xfrm>
            <a:off x="5600700" y="3200400"/>
            <a:ext cx="1371600" cy="1051560"/>
          </a:xfrm>
          <a:prstGeom prst="roundRect">
            <a:avLst>
              <a:gd name="adj" fmla="val 6957"/>
            </a:avLst>
          </a:prstGeom>
          <a:solidFill>
            <a:srgbClr val="F2F4F8"/>
          </a:solidFill>
          <a:ln/>
          <a:effectLst>
            <a:outerShdw sx="100000" sy="100000" kx="0" ky="0" algn="bl" rotWithShape="0" blurRad="76200" dist="25400" dir="5400000">
              <a:srgbClr val="000000">
                <a:alpha val="12000"/>
              </a:srgbClr>
            </a:outerShdw>
          </a:effectLst>
        </p:spPr>
      </p:sp>
      <p:sp>
        <p:nvSpPr>
          <p:cNvPr id="48" name="Shape 40"/>
          <p:cNvSpPr/>
          <p:nvPr/>
        </p:nvSpPr>
        <p:spPr>
          <a:xfrm>
            <a:off x="6085332" y="3310128"/>
            <a:ext cx="402336" cy="402336"/>
          </a:xfrm>
          <a:prstGeom prst="ellipse">
            <a:avLst/>
          </a:prstGeom>
          <a:solidFill>
            <a:srgbClr val="13478F"/>
          </a:solidFill>
          <a:ln/>
        </p:spPr>
      </p:sp>
      <p:pic>
        <p:nvPicPr>
          <p:cNvPr id="49" name="Image 6" descr="preencoded.png">    </p:cNvPr>
          <p:cNvPicPr>
            <a:picLocks noChangeAspect="1"/>
          </p:cNvPicPr>
          <p:nvPr/>
        </p:nvPicPr>
        <p:blipFill>
          <a:blip r:embed="rId7"/>
          <a:stretch>
            <a:fillRect/>
          </a:stretch>
        </p:blipFill>
        <p:spPr>
          <a:xfrm>
            <a:off x="6181893" y="3406689"/>
            <a:ext cx="209215" cy="209215"/>
          </a:xfrm>
          <a:prstGeom prst="rect">
            <a:avLst/>
          </a:prstGeom>
        </p:spPr>
      </p:pic>
      <p:sp>
        <p:nvSpPr>
          <p:cNvPr id="50" name="Text 41"/>
          <p:cNvSpPr txBox="1"/>
          <p:nvPr/>
        </p:nvSpPr>
        <p:spPr>
          <a:xfrm>
            <a:off x="5655564" y="3767328"/>
            <a:ext cx="1261872"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MySQL Database</a:t>
            </a:r>
            <a:endParaRPr lang="en-US" sz="1100" dirty="0"/>
          </a:p>
        </p:txBody>
      </p:sp>
      <p:sp>
        <p:nvSpPr>
          <p:cNvPr id="51" name="Shape 42"/>
          <p:cNvSpPr/>
          <p:nvPr/>
        </p:nvSpPr>
        <p:spPr>
          <a:xfrm>
            <a:off x="5527548" y="3108960"/>
            <a:ext cx="256032" cy="256032"/>
          </a:xfrm>
          <a:prstGeom prst="ellipse">
            <a:avLst/>
          </a:prstGeom>
          <a:solidFill>
            <a:srgbClr val="0B2545"/>
          </a:solidFill>
          <a:ln/>
        </p:spPr>
      </p:sp>
      <p:sp>
        <p:nvSpPr>
          <p:cNvPr id="52" name="Text 43"/>
          <p:cNvSpPr txBox="1"/>
          <p:nvPr/>
        </p:nvSpPr>
        <p:spPr>
          <a:xfrm>
            <a:off x="5527548" y="31089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53" name="Shape 44"/>
          <p:cNvSpPr/>
          <p:nvPr/>
        </p:nvSpPr>
        <p:spPr>
          <a:xfrm flipH="1">
            <a:off x="5276088" y="3726180"/>
            <a:ext cx="306324" cy="0"/>
          </a:xfrm>
          <a:prstGeom prst="line">
            <a:avLst/>
          </a:prstGeom>
          <a:noFill/>
          <a:ln w="25400">
            <a:solidFill>
              <a:srgbClr val="13478F"/>
            </a:solidFill>
            <a:prstDash val="solid"/>
            <a:tailEnd type="triangle"/>
          </a:ln>
        </p:spPr>
      </p:sp>
      <p:sp>
        <p:nvSpPr>
          <p:cNvPr id="54" name="Shape 45"/>
          <p:cNvSpPr/>
          <p:nvPr/>
        </p:nvSpPr>
        <p:spPr>
          <a:xfrm>
            <a:off x="3886200" y="3200400"/>
            <a:ext cx="1371600" cy="1051560"/>
          </a:xfrm>
          <a:prstGeom prst="roundRect">
            <a:avLst>
              <a:gd name="adj" fmla="val 6957"/>
            </a:avLst>
          </a:prstGeom>
          <a:solidFill>
            <a:srgbClr val="F2F4F8"/>
          </a:solidFill>
          <a:ln/>
          <a:effectLst>
            <a:outerShdw sx="100000" sy="100000" kx="0" ky="0" algn="bl" rotWithShape="0" blurRad="76200" dist="25400" dir="5400000">
              <a:srgbClr val="000000">
                <a:alpha val="12000"/>
              </a:srgbClr>
            </a:outerShdw>
          </a:effectLst>
        </p:spPr>
      </p:sp>
      <p:sp>
        <p:nvSpPr>
          <p:cNvPr id="55" name="Shape 46"/>
          <p:cNvSpPr/>
          <p:nvPr/>
        </p:nvSpPr>
        <p:spPr>
          <a:xfrm>
            <a:off x="4370832" y="3310128"/>
            <a:ext cx="402336" cy="402336"/>
          </a:xfrm>
          <a:prstGeom prst="ellipse">
            <a:avLst/>
          </a:prstGeom>
          <a:solidFill>
            <a:srgbClr val="13478F"/>
          </a:solidFill>
          <a:ln/>
        </p:spPr>
      </p:sp>
      <p:pic>
        <p:nvPicPr>
          <p:cNvPr id="56" name="Image 7" descr="preencoded.png">    </p:cNvPr>
          <p:cNvPicPr>
            <a:picLocks noChangeAspect="1"/>
          </p:cNvPicPr>
          <p:nvPr/>
        </p:nvPicPr>
        <p:blipFill>
          <a:blip r:embed="rId8"/>
          <a:stretch>
            <a:fillRect/>
          </a:stretch>
        </p:blipFill>
        <p:spPr>
          <a:xfrm>
            <a:off x="4467393" y="3406689"/>
            <a:ext cx="209215" cy="209215"/>
          </a:xfrm>
          <a:prstGeom prst="rect">
            <a:avLst/>
          </a:prstGeom>
        </p:spPr>
      </p:pic>
      <p:sp>
        <p:nvSpPr>
          <p:cNvPr id="57" name="Text 47"/>
          <p:cNvSpPr txBox="1"/>
          <p:nvPr/>
        </p:nvSpPr>
        <p:spPr>
          <a:xfrm>
            <a:off x="3941064" y="3767328"/>
            <a:ext cx="1261872"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CRUD Operation</a:t>
            </a:r>
            <a:endParaRPr lang="en-US" sz="1100" dirty="0"/>
          </a:p>
        </p:txBody>
      </p:sp>
      <p:sp>
        <p:nvSpPr>
          <p:cNvPr id="58" name="Shape 48"/>
          <p:cNvSpPr/>
          <p:nvPr/>
        </p:nvSpPr>
        <p:spPr>
          <a:xfrm>
            <a:off x="3813048" y="3108960"/>
            <a:ext cx="256032" cy="256032"/>
          </a:xfrm>
          <a:prstGeom prst="ellipse">
            <a:avLst/>
          </a:prstGeom>
          <a:solidFill>
            <a:srgbClr val="0B2545"/>
          </a:solidFill>
          <a:ln/>
        </p:spPr>
      </p:sp>
      <p:sp>
        <p:nvSpPr>
          <p:cNvPr id="59" name="Text 49"/>
          <p:cNvSpPr txBox="1"/>
          <p:nvPr/>
        </p:nvSpPr>
        <p:spPr>
          <a:xfrm>
            <a:off x="3813048" y="31089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60" name="Shape 50"/>
          <p:cNvSpPr/>
          <p:nvPr/>
        </p:nvSpPr>
        <p:spPr>
          <a:xfrm flipH="1">
            <a:off x="3561588" y="3726180"/>
            <a:ext cx="306324" cy="0"/>
          </a:xfrm>
          <a:prstGeom prst="line">
            <a:avLst/>
          </a:prstGeom>
          <a:noFill/>
          <a:ln w="25400">
            <a:solidFill>
              <a:srgbClr val="13478F"/>
            </a:solidFill>
            <a:prstDash val="solid"/>
            <a:tailEnd type="triangle"/>
          </a:ln>
        </p:spPr>
      </p:sp>
      <p:sp>
        <p:nvSpPr>
          <p:cNvPr id="61" name="Shape 51"/>
          <p:cNvSpPr/>
          <p:nvPr/>
        </p:nvSpPr>
        <p:spPr>
          <a:xfrm>
            <a:off x="2171700" y="3200400"/>
            <a:ext cx="1371600" cy="1051560"/>
          </a:xfrm>
          <a:prstGeom prst="roundRect">
            <a:avLst>
              <a:gd name="adj" fmla="val 6957"/>
            </a:avLst>
          </a:prstGeom>
          <a:solidFill>
            <a:srgbClr val="F2F4F8"/>
          </a:solidFill>
          <a:ln/>
          <a:effectLst>
            <a:outerShdw sx="100000" sy="100000" kx="0" ky="0" algn="bl" rotWithShape="0" blurRad="76200" dist="25400" dir="5400000">
              <a:srgbClr val="000000">
                <a:alpha val="12000"/>
              </a:srgbClr>
            </a:outerShdw>
          </a:effectLst>
        </p:spPr>
      </p:sp>
      <p:sp>
        <p:nvSpPr>
          <p:cNvPr id="62" name="Shape 52"/>
          <p:cNvSpPr/>
          <p:nvPr/>
        </p:nvSpPr>
        <p:spPr>
          <a:xfrm>
            <a:off x="2656332" y="3310128"/>
            <a:ext cx="402336" cy="402336"/>
          </a:xfrm>
          <a:prstGeom prst="ellipse">
            <a:avLst/>
          </a:prstGeom>
          <a:solidFill>
            <a:srgbClr val="13478F"/>
          </a:solidFill>
          <a:ln/>
        </p:spPr>
      </p:sp>
      <p:pic>
        <p:nvPicPr>
          <p:cNvPr id="63" name="Image 8" descr="preencoded.png">    </p:cNvPr>
          <p:cNvPicPr>
            <a:picLocks noChangeAspect="1"/>
          </p:cNvPicPr>
          <p:nvPr/>
        </p:nvPicPr>
        <p:blipFill>
          <a:blip r:embed="rId9"/>
          <a:stretch>
            <a:fillRect/>
          </a:stretch>
        </p:blipFill>
        <p:spPr>
          <a:xfrm>
            <a:off x="2752893" y="3406689"/>
            <a:ext cx="209215" cy="209215"/>
          </a:xfrm>
          <a:prstGeom prst="rect">
            <a:avLst/>
          </a:prstGeom>
        </p:spPr>
      </p:pic>
      <p:sp>
        <p:nvSpPr>
          <p:cNvPr id="64" name="Text 53"/>
          <p:cNvSpPr txBox="1"/>
          <p:nvPr/>
        </p:nvSpPr>
        <p:spPr>
          <a:xfrm>
            <a:off x="2226564" y="3767328"/>
            <a:ext cx="1261872"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Response</a:t>
            </a:r>
            <a:endParaRPr lang="en-US" sz="1100" dirty="0"/>
          </a:p>
        </p:txBody>
      </p:sp>
      <p:sp>
        <p:nvSpPr>
          <p:cNvPr id="65" name="Shape 54"/>
          <p:cNvSpPr/>
          <p:nvPr/>
        </p:nvSpPr>
        <p:spPr>
          <a:xfrm>
            <a:off x="2098548" y="3108960"/>
            <a:ext cx="256032" cy="256032"/>
          </a:xfrm>
          <a:prstGeom prst="ellipse">
            <a:avLst/>
          </a:prstGeom>
          <a:solidFill>
            <a:srgbClr val="0B2545"/>
          </a:solidFill>
          <a:ln/>
        </p:spPr>
      </p:sp>
      <p:sp>
        <p:nvSpPr>
          <p:cNvPr id="66" name="Text 55"/>
          <p:cNvSpPr txBox="1"/>
          <p:nvPr/>
        </p:nvSpPr>
        <p:spPr>
          <a:xfrm>
            <a:off x="2098548" y="31089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67" name="Shape 56"/>
          <p:cNvSpPr/>
          <p:nvPr/>
        </p:nvSpPr>
        <p:spPr>
          <a:xfrm flipH="1">
            <a:off x="1847088" y="3726180"/>
            <a:ext cx="306324" cy="0"/>
          </a:xfrm>
          <a:prstGeom prst="line">
            <a:avLst/>
          </a:prstGeom>
          <a:noFill/>
          <a:ln w="25400">
            <a:solidFill>
              <a:srgbClr val="13478F"/>
            </a:solidFill>
            <a:prstDash val="solid"/>
            <a:tailEnd type="triangle"/>
          </a:ln>
        </p:spPr>
      </p:sp>
      <p:sp>
        <p:nvSpPr>
          <p:cNvPr id="68" name="Shape 57"/>
          <p:cNvSpPr/>
          <p:nvPr/>
        </p:nvSpPr>
        <p:spPr>
          <a:xfrm>
            <a:off x="457200" y="3200400"/>
            <a:ext cx="1371600" cy="1051560"/>
          </a:xfrm>
          <a:prstGeom prst="roundRect">
            <a:avLst>
              <a:gd name="adj" fmla="val 6957"/>
            </a:avLst>
          </a:prstGeom>
          <a:solidFill>
            <a:srgbClr val="0B2545"/>
          </a:solidFill>
          <a:ln/>
          <a:effectLst>
            <a:outerShdw sx="100000" sy="100000" kx="0" ky="0" algn="bl" rotWithShape="0" blurRad="76200" dist="25400" dir="5400000">
              <a:srgbClr val="000000">
                <a:alpha val="12000"/>
              </a:srgbClr>
            </a:outerShdw>
          </a:effectLst>
        </p:spPr>
      </p:sp>
      <p:sp>
        <p:nvSpPr>
          <p:cNvPr id="69" name="Shape 58"/>
          <p:cNvSpPr/>
          <p:nvPr/>
        </p:nvSpPr>
        <p:spPr>
          <a:xfrm>
            <a:off x="941832" y="3310128"/>
            <a:ext cx="402336" cy="402336"/>
          </a:xfrm>
          <a:prstGeom prst="ellipse">
            <a:avLst/>
          </a:prstGeom>
          <a:solidFill>
            <a:srgbClr val="2F6DB5"/>
          </a:solidFill>
          <a:ln/>
        </p:spPr>
      </p:sp>
      <p:pic>
        <p:nvPicPr>
          <p:cNvPr id="70" name="Image 9" descr="preencoded.png">    </p:cNvPr>
          <p:cNvPicPr>
            <a:picLocks noChangeAspect="1"/>
          </p:cNvPicPr>
          <p:nvPr/>
        </p:nvPicPr>
        <p:blipFill>
          <a:blip r:embed="rId10"/>
          <a:stretch>
            <a:fillRect/>
          </a:stretch>
        </p:blipFill>
        <p:spPr>
          <a:xfrm>
            <a:off x="1038393" y="3406689"/>
            <a:ext cx="209215" cy="209215"/>
          </a:xfrm>
          <a:prstGeom prst="rect">
            <a:avLst/>
          </a:prstGeom>
        </p:spPr>
      </p:pic>
      <p:sp>
        <p:nvSpPr>
          <p:cNvPr id="71" name="Text 59"/>
          <p:cNvSpPr txBox="1"/>
          <p:nvPr/>
        </p:nvSpPr>
        <p:spPr>
          <a:xfrm>
            <a:off x="512064" y="3767328"/>
            <a:ext cx="1261872"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Updated Dashboard / Record</a:t>
            </a:r>
            <a:endParaRPr lang="en-US" sz="1100" dirty="0"/>
          </a:p>
        </p:txBody>
      </p:sp>
      <p:sp>
        <p:nvSpPr>
          <p:cNvPr id="72" name="Shape 60"/>
          <p:cNvSpPr/>
          <p:nvPr/>
        </p:nvSpPr>
        <p:spPr>
          <a:xfrm>
            <a:off x="384048" y="3108960"/>
            <a:ext cx="256032" cy="256032"/>
          </a:xfrm>
          <a:prstGeom prst="ellipse">
            <a:avLst/>
          </a:prstGeom>
          <a:solidFill>
            <a:srgbClr val="0B2545"/>
          </a:solidFill>
          <a:ln/>
        </p:spPr>
      </p:sp>
      <p:sp>
        <p:nvSpPr>
          <p:cNvPr id="73" name="Text 61"/>
          <p:cNvSpPr txBox="1"/>
          <p:nvPr/>
        </p:nvSpPr>
        <p:spPr>
          <a:xfrm>
            <a:off x="384048" y="310896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74" name="Text 62"/>
          <p:cNvSpPr txBox="1"/>
          <p:nvPr/>
        </p:nvSpPr>
        <p:spPr>
          <a:xfrm>
            <a:off x="457200" y="4434840"/>
            <a:ext cx="8229600" cy="256032"/>
          </a:xfrm>
          <a:prstGeom prst="rect">
            <a:avLst/>
          </a:prstGeom>
          <a:noFill/>
          <a:ln/>
        </p:spPr>
        <p:txBody>
          <a:bodyPr wrap="square" lIns="0" tIns="0" rIns="0" bIns="0" rtlCol="0" anchor="t"/>
          <a:lstStyle/>
          <a:p>
            <a:pPr algn="ctr" indent="0" marL="0">
              <a:buNone/>
            </a:pPr>
            <a:r>
              <a:rPr lang="en-US" sz="1100" i="1" dirty="0">
                <a:solidFill>
                  <a:srgbClr val="6B7280"/>
                </a:solidFill>
                <a:latin typeface="Calibri" pitchFamily="34" charset="0"/>
                <a:ea typeface="Calibri" pitchFamily="34" charset="-122"/>
                <a:cs typeface="Calibri" pitchFamily="34" charset="-120"/>
              </a:rPr>
              <a:t>Frontend  →  Backend  →  Database  →  back to the user interface</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056632" y="219456"/>
            <a:ext cx="3630168" cy="274320"/>
          </a:xfrm>
          <a:prstGeom prst="roundRect">
            <a:avLst>
              <a:gd name="adj" fmla="val 50000"/>
            </a:avLst>
          </a:prstGeom>
          <a:solidFill>
            <a:srgbClr val="B45309"/>
          </a:solidFill>
          <a:ln/>
        </p:spPr>
      </p:sp>
      <p:sp>
        <p:nvSpPr>
          <p:cNvPr id="3" name="Text 1"/>
          <p:cNvSpPr txBox="1"/>
          <p:nvPr/>
        </p:nvSpPr>
        <p:spPr>
          <a:xfrm>
            <a:off x="5056632" y="219456"/>
            <a:ext cx="363016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PRELIMINARY — DETAILED SOURCES TO BE ADDED</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Literature Survey</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828800"/>
                <a:gridCol w="2377440"/>
                <a:gridCol w="1920240"/>
                <a:gridCol w="210312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91440" marR="91440" marT="45720" marB="45720">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General approach</a:t>
                      </a:r>
                      <a:endParaRPr lang="en-US" sz="1100" dirty="0">
                        <a:latin typeface="Calibri" charset="0"/>
                        <a:ea typeface="Calibri" charset="0"/>
                        <a:cs typeface="Calibri" charset="0"/>
                      </a:endParaRPr>
                    </a:p>
                  </a:txBody>
                  <a:tcPr marL="91440" marR="91440" marT="45720" marB="45720">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feature</a:t>
                      </a:r>
                      <a:endParaRPr lang="en-US" sz="1100" dirty="0">
                        <a:latin typeface="Calibri" charset="0"/>
                        <a:ea typeface="Calibri" charset="0"/>
                        <a:cs typeface="Calibri" charset="0"/>
                      </a:endParaRPr>
                    </a:p>
                  </a:txBody>
                  <a:tcPr marL="91440" marR="91440" marT="45720" marB="45720">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Limitation / opportunity</a:t>
                      </a:r>
                      <a:endParaRPr lang="en-US" sz="1100" dirty="0">
                        <a:latin typeface="Calibri" charset="0"/>
                        <a:ea typeface="Calibri" charset="0"/>
                        <a:cs typeface="Calibri" charset="0"/>
                      </a:endParaRPr>
                    </a:p>
                  </a:txBody>
                  <a:tcPr marL="91440" marR="91440" marT="45720" marB="45720">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0B2545"/>
                    </a:solidFill>
                  </a:tcPr>
                </a:tc>
              </a:tr>
              <a:tr h="548640">
                <a:tc>
                  <a:txBody>
                    <a:bodyPr/>
                    <a:lstStyle/>
                    <a:p>
                      <a:pPr indent="0" marL="0">
                        <a:buNone/>
                      </a:pPr>
                      <a:r>
                        <a:rPr lang="en-US" sz="1000" b="1" dirty="0">
                          <a:solidFill>
                            <a:srgbClr val="0B2545"/>
                          </a:solidFill>
                          <a:latin typeface="Calibri" pitchFamily="34" charset="0"/>
                          <a:ea typeface="Calibri" pitchFamily="34" charset="-122"/>
                          <a:cs typeface="Calibri" pitchFamily="34" charset="-120"/>
                        </a:rPr>
                        <a:t>Hostel Management Systems</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Software that records residents, rooms and hostel operations</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Consolidated hostel records</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Scope and integration depth vary; to be reviewed</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B2545"/>
                          </a:solidFill>
                          <a:latin typeface="Calibri" pitchFamily="34" charset="0"/>
                          <a:ea typeface="Calibri" pitchFamily="34" charset="-122"/>
                          <a:cs typeface="Calibri" pitchFamily="34" charset="-120"/>
                        </a:rPr>
                        <a:t>Database-Based Student Management</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Relational databases store and query student profiles</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Structured storage, quick search</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Linking with room and fee data to be examined</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B2545"/>
                          </a:solidFill>
                          <a:latin typeface="Calibri" pitchFamily="34" charset="0"/>
                          <a:ea typeface="Calibri" pitchFamily="34" charset="-122"/>
                          <a:cs typeface="Calibri" pitchFamily="34" charset="-120"/>
                        </a:rPr>
                        <a:t>Room Allocation Systems</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Assigning students to rooms by rules or manual choice</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Occupancy and availability tracking</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Handling changes and history to be studied</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B2545"/>
                          </a:solidFill>
                          <a:latin typeface="Calibri" pitchFamily="34" charset="0"/>
                          <a:ea typeface="Calibri" pitchFamily="34" charset="-122"/>
                          <a:cs typeface="Calibri" pitchFamily="34" charset="-120"/>
                        </a:rPr>
                        <a:t>Web-Based Administrative Systems</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Browser-based interfaces to administrative data</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Access without local installation</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Access control and usability to be evaluated</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B2545"/>
                          </a:solidFill>
                          <a:latin typeface="Calibri" pitchFamily="34" charset="0"/>
                          <a:ea typeface="Calibri" pitchFamily="34" charset="-122"/>
                          <a:cs typeface="Calibri" pitchFamily="34" charset="-120"/>
                        </a:rPr>
                        <a:t>Database-backed Management Applications</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Frontend, backend API and database working together</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Separation of concerns, maintainability</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API design and scalability to be explored</a:t>
                      </a:r>
                      <a:endParaRPr lang="en-US" sz="1000" dirty="0">
                        <a:latin typeface="Calibri" charset="0"/>
                        <a:ea typeface="Calibri" charset="0"/>
                        <a:cs typeface="Calibri" charset="0"/>
                      </a:endParaRPr>
                    </a:p>
                  </a:txBody>
                  <a:tcPr marL="91440" marR="91440" marT="45720" marB="45720" anchor="ctr">
                    <a:lnL w="6350" cap="flat" cmpd="sng" algn="ctr">
                      <a:solidFill>
                        <a:srgbClr val="D0D7E2"/>
                      </a:solidFill>
                      <a:prstDash val="solid"/>
                      <a:round/>
                      <a:headEnd type="none" w="med" len="med"/>
                      <a:tailEnd type="none" w="med" len="med"/>
                    </a:lnL>
                    <a:lnR w="6350" cap="flat" cmpd="sng" algn="ctr">
                      <a:solidFill>
                        <a:srgbClr val="D0D7E2"/>
                      </a:solidFill>
                      <a:prstDash val="solid"/>
                      <a:round/>
                      <a:headEnd type="none" w="med" len="med"/>
                      <a:tailEnd type="none" w="med" len="med"/>
                    </a:lnR>
                    <a:lnT w="6350" cap="flat" cmpd="sng" algn="ctr">
                      <a:solidFill>
                        <a:srgbClr val="D0D7E2"/>
                      </a:solidFill>
                      <a:prstDash val="solid"/>
                      <a:round/>
                      <a:headEnd type="none" w="med" len="med"/>
                      <a:tailEnd type="none" w="med" len="med"/>
                    </a:lnT>
                    <a:lnB w="6350" cap="flat" cmpd="sng" algn="ctr">
                      <a:solidFill>
                        <a:srgbClr val="D0D7E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4498848"/>
            <a:ext cx="8229600" cy="22860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General descriptions only — no specific papers reviewed yet; no research findings are claimed.</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922008" y="219456"/>
            <a:ext cx="1764792" cy="274320"/>
          </a:xfrm>
          <a:prstGeom prst="roundRect">
            <a:avLst>
              <a:gd name="adj" fmla="val 50000"/>
            </a:avLst>
          </a:prstGeom>
          <a:solidFill>
            <a:srgbClr val="13478F"/>
          </a:solidFill>
          <a:ln/>
        </p:spPr>
      </p:sp>
      <p:sp>
        <p:nvSpPr>
          <p:cNvPr id="3" name="Text 1"/>
          <p:cNvSpPr txBox="1"/>
          <p:nvPr/>
        </p:nvSpPr>
        <p:spPr>
          <a:xfrm>
            <a:off x="6922008" y="219456"/>
            <a:ext cx="176479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 MOTIVATION</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Research Gap</a:t>
            </a:r>
            <a:endParaRPr lang="en-US" sz="2600" dirty="0"/>
          </a:p>
        </p:txBody>
      </p:sp>
      <p:sp>
        <p:nvSpPr>
          <p:cNvPr id="5" name="Text 3"/>
          <p:cNvSpPr txBox="1"/>
          <p:nvPr/>
        </p:nvSpPr>
        <p:spPr>
          <a:xfrm>
            <a:off x="457200" y="1207008"/>
            <a:ext cx="5486400" cy="256032"/>
          </a:xfrm>
          <a:prstGeom prst="rect">
            <a:avLst/>
          </a:prstGeom>
          <a:noFill/>
          <a:ln/>
        </p:spPr>
        <p:txBody>
          <a:bodyPr wrap="square" lIns="0" tIns="0" rIns="0" bIns="0" rtlCol="0" anchor="t"/>
          <a:lstStyle/>
          <a:p>
            <a:pPr indent="0" marL="0">
              <a:buNone/>
            </a:pPr>
            <a:r>
              <a:rPr lang="en-US" sz="1300" b="1" dirty="0">
                <a:solidFill>
                  <a:srgbClr val="0B2545"/>
                </a:solidFill>
                <a:latin typeface="Calibri" pitchFamily="34" charset="0"/>
                <a:ea typeface="Calibri" pitchFamily="34" charset="-122"/>
                <a:cs typeface="Calibri" pitchFamily="34" charset="-120"/>
              </a:rPr>
              <a:t>Potential gap areas to investigate</a:t>
            </a:r>
            <a:endParaRPr lang="en-US" sz="1300" dirty="0"/>
          </a:p>
        </p:txBody>
      </p:sp>
      <p:sp>
        <p:nvSpPr>
          <p:cNvPr id="6" name="Shape 4"/>
          <p:cNvSpPr/>
          <p:nvPr/>
        </p:nvSpPr>
        <p:spPr>
          <a:xfrm>
            <a:off x="457200" y="1554480"/>
            <a:ext cx="2651760" cy="960120"/>
          </a:xfrm>
          <a:prstGeom prst="roundRect">
            <a:avLst>
              <a:gd name="adj" fmla="val 7619"/>
            </a:avLst>
          </a:prstGeom>
          <a:solidFill>
            <a:srgbClr val="F2F4F8"/>
          </a:solidFill>
          <a:ln/>
          <a:effectLst>
            <a:outerShdw sx="100000" sy="100000" kx="0" ky="0" algn="bl" rotWithShape="0" blurRad="76200" dist="25400" dir="5400000">
              <a:srgbClr val="000000">
                <a:alpha val="12000"/>
              </a:srgbClr>
            </a:outerShdw>
          </a:effectLst>
        </p:spPr>
      </p:sp>
      <p:sp>
        <p:nvSpPr>
          <p:cNvPr id="7" name="Shape 5"/>
          <p:cNvSpPr/>
          <p:nvPr/>
        </p:nvSpPr>
        <p:spPr>
          <a:xfrm>
            <a:off x="594360" y="1810512"/>
            <a:ext cx="438912" cy="438912"/>
          </a:xfrm>
          <a:prstGeom prst="ellipse">
            <a:avLst/>
          </a:prstGeom>
          <a:solidFill>
            <a:srgbClr val="13478F"/>
          </a:solidFill>
          <a:ln/>
        </p:spPr>
      </p:sp>
      <p:pic>
        <p:nvPicPr>
          <p:cNvPr id="8" name="Image 0" descr="preencoded.png">    </p:cNvPr>
          <p:cNvPicPr>
            <a:picLocks noChangeAspect="1"/>
          </p:cNvPicPr>
          <p:nvPr/>
        </p:nvPicPr>
        <p:blipFill>
          <a:blip r:embed="rId1"/>
          <a:stretch>
            <a:fillRect/>
          </a:stretch>
        </p:blipFill>
        <p:spPr>
          <a:xfrm>
            <a:off x="699699" y="1915851"/>
            <a:ext cx="228234" cy="228234"/>
          </a:xfrm>
          <a:prstGeom prst="rect">
            <a:avLst/>
          </a:prstGeom>
        </p:spPr>
      </p:pic>
      <p:sp>
        <p:nvSpPr>
          <p:cNvPr id="9" name="Text 6"/>
          <p:cNvSpPr txBox="1"/>
          <p:nvPr/>
        </p:nvSpPr>
        <p:spPr>
          <a:xfrm>
            <a:off x="1170432" y="1600200"/>
            <a:ext cx="1847088" cy="86868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Fragmented hostel information management</a:t>
            </a:r>
            <a:endParaRPr lang="en-US" sz="1200" dirty="0"/>
          </a:p>
        </p:txBody>
      </p:sp>
      <p:sp>
        <p:nvSpPr>
          <p:cNvPr id="10" name="Shape 7"/>
          <p:cNvSpPr/>
          <p:nvPr/>
        </p:nvSpPr>
        <p:spPr>
          <a:xfrm>
            <a:off x="3246120" y="1554480"/>
            <a:ext cx="2651760" cy="960120"/>
          </a:xfrm>
          <a:prstGeom prst="roundRect">
            <a:avLst>
              <a:gd name="adj" fmla="val 7619"/>
            </a:avLst>
          </a:prstGeom>
          <a:solidFill>
            <a:srgbClr val="F2F4F8"/>
          </a:solidFill>
          <a:ln/>
          <a:effectLst>
            <a:outerShdw sx="100000" sy="100000" kx="0" ky="0" algn="bl" rotWithShape="0" blurRad="76200" dist="25400" dir="5400000">
              <a:srgbClr val="000000">
                <a:alpha val="12000"/>
              </a:srgbClr>
            </a:outerShdw>
          </a:effectLst>
        </p:spPr>
      </p:sp>
      <p:sp>
        <p:nvSpPr>
          <p:cNvPr id="11" name="Shape 8"/>
          <p:cNvSpPr/>
          <p:nvPr/>
        </p:nvSpPr>
        <p:spPr>
          <a:xfrm>
            <a:off x="3383280" y="1810512"/>
            <a:ext cx="438912" cy="438912"/>
          </a:xfrm>
          <a:prstGeom prst="ellipse">
            <a:avLst/>
          </a:prstGeom>
          <a:solidFill>
            <a:srgbClr val="13478F"/>
          </a:solidFill>
          <a:ln/>
        </p:spPr>
      </p:sp>
      <p:pic>
        <p:nvPicPr>
          <p:cNvPr id="12" name="Image 1" descr="preencoded.png">    </p:cNvPr>
          <p:cNvPicPr>
            <a:picLocks noChangeAspect="1"/>
          </p:cNvPicPr>
          <p:nvPr/>
        </p:nvPicPr>
        <p:blipFill>
          <a:blip r:embed="rId2"/>
          <a:stretch>
            <a:fillRect/>
          </a:stretch>
        </p:blipFill>
        <p:spPr>
          <a:xfrm>
            <a:off x="3488619" y="1915851"/>
            <a:ext cx="228234" cy="228234"/>
          </a:xfrm>
          <a:prstGeom prst="rect">
            <a:avLst/>
          </a:prstGeom>
        </p:spPr>
      </p:pic>
      <p:sp>
        <p:nvSpPr>
          <p:cNvPr id="13" name="Text 9"/>
          <p:cNvSpPr txBox="1"/>
          <p:nvPr/>
        </p:nvSpPr>
        <p:spPr>
          <a:xfrm>
            <a:off x="3959352" y="1600200"/>
            <a:ext cx="1847088" cy="86868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Lack of centralized records</a:t>
            </a:r>
            <a:endParaRPr lang="en-US" sz="1200" dirty="0"/>
          </a:p>
        </p:txBody>
      </p:sp>
      <p:sp>
        <p:nvSpPr>
          <p:cNvPr id="14" name="Shape 10"/>
          <p:cNvSpPr/>
          <p:nvPr/>
        </p:nvSpPr>
        <p:spPr>
          <a:xfrm>
            <a:off x="6035040" y="1554480"/>
            <a:ext cx="2651760" cy="960120"/>
          </a:xfrm>
          <a:prstGeom prst="roundRect">
            <a:avLst>
              <a:gd name="adj" fmla="val 7619"/>
            </a:avLst>
          </a:prstGeom>
          <a:solidFill>
            <a:srgbClr val="F2F4F8"/>
          </a:solidFill>
          <a:ln/>
          <a:effectLst>
            <a:outerShdw sx="100000" sy="100000" kx="0" ky="0" algn="bl" rotWithShape="0" blurRad="76200" dist="25400" dir="5400000">
              <a:srgbClr val="000000">
                <a:alpha val="12000"/>
              </a:srgbClr>
            </a:outerShdw>
          </a:effectLst>
        </p:spPr>
      </p:sp>
      <p:sp>
        <p:nvSpPr>
          <p:cNvPr id="15" name="Shape 11"/>
          <p:cNvSpPr/>
          <p:nvPr/>
        </p:nvSpPr>
        <p:spPr>
          <a:xfrm>
            <a:off x="6172200" y="1810512"/>
            <a:ext cx="438912" cy="438912"/>
          </a:xfrm>
          <a:prstGeom prst="ellipse">
            <a:avLst/>
          </a:prstGeom>
          <a:solidFill>
            <a:srgbClr val="13478F"/>
          </a:solidFill>
          <a:ln/>
        </p:spPr>
      </p:sp>
      <p:pic>
        <p:nvPicPr>
          <p:cNvPr id="16" name="Image 2" descr="preencoded.png">    </p:cNvPr>
          <p:cNvPicPr>
            <a:picLocks noChangeAspect="1"/>
          </p:cNvPicPr>
          <p:nvPr/>
        </p:nvPicPr>
        <p:blipFill>
          <a:blip r:embed="rId3"/>
          <a:stretch>
            <a:fillRect/>
          </a:stretch>
        </p:blipFill>
        <p:spPr>
          <a:xfrm>
            <a:off x="6277539" y="1915851"/>
            <a:ext cx="228234" cy="228234"/>
          </a:xfrm>
          <a:prstGeom prst="rect">
            <a:avLst/>
          </a:prstGeom>
        </p:spPr>
      </p:pic>
      <p:sp>
        <p:nvSpPr>
          <p:cNvPr id="17" name="Text 12"/>
          <p:cNvSpPr txBox="1"/>
          <p:nvPr/>
        </p:nvSpPr>
        <p:spPr>
          <a:xfrm>
            <a:off x="6748272" y="1600200"/>
            <a:ext cx="1847088" cy="86868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Manual room allocation processes</a:t>
            </a:r>
            <a:endParaRPr lang="en-US" sz="1200" dirty="0"/>
          </a:p>
        </p:txBody>
      </p:sp>
      <p:sp>
        <p:nvSpPr>
          <p:cNvPr id="18" name="Shape 13"/>
          <p:cNvSpPr/>
          <p:nvPr/>
        </p:nvSpPr>
        <p:spPr>
          <a:xfrm>
            <a:off x="457200" y="2651760"/>
            <a:ext cx="2651760" cy="960120"/>
          </a:xfrm>
          <a:prstGeom prst="roundRect">
            <a:avLst>
              <a:gd name="adj" fmla="val 7619"/>
            </a:avLst>
          </a:prstGeom>
          <a:solidFill>
            <a:srgbClr val="F2F4F8"/>
          </a:solidFill>
          <a:ln/>
          <a:effectLst>
            <a:outerShdw sx="100000" sy="100000" kx="0" ky="0" algn="bl" rotWithShape="0" blurRad="76200" dist="25400" dir="5400000">
              <a:srgbClr val="000000">
                <a:alpha val="12000"/>
              </a:srgbClr>
            </a:outerShdw>
          </a:effectLst>
        </p:spPr>
      </p:sp>
      <p:sp>
        <p:nvSpPr>
          <p:cNvPr id="19" name="Shape 14"/>
          <p:cNvSpPr/>
          <p:nvPr/>
        </p:nvSpPr>
        <p:spPr>
          <a:xfrm>
            <a:off x="594360" y="2907792"/>
            <a:ext cx="438912" cy="438912"/>
          </a:xfrm>
          <a:prstGeom prst="ellipse">
            <a:avLst/>
          </a:prstGeom>
          <a:solidFill>
            <a:srgbClr val="13478F"/>
          </a:solidFill>
          <a:ln/>
        </p:spPr>
      </p:sp>
      <p:pic>
        <p:nvPicPr>
          <p:cNvPr id="20" name="Image 3" descr="preencoded.png">    </p:cNvPr>
          <p:cNvPicPr>
            <a:picLocks noChangeAspect="1"/>
          </p:cNvPicPr>
          <p:nvPr/>
        </p:nvPicPr>
        <p:blipFill>
          <a:blip r:embed="rId4"/>
          <a:stretch>
            <a:fillRect/>
          </a:stretch>
        </p:blipFill>
        <p:spPr>
          <a:xfrm>
            <a:off x="699699" y="3013131"/>
            <a:ext cx="228234" cy="228234"/>
          </a:xfrm>
          <a:prstGeom prst="rect">
            <a:avLst/>
          </a:prstGeom>
        </p:spPr>
      </p:pic>
      <p:sp>
        <p:nvSpPr>
          <p:cNvPr id="21" name="Text 15"/>
          <p:cNvSpPr txBox="1"/>
          <p:nvPr/>
        </p:nvSpPr>
        <p:spPr>
          <a:xfrm>
            <a:off x="1170432" y="2697480"/>
            <a:ext cx="1847088" cy="86868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Limited integration of room, fee and complaint information</a:t>
            </a:r>
            <a:endParaRPr lang="en-US" sz="1200" dirty="0"/>
          </a:p>
        </p:txBody>
      </p:sp>
      <p:sp>
        <p:nvSpPr>
          <p:cNvPr id="22" name="Shape 16"/>
          <p:cNvSpPr/>
          <p:nvPr/>
        </p:nvSpPr>
        <p:spPr>
          <a:xfrm>
            <a:off x="3246120" y="2651760"/>
            <a:ext cx="2651760" cy="960120"/>
          </a:xfrm>
          <a:prstGeom prst="roundRect">
            <a:avLst>
              <a:gd name="adj" fmla="val 7619"/>
            </a:avLst>
          </a:prstGeom>
          <a:solidFill>
            <a:srgbClr val="F2F4F8"/>
          </a:solidFill>
          <a:ln/>
          <a:effectLst>
            <a:outerShdw sx="100000" sy="100000" kx="0" ky="0" algn="bl" rotWithShape="0" blurRad="76200" dist="25400" dir="5400000">
              <a:srgbClr val="000000">
                <a:alpha val="12000"/>
              </a:srgbClr>
            </a:outerShdw>
          </a:effectLst>
        </p:spPr>
      </p:sp>
      <p:sp>
        <p:nvSpPr>
          <p:cNvPr id="23" name="Shape 17"/>
          <p:cNvSpPr/>
          <p:nvPr/>
        </p:nvSpPr>
        <p:spPr>
          <a:xfrm>
            <a:off x="3383280" y="2907792"/>
            <a:ext cx="438912" cy="438912"/>
          </a:xfrm>
          <a:prstGeom prst="ellipse">
            <a:avLst/>
          </a:prstGeom>
          <a:solidFill>
            <a:srgbClr val="13478F"/>
          </a:solidFill>
          <a:ln/>
        </p:spPr>
      </p:sp>
      <p:pic>
        <p:nvPicPr>
          <p:cNvPr id="24" name="Image 4" descr="preencoded.png">    </p:cNvPr>
          <p:cNvPicPr>
            <a:picLocks noChangeAspect="1"/>
          </p:cNvPicPr>
          <p:nvPr/>
        </p:nvPicPr>
        <p:blipFill>
          <a:blip r:embed="rId5"/>
          <a:stretch>
            <a:fillRect/>
          </a:stretch>
        </p:blipFill>
        <p:spPr>
          <a:xfrm>
            <a:off x="3488619" y="3013131"/>
            <a:ext cx="228234" cy="228234"/>
          </a:xfrm>
          <a:prstGeom prst="rect">
            <a:avLst/>
          </a:prstGeom>
        </p:spPr>
      </p:pic>
      <p:sp>
        <p:nvSpPr>
          <p:cNvPr id="25" name="Text 18"/>
          <p:cNvSpPr txBox="1"/>
          <p:nvPr/>
        </p:nvSpPr>
        <p:spPr>
          <a:xfrm>
            <a:off x="3959352" y="2697480"/>
            <a:ext cx="1847088" cy="86868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Need for a unified database-backed web interface</a:t>
            </a:r>
            <a:endParaRPr lang="en-US" sz="1200" dirty="0"/>
          </a:p>
        </p:txBody>
      </p:sp>
      <p:sp>
        <p:nvSpPr>
          <p:cNvPr id="26" name="Shape 19"/>
          <p:cNvSpPr/>
          <p:nvPr/>
        </p:nvSpPr>
        <p:spPr>
          <a:xfrm>
            <a:off x="6035040" y="2651760"/>
            <a:ext cx="2651760" cy="960120"/>
          </a:xfrm>
          <a:prstGeom prst="roundRect">
            <a:avLst>
              <a:gd name="adj" fmla="val 7619"/>
            </a:avLst>
          </a:prstGeom>
          <a:solidFill>
            <a:srgbClr val="F2F4F8"/>
          </a:solidFill>
          <a:ln/>
          <a:effectLst>
            <a:outerShdw sx="100000" sy="100000" kx="0" ky="0" algn="bl" rotWithShape="0" blurRad="76200" dist="25400" dir="5400000">
              <a:srgbClr val="000000">
                <a:alpha val="12000"/>
              </a:srgbClr>
            </a:outerShdw>
          </a:effectLst>
        </p:spPr>
      </p:sp>
      <p:sp>
        <p:nvSpPr>
          <p:cNvPr id="27" name="Shape 20"/>
          <p:cNvSpPr/>
          <p:nvPr/>
        </p:nvSpPr>
        <p:spPr>
          <a:xfrm>
            <a:off x="6172200" y="2907792"/>
            <a:ext cx="438912" cy="438912"/>
          </a:xfrm>
          <a:prstGeom prst="ellipse">
            <a:avLst/>
          </a:prstGeom>
          <a:solidFill>
            <a:srgbClr val="13478F"/>
          </a:solidFill>
          <a:ln/>
        </p:spPr>
      </p:sp>
      <p:pic>
        <p:nvPicPr>
          <p:cNvPr id="28" name="Image 5" descr="preencoded.png">    </p:cNvPr>
          <p:cNvPicPr>
            <a:picLocks noChangeAspect="1"/>
          </p:cNvPicPr>
          <p:nvPr/>
        </p:nvPicPr>
        <p:blipFill>
          <a:blip r:embed="rId6"/>
          <a:stretch>
            <a:fillRect/>
          </a:stretch>
        </p:blipFill>
        <p:spPr>
          <a:xfrm>
            <a:off x="6277539" y="3013131"/>
            <a:ext cx="228234" cy="228234"/>
          </a:xfrm>
          <a:prstGeom prst="rect">
            <a:avLst/>
          </a:prstGeom>
        </p:spPr>
      </p:pic>
      <p:sp>
        <p:nvSpPr>
          <p:cNvPr id="29" name="Text 21"/>
          <p:cNvSpPr txBox="1"/>
          <p:nvPr/>
        </p:nvSpPr>
        <p:spPr>
          <a:xfrm>
            <a:off x="6748272" y="2697480"/>
            <a:ext cx="1847088" cy="86868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Need for maintainable backend APIs</a:t>
            </a:r>
            <a:endParaRPr lang="en-US" sz="1200" dirty="0"/>
          </a:p>
        </p:txBody>
      </p:sp>
      <p:sp>
        <p:nvSpPr>
          <p:cNvPr id="30" name="Shape 22"/>
          <p:cNvSpPr/>
          <p:nvPr/>
        </p:nvSpPr>
        <p:spPr>
          <a:xfrm>
            <a:off x="457200" y="3840480"/>
            <a:ext cx="8229600" cy="731520"/>
          </a:xfrm>
          <a:prstGeom prst="roundRect">
            <a:avLst>
              <a:gd name="adj" fmla="val 10000"/>
            </a:avLst>
          </a:prstGeom>
          <a:solidFill>
            <a:srgbClr val="0B2545"/>
          </a:solidFill>
          <a:ln/>
        </p:spPr>
      </p:sp>
      <p:sp>
        <p:nvSpPr>
          <p:cNvPr id="31" name="Text 23"/>
          <p:cNvSpPr txBox="1"/>
          <p:nvPr/>
        </p:nvSpPr>
        <p:spPr>
          <a:xfrm>
            <a:off x="685800" y="3840480"/>
            <a:ext cx="7772400" cy="73152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The project will investigate whether a centralized database-backed application can address these management challenges.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7315200" y="219456"/>
            <a:ext cx="1371600" cy="274320"/>
          </a:xfrm>
          <a:prstGeom prst="roundRect">
            <a:avLst>
              <a:gd name="adj" fmla="val 50000"/>
            </a:avLst>
          </a:prstGeom>
          <a:solidFill>
            <a:srgbClr val="0F766E"/>
          </a:solidFill>
          <a:ln/>
        </p:spPr>
      </p:sp>
      <p:sp>
        <p:nvSpPr>
          <p:cNvPr id="3" name="Text 1"/>
          <p:cNvSpPr txBox="1"/>
          <p:nvPr/>
        </p:nvSpPr>
        <p:spPr>
          <a:xfrm>
            <a:off x="7315200" y="219456"/>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PLANNED</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Experimental Setup</a:t>
            </a:r>
            <a:endParaRPr lang="en-US" sz="2600" dirty="0"/>
          </a:p>
        </p:txBody>
      </p:sp>
      <p:sp>
        <p:nvSpPr>
          <p:cNvPr id="5" name="Shape 3"/>
          <p:cNvSpPr/>
          <p:nvPr/>
        </p:nvSpPr>
        <p:spPr>
          <a:xfrm>
            <a:off x="457200" y="1280160"/>
            <a:ext cx="1920240" cy="1508760"/>
          </a:xfrm>
          <a:prstGeom prst="roundRect">
            <a:avLst>
              <a:gd name="adj" fmla="val 4848"/>
            </a:avLst>
          </a:prstGeom>
          <a:solidFill>
            <a:srgbClr val="F2F4F8"/>
          </a:solidFill>
          <a:ln/>
          <a:effectLst>
            <a:outerShdw sx="100000" sy="100000" kx="0" ky="0" algn="bl" rotWithShape="0" blurRad="76200" dist="25400" dir="5400000">
              <a:srgbClr val="000000">
                <a:alpha val="12000"/>
              </a:srgbClr>
            </a:outerShdw>
          </a:effectLst>
        </p:spPr>
      </p:sp>
      <p:sp>
        <p:nvSpPr>
          <p:cNvPr id="6" name="Shape 4"/>
          <p:cNvSpPr/>
          <p:nvPr/>
        </p:nvSpPr>
        <p:spPr>
          <a:xfrm>
            <a:off x="566928" y="1389888"/>
            <a:ext cx="347472" cy="347472"/>
          </a:xfrm>
          <a:prstGeom prst="ellipse">
            <a:avLst/>
          </a:prstGeom>
          <a:solidFill>
            <a:srgbClr val="13478F"/>
          </a:solidFill>
          <a:ln/>
        </p:spPr>
      </p:sp>
      <p:sp>
        <p:nvSpPr>
          <p:cNvPr id="7" name="Text 5"/>
          <p:cNvSpPr txBox="1"/>
          <p:nvPr/>
        </p:nvSpPr>
        <p:spPr>
          <a:xfrm>
            <a:off x="566928" y="13898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05840" y="1389888"/>
            <a:ext cx="1280160" cy="34747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PHASE 1</a:t>
            </a:r>
            <a:endParaRPr lang="en-US" sz="1000" dirty="0"/>
          </a:p>
        </p:txBody>
      </p:sp>
      <p:sp>
        <p:nvSpPr>
          <p:cNvPr id="9" name="Text 7"/>
          <p:cNvSpPr txBox="1"/>
          <p:nvPr/>
        </p:nvSpPr>
        <p:spPr>
          <a:xfrm>
            <a:off x="585216" y="1810512"/>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Requirement Analysis</a:t>
            </a:r>
            <a:endParaRPr lang="en-US" sz="1150" dirty="0"/>
          </a:p>
        </p:txBody>
      </p:sp>
      <p:sp>
        <p:nvSpPr>
          <p:cNvPr id="10" name="Text 8"/>
          <p:cNvSpPr txBox="1"/>
          <p:nvPr/>
        </p:nvSpPr>
        <p:spPr>
          <a:xfrm>
            <a:off x="585216" y="2194560"/>
            <a:ext cx="1737360" cy="566928"/>
          </a:xfrm>
          <a:prstGeom prst="rect">
            <a:avLst/>
          </a:prstGeom>
          <a:noFill/>
          <a:ln/>
        </p:spPr>
        <p:txBody>
          <a:bodyPr wrap="square" lIns="0" tIns="0" rIns="0" bIns="0" rtlCol="0" anchor="t"/>
          <a:lstStyle/>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Gather requirements</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Define scope</a:t>
            </a:r>
            <a:endParaRPr lang="en-US" sz="1050" dirty="0"/>
          </a:p>
        </p:txBody>
      </p:sp>
      <p:sp>
        <p:nvSpPr>
          <p:cNvPr id="11" name="Shape 9"/>
          <p:cNvSpPr/>
          <p:nvPr/>
        </p:nvSpPr>
        <p:spPr>
          <a:xfrm>
            <a:off x="2386584" y="2029968"/>
            <a:ext cx="164592" cy="0"/>
          </a:xfrm>
          <a:prstGeom prst="line">
            <a:avLst/>
          </a:prstGeom>
          <a:noFill/>
          <a:ln w="25400">
            <a:solidFill>
              <a:srgbClr val="13478F"/>
            </a:solidFill>
            <a:prstDash val="solid"/>
            <a:tailEnd type="triangle"/>
          </a:ln>
        </p:spPr>
      </p:sp>
      <p:sp>
        <p:nvSpPr>
          <p:cNvPr id="12" name="Shape 10"/>
          <p:cNvSpPr/>
          <p:nvPr/>
        </p:nvSpPr>
        <p:spPr>
          <a:xfrm>
            <a:off x="2560320" y="1280160"/>
            <a:ext cx="1920240" cy="1508760"/>
          </a:xfrm>
          <a:prstGeom prst="roundRect">
            <a:avLst>
              <a:gd name="adj" fmla="val 4848"/>
            </a:avLst>
          </a:prstGeom>
          <a:solidFill>
            <a:srgbClr val="F2F4F8"/>
          </a:solidFill>
          <a:ln/>
          <a:effectLst>
            <a:outerShdw sx="100000" sy="100000" kx="0" ky="0" algn="bl" rotWithShape="0" blurRad="76200" dist="25400" dir="5400000">
              <a:srgbClr val="000000">
                <a:alpha val="12000"/>
              </a:srgbClr>
            </a:outerShdw>
          </a:effectLst>
        </p:spPr>
      </p:sp>
      <p:sp>
        <p:nvSpPr>
          <p:cNvPr id="13" name="Shape 11"/>
          <p:cNvSpPr/>
          <p:nvPr/>
        </p:nvSpPr>
        <p:spPr>
          <a:xfrm>
            <a:off x="2670048" y="1389888"/>
            <a:ext cx="347472" cy="347472"/>
          </a:xfrm>
          <a:prstGeom prst="ellipse">
            <a:avLst/>
          </a:prstGeom>
          <a:solidFill>
            <a:srgbClr val="13478F"/>
          </a:solidFill>
          <a:ln/>
        </p:spPr>
      </p:sp>
      <p:sp>
        <p:nvSpPr>
          <p:cNvPr id="14" name="Text 12"/>
          <p:cNvSpPr txBox="1"/>
          <p:nvPr/>
        </p:nvSpPr>
        <p:spPr>
          <a:xfrm>
            <a:off x="2670048" y="13898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108960" y="1389888"/>
            <a:ext cx="1280160" cy="34747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PHASE 2</a:t>
            </a:r>
            <a:endParaRPr lang="en-US" sz="1000" dirty="0"/>
          </a:p>
        </p:txBody>
      </p:sp>
      <p:sp>
        <p:nvSpPr>
          <p:cNvPr id="16" name="Text 14"/>
          <p:cNvSpPr txBox="1"/>
          <p:nvPr/>
        </p:nvSpPr>
        <p:spPr>
          <a:xfrm>
            <a:off x="2688336" y="1810512"/>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Database Design</a:t>
            </a:r>
            <a:endParaRPr lang="en-US" sz="1150" dirty="0"/>
          </a:p>
        </p:txBody>
      </p:sp>
      <p:sp>
        <p:nvSpPr>
          <p:cNvPr id="17" name="Text 15"/>
          <p:cNvSpPr txBox="1"/>
          <p:nvPr/>
        </p:nvSpPr>
        <p:spPr>
          <a:xfrm>
            <a:off x="2688336" y="2194560"/>
            <a:ext cx="1737360" cy="566928"/>
          </a:xfrm>
          <a:prstGeom prst="rect">
            <a:avLst/>
          </a:prstGeom>
          <a:noFill/>
          <a:ln/>
        </p:spPr>
        <p:txBody>
          <a:bodyPr wrap="square" lIns="0" tIns="0" rIns="0" bIns="0" rtlCol="0" anchor="t"/>
          <a:lstStyle/>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ER diagram</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Schema</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Normalization</a:t>
            </a:r>
            <a:endParaRPr lang="en-US" sz="1050" dirty="0"/>
          </a:p>
        </p:txBody>
      </p:sp>
      <p:sp>
        <p:nvSpPr>
          <p:cNvPr id="18" name="Shape 16"/>
          <p:cNvSpPr/>
          <p:nvPr/>
        </p:nvSpPr>
        <p:spPr>
          <a:xfrm>
            <a:off x="4489704" y="2029968"/>
            <a:ext cx="164592" cy="0"/>
          </a:xfrm>
          <a:prstGeom prst="line">
            <a:avLst/>
          </a:prstGeom>
          <a:noFill/>
          <a:ln w="25400">
            <a:solidFill>
              <a:srgbClr val="13478F"/>
            </a:solidFill>
            <a:prstDash val="solid"/>
            <a:tailEnd type="triangle"/>
          </a:ln>
        </p:spPr>
      </p:sp>
      <p:sp>
        <p:nvSpPr>
          <p:cNvPr id="19" name="Shape 17"/>
          <p:cNvSpPr/>
          <p:nvPr/>
        </p:nvSpPr>
        <p:spPr>
          <a:xfrm>
            <a:off x="4663440" y="1280160"/>
            <a:ext cx="1920240" cy="1508760"/>
          </a:xfrm>
          <a:prstGeom prst="roundRect">
            <a:avLst>
              <a:gd name="adj" fmla="val 4848"/>
            </a:avLst>
          </a:prstGeom>
          <a:solidFill>
            <a:srgbClr val="F2F4F8"/>
          </a:solidFill>
          <a:ln/>
          <a:effectLst>
            <a:outerShdw sx="100000" sy="100000" kx="0" ky="0" algn="bl" rotWithShape="0" blurRad="76200" dist="25400" dir="5400000">
              <a:srgbClr val="000000">
                <a:alpha val="12000"/>
              </a:srgbClr>
            </a:outerShdw>
          </a:effectLst>
        </p:spPr>
      </p:sp>
      <p:sp>
        <p:nvSpPr>
          <p:cNvPr id="20" name="Shape 18"/>
          <p:cNvSpPr/>
          <p:nvPr/>
        </p:nvSpPr>
        <p:spPr>
          <a:xfrm>
            <a:off x="4773168" y="1389888"/>
            <a:ext cx="347472" cy="347472"/>
          </a:xfrm>
          <a:prstGeom prst="ellipse">
            <a:avLst/>
          </a:prstGeom>
          <a:solidFill>
            <a:srgbClr val="13478F"/>
          </a:solidFill>
          <a:ln/>
        </p:spPr>
      </p:sp>
      <p:sp>
        <p:nvSpPr>
          <p:cNvPr id="21" name="Text 19"/>
          <p:cNvSpPr txBox="1"/>
          <p:nvPr/>
        </p:nvSpPr>
        <p:spPr>
          <a:xfrm>
            <a:off x="4773168" y="13898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5212080" y="1389888"/>
            <a:ext cx="1280160" cy="34747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PHASE 3</a:t>
            </a:r>
            <a:endParaRPr lang="en-US" sz="1000" dirty="0"/>
          </a:p>
        </p:txBody>
      </p:sp>
      <p:sp>
        <p:nvSpPr>
          <p:cNvPr id="23" name="Text 21"/>
          <p:cNvSpPr txBox="1"/>
          <p:nvPr/>
        </p:nvSpPr>
        <p:spPr>
          <a:xfrm>
            <a:off x="4791456" y="1810512"/>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MySQL Implementation</a:t>
            </a:r>
            <a:endParaRPr lang="en-US" sz="1150" dirty="0"/>
          </a:p>
        </p:txBody>
      </p:sp>
      <p:sp>
        <p:nvSpPr>
          <p:cNvPr id="24" name="Text 22"/>
          <p:cNvSpPr txBox="1"/>
          <p:nvPr/>
        </p:nvSpPr>
        <p:spPr>
          <a:xfrm>
            <a:off x="4791456" y="2194560"/>
            <a:ext cx="1737360" cy="566928"/>
          </a:xfrm>
          <a:prstGeom prst="rect">
            <a:avLst/>
          </a:prstGeom>
          <a:noFill/>
          <a:ln/>
        </p:spPr>
        <p:txBody>
          <a:bodyPr wrap="square" lIns="0" tIns="0" rIns="0" bIns="0" rtlCol="0" anchor="t"/>
          <a:lstStyle/>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Tables</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Constraints</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Queries</a:t>
            </a:r>
            <a:endParaRPr lang="en-US" sz="1050" dirty="0"/>
          </a:p>
        </p:txBody>
      </p:sp>
      <p:sp>
        <p:nvSpPr>
          <p:cNvPr id="25" name="Shape 23"/>
          <p:cNvSpPr/>
          <p:nvPr/>
        </p:nvSpPr>
        <p:spPr>
          <a:xfrm>
            <a:off x="6592824" y="2029968"/>
            <a:ext cx="164592" cy="0"/>
          </a:xfrm>
          <a:prstGeom prst="line">
            <a:avLst/>
          </a:prstGeom>
          <a:noFill/>
          <a:ln w="25400">
            <a:solidFill>
              <a:srgbClr val="13478F"/>
            </a:solidFill>
            <a:prstDash val="solid"/>
            <a:tailEnd type="triangle"/>
          </a:ln>
        </p:spPr>
      </p:sp>
      <p:sp>
        <p:nvSpPr>
          <p:cNvPr id="26" name="Shape 24"/>
          <p:cNvSpPr/>
          <p:nvPr/>
        </p:nvSpPr>
        <p:spPr>
          <a:xfrm>
            <a:off x="6766560" y="1280160"/>
            <a:ext cx="1920240" cy="1508760"/>
          </a:xfrm>
          <a:prstGeom prst="roundRect">
            <a:avLst>
              <a:gd name="adj" fmla="val 4848"/>
            </a:avLst>
          </a:prstGeom>
          <a:solidFill>
            <a:srgbClr val="F2F4F8"/>
          </a:solidFill>
          <a:ln/>
          <a:effectLst>
            <a:outerShdw sx="100000" sy="100000" kx="0" ky="0" algn="bl" rotWithShape="0" blurRad="76200" dist="25400" dir="5400000">
              <a:srgbClr val="000000">
                <a:alpha val="12000"/>
              </a:srgbClr>
            </a:outerShdw>
          </a:effectLst>
        </p:spPr>
      </p:sp>
      <p:sp>
        <p:nvSpPr>
          <p:cNvPr id="27" name="Shape 25"/>
          <p:cNvSpPr/>
          <p:nvPr/>
        </p:nvSpPr>
        <p:spPr>
          <a:xfrm>
            <a:off x="6876288" y="1389888"/>
            <a:ext cx="347472" cy="347472"/>
          </a:xfrm>
          <a:prstGeom prst="ellipse">
            <a:avLst/>
          </a:prstGeom>
          <a:solidFill>
            <a:srgbClr val="13478F"/>
          </a:solidFill>
          <a:ln/>
        </p:spPr>
      </p:sp>
      <p:sp>
        <p:nvSpPr>
          <p:cNvPr id="28" name="Text 26"/>
          <p:cNvSpPr txBox="1"/>
          <p:nvPr/>
        </p:nvSpPr>
        <p:spPr>
          <a:xfrm>
            <a:off x="6876288" y="13898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txBox="1"/>
          <p:nvPr/>
        </p:nvSpPr>
        <p:spPr>
          <a:xfrm>
            <a:off x="7315200" y="1389888"/>
            <a:ext cx="1280160" cy="34747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PHASE 4</a:t>
            </a:r>
            <a:endParaRPr lang="en-US" sz="1000" dirty="0"/>
          </a:p>
        </p:txBody>
      </p:sp>
      <p:sp>
        <p:nvSpPr>
          <p:cNvPr id="30" name="Text 28"/>
          <p:cNvSpPr txBox="1"/>
          <p:nvPr/>
        </p:nvSpPr>
        <p:spPr>
          <a:xfrm>
            <a:off x="6894576" y="1810512"/>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Backend Development</a:t>
            </a:r>
            <a:endParaRPr lang="en-US" sz="1150" dirty="0"/>
          </a:p>
        </p:txBody>
      </p:sp>
      <p:sp>
        <p:nvSpPr>
          <p:cNvPr id="31" name="Text 29"/>
          <p:cNvSpPr txBox="1"/>
          <p:nvPr/>
        </p:nvSpPr>
        <p:spPr>
          <a:xfrm>
            <a:off x="6894576" y="2194560"/>
            <a:ext cx="1737360" cy="566928"/>
          </a:xfrm>
          <a:prstGeom prst="rect">
            <a:avLst/>
          </a:prstGeom>
          <a:noFill/>
          <a:ln/>
        </p:spPr>
        <p:txBody>
          <a:bodyPr wrap="square" lIns="0" tIns="0" rIns="0" bIns="0" rtlCol="0" anchor="t"/>
          <a:lstStyle/>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Node.js</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Express</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REST APIs</a:t>
            </a:r>
            <a:endParaRPr lang="en-US" sz="1050" dirty="0"/>
          </a:p>
        </p:txBody>
      </p:sp>
      <p:sp>
        <p:nvSpPr>
          <p:cNvPr id="32" name="Shape 30"/>
          <p:cNvSpPr/>
          <p:nvPr/>
        </p:nvSpPr>
        <p:spPr>
          <a:xfrm>
            <a:off x="457200" y="2971800"/>
            <a:ext cx="1920240" cy="1508760"/>
          </a:xfrm>
          <a:prstGeom prst="roundRect">
            <a:avLst>
              <a:gd name="adj" fmla="val 4848"/>
            </a:avLst>
          </a:prstGeom>
          <a:solidFill>
            <a:srgbClr val="F2F4F8"/>
          </a:solidFill>
          <a:ln/>
          <a:effectLst>
            <a:outerShdw sx="100000" sy="100000" kx="0" ky="0" algn="bl" rotWithShape="0" blurRad="76200" dist="25400" dir="5400000">
              <a:srgbClr val="000000">
                <a:alpha val="12000"/>
              </a:srgbClr>
            </a:outerShdw>
          </a:effectLst>
        </p:spPr>
      </p:sp>
      <p:sp>
        <p:nvSpPr>
          <p:cNvPr id="33" name="Shape 31"/>
          <p:cNvSpPr/>
          <p:nvPr/>
        </p:nvSpPr>
        <p:spPr>
          <a:xfrm>
            <a:off x="566928" y="3081528"/>
            <a:ext cx="347472" cy="347472"/>
          </a:xfrm>
          <a:prstGeom prst="ellipse">
            <a:avLst/>
          </a:prstGeom>
          <a:solidFill>
            <a:srgbClr val="0B2545"/>
          </a:solidFill>
          <a:ln/>
        </p:spPr>
      </p:sp>
      <p:sp>
        <p:nvSpPr>
          <p:cNvPr id="34" name="Text 32"/>
          <p:cNvSpPr txBox="1"/>
          <p:nvPr/>
        </p:nvSpPr>
        <p:spPr>
          <a:xfrm>
            <a:off x="566928" y="30815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5" name="Text 33"/>
          <p:cNvSpPr txBox="1"/>
          <p:nvPr/>
        </p:nvSpPr>
        <p:spPr>
          <a:xfrm>
            <a:off x="1005840" y="3081528"/>
            <a:ext cx="1280160" cy="34747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PHASE 5</a:t>
            </a:r>
            <a:endParaRPr lang="en-US" sz="1000" dirty="0"/>
          </a:p>
        </p:txBody>
      </p:sp>
      <p:sp>
        <p:nvSpPr>
          <p:cNvPr id="36" name="Text 34"/>
          <p:cNvSpPr txBox="1"/>
          <p:nvPr/>
        </p:nvSpPr>
        <p:spPr>
          <a:xfrm>
            <a:off x="585216" y="3502152"/>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Frontend Development</a:t>
            </a:r>
            <a:endParaRPr lang="en-US" sz="1150" dirty="0"/>
          </a:p>
        </p:txBody>
      </p:sp>
      <p:sp>
        <p:nvSpPr>
          <p:cNvPr id="37" name="Text 35"/>
          <p:cNvSpPr txBox="1"/>
          <p:nvPr/>
        </p:nvSpPr>
        <p:spPr>
          <a:xfrm>
            <a:off x="585216" y="3886200"/>
            <a:ext cx="1737360" cy="566928"/>
          </a:xfrm>
          <a:prstGeom prst="rect">
            <a:avLst/>
          </a:prstGeom>
          <a:noFill/>
          <a:ln/>
        </p:spPr>
        <p:txBody>
          <a:bodyPr wrap="square" lIns="0" tIns="0" rIns="0" bIns="0" rtlCol="0" anchor="t"/>
          <a:lstStyle/>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HTML</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CSS</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JavaScript</a:t>
            </a:r>
            <a:endParaRPr lang="en-US" sz="1050" dirty="0"/>
          </a:p>
        </p:txBody>
      </p:sp>
      <p:sp>
        <p:nvSpPr>
          <p:cNvPr id="38" name="Shape 36"/>
          <p:cNvSpPr/>
          <p:nvPr/>
        </p:nvSpPr>
        <p:spPr>
          <a:xfrm>
            <a:off x="2386584" y="3721608"/>
            <a:ext cx="164592" cy="0"/>
          </a:xfrm>
          <a:prstGeom prst="line">
            <a:avLst/>
          </a:prstGeom>
          <a:noFill/>
          <a:ln w="25400">
            <a:solidFill>
              <a:srgbClr val="13478F"/>
            </a:solidFill>
            <a:prstDash val="solid"/>
            <a:tailEnd type="triangle"/>
          </a:ln>
        </p:spPr>
      </p:sp>
      <p:sp>
        <p:nvSpPr>
          <p:cNvPr id="39" name="Shape 37"/>
          <p:cNvSpPr/>
          <p:nvPr/>
        </p:nvSpPr>
        <p:spPr>
          <a:xfrm>
            <a:off x="2560320" y="2971800"/>
            <a:ext cx="1920240" cy="1508760"/>
          </a:xfrm>
          <a:prstGeom prst="roundRect">
            <a:avLst>
              <a:gd name="adj" fmla="val 4848"/>
            </a:avLst>
          </a:prstGeom>
          <a:solidFill>
            <a:srgbClr val="F2F4F8"/>
          </a:solidFill>
          <a:ln/>
          <a:effectLst>
            <a:outerShdw sx="100000" sy="100000" kx="0" ky="0" algn="bl" rotWithShape="0" blurRad="76200" dist="25400" dir="5400000">
              <a:srgbClr val="000000">
                <a:alpha val="12000"/>
              </a:srgbClr>
            </a:outerShdw>
          </a:effectLst>
        </p:spPr>
      </p:sp>
      <p:sp>
        <p:nvSpPr>
          <p:cNvPr id="40" name="Shape 38"/>
          <p:cNvSpPr/>
          <p:nvPr/>
        </p:nvSpPr>
        <p:spPr>
          <a:xfrm>
            <a:off x="2670048" y="3081528"/>
            <a:ext cx="347472" cy="347472"/>
          </a:xfrm>
          <a:prstGeom prst="ellipse">
            <a:avLst/>
          </a:prstGeom>
          <a:solidFill>
            <a:srgbClr val="0B2545"/>
          </a:solidFill>
          <a:ln/>
        </p:spPr>
      </p:sp>
      <p:sp>
        <p:nvSpPr>
          <p:cNvPr id="41" name="Text 39"/>
          <p:cNvSpPr txBox="1"/>
          <p:nvPr/>
        </p:nvSpPr>
        <p:spPr>
          <a:xfrm>
            <a:off x="2670048" y="30815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2" name="Text 40"/>
          <p:cNvSpPr txBox="1"/>
          <p:nvPr/>
        </p:nvSpPr>
        <p:spPr>
          <a:xfrm>
            <a:off x="3108960" y="3081528"/>
            <a:ext cx="1280160" cy="34747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PHASE 6</a:t>
            </a:r>
            <a:endParaRPr lang="en-US" sz="1000" dirty="0"/>
          </a:p>
        </p:txBody>
      </p:sp>
      <p:sp>
        <p:nvSpPr>
          <p:cNvPr id="43" name="Text 41"/>
          <p:cNvSpPr txBox="1"/>
          <p:nvPr/>
        </p:nvSpPr>
        <p:spPr>
          <a:xfrm>
            <a:off x="2688336" y="3502152"/>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Integration</a:t>
            </a:r>
            <a:endParaRPr lang="en-US" sz="1150" dirty="0"/>
          </a:p>
        </p:txBody>
      </p:sp>
      <p:sp>
        <p:nvSpPr>
          <p:cNvPr id="44" name="Text 42"/>
          <p:cNvSpPr txBox="1"/>
          <p:nvPr/>
        </p:nvSpPr>
        <p:spPr>
          <a:xfrm>
            <a:off x="2688336" y="3886200"/>
            <a:ext cx="1737360" cy="566928"/>
          </a:xfrm>
          <a:prstGeom prst="rect">
            <a:avLst/>
          </a:prstGeom>
          <a:noFill/>
          <a:ln/>
        </p:spPr>
        <p:txBody>
          <a:bodyPr wrap="square" lIns="0" tIns="0" rIns="0" bIns="0" rtlCol="0" anchor="t"/>
          <a:lstStyle/>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Frontend ↔ Backend ↔ MySQL</a:t>
            </a:r>
            <a:endParaRPr lang="en-US" sz="1050" dirty="0"/>
          </a:p>
        </p:txBody>
      </p:sp>
      <p:sp>
        <p:nvSpPr>
          <p:cNvPr id="45" name="Shape 43"/>
          <p:cNvSpPr/>
          <p:nvPr/>
        </p:nvSpPr>
        <p:spPr>
          <a:xfrm>
            <a:off x="4489704" y="3721608"/>
            <a:ext cx="164592" cy="0"/>
          </a:xfrm>
          <a:prstGeom prst="line">
            <a:avLst/>
          </a:prstGeom>
          <a:noFill/>
          <a:ln w="25400">
            <a:solidFill>
              <a:srgbClr val="13478F"/>
            </a:solidFill>
            <a:prstDash val="solid"/>
            <a:tailEnd type="triangle"/>
          </a:ln>
        </p:spPr>
      </p:sp>
      <p:sp>
        <p:nvSpPr>
          <p:cNvPr id="46" name="Shape 44"/>
          <p:cNvSpPr/>
          <p:nvPr/>
        </p:nvSpPr>
        <p:spPr>
          <a:xfrm>
            <a:off x="4663440" y="2971800"/>
            <a:ext cx="1920240" cy="1508760"/>
          </a:xfrm>
          <a:prstGeom prst="roundRect">
            <a:avLst>
              <a:gd name="adj" fmla="val 4848"/>
            </a:avLst>
          </a:prstGeom>
          <a:solidFill>
            <a:srgbClr val="F2F4F8"/>
          </a:solidFill>
          <a:ln/>
          <a:effectLst>
            <a:outerShdw sx="100000" sy="100000" kx="0" ky="0" algn="bl" rotWithShape="0" blurRad="76200" dist="25400" dir="5400000">
              <a:srgbClr val="000000">
                <a:alpha val="12000"/>
              </a:srgbClr>
            </a:outerShdw>
          </a:effectLst>
        </p:spPr>
      </p:sp>
      <p:sp>
        <p:nvSpPr>
          <p:cNvPr id="47" name="Shape 45"/>
          <p:cNvSpPr/>
          <p:nvPr/>
        </p:nvSpPr>
        <p:spPr>
          <a:xfrm>
            <a:off x="4773168" y="3081528"/>
            <a:ext cx="347472" cy="347472"/>
          </a:xfrm>
          <a:prstGeom prst="ellipse">
            <a:avLst/>
          </a:prstGeom>
          <a:solidFill>
            <a:srgbClr val="0B2545"/>
          </a:solidFill>
          <a:ln/>
        </p:spPr>
      </p:sp>
      <p:sp>
        <p:nvSpPr>
          <p:cNvPr id="48" name="Text 46"/>
          <p:cNvSpPr txBox="1"/>
          <p:nvPr/>
        </p:nvSpPr>
        <p:spPr>
          <a:xfrm>
            <a:off x="4773168" y="30815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9" name="Text 47"/>
          <p:cNvSpPr txBox="1"/>
          <p:nvPr/>
        </p:nvSpPr>
        <p:spPr>
          <a:xfrm>
            <a:off x="5212080" y="3081528"/>
            <a:ext cx="1280160" cy="34747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PHASE 7</a:t>
            </a:r>
            <a:endParaRPr lang="en-US" sz="1000" dirty="0"/>
          </a:p>
        </p:txBody>
      </p:sp>
      <p:sp>
        <p:nvSpPr>
          <p:cNvPr id="50" name="Text 48"/>
          <p:cNvSpPr txBox="1"/>
          <p:nvPr/>
        </p:nvSpPr>
        <p:spPr>
          <a:xfrm>
            <a:off x="4791456" y="3502152"/>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Testing</a:t>
            </a:r>
            <a:endParaRPr lang="en-US" sz="1150" dirty="0"/>
          </a:p>
        </p:txBody>
      </p:sp>
      <p:sp>
        <p:nvSpPr>
          <p:cNvPr id="51" name="Text 49"/>
          <p:cNvSpPr txBox="1"/>
          <p:nvPr/>
        </p:nvSpPr>
        <p:spPr>
          <a:xfrm>
            <a:off x="4791456" y="3886200"/>
            <a:ext cx="1737360" cy="566928"/>
          </a:xfrm>
          <a:prstGeom prst="rect">
            <a:avLst/>
          </a:prstGeom>
          <a:noFill/>
          <a:ln/>
        </p:spPr>
        <p:txBody>
          <a:bodyPr wrap="square" lIns="0" tIns="0" rIns="0" bIns="0" rtlCol="0" anchor="t"/>
          <a:lstStyle/>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Functional testing</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API testing</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Database testing</a:t>
            </a:r>
            <a:endParaRPr lang="en-US" sz="1050" dirty="0"/>
          </a:p>
        </p:txBody>
      </p:sp>
      <p:sp>
        <p:nvSpPr>
          <p:cNvPr id="52" name="Shape 50"/>
          <p:cNvSpPr/>
          <p:nvPr/>
        </p:nvSpPr>
        <p:spPr>
          <a:xfrm>
            <a:off x="6592824" y="3721608"/>
            <a:ext cx="164592" cy="0"/>
          </a:xfrm>
          <a:prstGeom prst="line">
            <a:avLst/>
          </a:prstGeom>
          <a:noFill/>
          <a:ln w="25400">
            <a:solidFill>
              <a:srgbClr val="13478F"/>
            </a:solidFill>
            <a:prstDash val="solid"/>
            <a:tailEnd type="triangle"/>
          </a:ln>
        </p:spPr>
      </p:sp>
      <p:sp>
        <p:nvSpPr>
          <p:cNvPr id="53" name="Shape 51"/>
          <p:cNvSpPr/>
          <p:nvPr/>
        </p:nvSpPr>
        <p:spPr>
          <a:xfrm>
            <a:off x="6766560" y="2971800"/>
            <a:ext cx="1920240" cy="1508760"/>
          </a:xfrm>
          <a:prstGeom prst="roundRect">
            <a:avLst>
              <a:gd name="adj" fmla="val 4848"/>
            </a:avLst>
          </a:prstGeom>
          <a:solidFill>
            <a:srgbClr val="F2F4F8"/>
          </a:solidFill>
          <a:ln/>
          <a:effectLst>
            <a:outerShdw sx="100000" sy="100000" kx="0" ky="0" algn="bl" rotWithShape="0" blurRad="76200" dist="25400" dir="5400000">
              <a:srgbClr val="000000">
                <a:alpha val="12000"/>
              </a:srgbClr>
            </a:outerShdw>
          </a:effectLst>
        </p:spPr>
      </p:sp>
      <p:sp>
        <p:nvSpPr>
          <p:cNvPr id="54" name="Shape 52"/>
          <p:cNvSpPr/>
          <p:nvPr/>
        </p:nvSpPr>
        <p:spPr>
          <a:xfrm>
            <a:off x="6876288" y="3081528"/>
            <a:ext cx="347472" cy="347472"/>
          </a:xfrm>
          <a:prstGeom prst="ellipse">
            <a:avLst/>
          </a:prstGeom>
          <a:solidFill>
            <a:srgbClr val="0B2545"/>
          </a:solidFill>
          <a:ln/>
        </p:spPr>
      </p:sp>
      <p:sp>
        <p:nvSpPr>
          <p:cNvPr id="55" name="Text 53"/>
          <p:cNvSpPr txBox="1"/>
          <p:nvPr/>
        </p:nvSpPr>
        <p:spPr>
          <a:xfrm>
            <a:off x="6876288" y="308152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56" name="Text 54"/>
          <p:cNvSpPr txBox="1"/>
          <p:nvPr/>
        </p:nvSpPr>
        <p:spPr>
          <a:xfrm>
            <a:off x="7315200" y="3081528"/>
            <a:ext cx="1280160" cy="34747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PHASE 8</a:t>
            </a:r>
            <a:endParaRPr lang="en-US" sz="1000" dirty="0"/>
          </a:p>
        </p:txBody>
      </p:sp>
      <p:sp>
        <p:nvSpPr>
          <p:cNvPr id="57" name="Text 55"/>
          <p:cNvSpPr txBox="1"/>
          <p:nvPr/>
        </p:nvSpPr>
        <p:spPr>
          <a:xfrm>
            <a:off x="6894576" y="3502152"/>
            <a:ext cx="1691640" cy="365760"/>
          </a:xfrm>
          <a:prstGeom prst="rect">
            <a:avLst/>
          </a:prstGeom>
          <a:noFill/>
          <a:ln/>
        </p:spPr>
        <p:txBody>
          <a:bodyPr wrap="square" lIns="0" tIns="0" rIns="0" bIns="0" rtlCol="0" anchor="t"/>
          <a:lstStyle/>
          <a:p>
            <a:pPr indent="0" marL="0">
              <a:buNone/>
            </a:pPr>
            <a:r>
              <a:rPr lang="en-US" sz="1150" b="1" dirty="0">
                <a:solidFill>
                  <a:srgbClr val="0B2545"/>
                </a:solidFill>
                <a:latin typeface="Calibri" pitchFamily="34" charset="0"/>
                <a:ea typeface="Calibri" pitchFamily="34" charset="-122"/>
                <a:cs typeface="Calibri" pitchFamily="34" charset="-120"/>
              </a:rPr>
              <a:t>Deployment / Documentation</a:t>
            </a:r>
            <a:endParaRPr lang="en-US" sz="1150" dirty="0"/>
          </a:p>
        </p:txBody>
      </p:sp>
      <p:sp>
        <p:nvSpPr>
          <p:cNvPr id="58" name="Text 56"/>
          <p:cNvSpPr txBox="1"/>
          <p:nvPr/>
        </p:nvSpPr>
        <p:spPr>
          <a:xfrm>
            <a:off x="6894576" y="3886200"/>
            <a:ext cx="1737360" cy="566928"/>
          </a:xfrm>
          <a:prstGeom prst="rect">
            <a:avLst/>
          </a:prstGeom>
          <a:noFill/>
          <a:ln/>
        </p:spPr>
        <p:txBody>
          <a:bodyPr wrap="square" lIns="0" tIns="0" rIns="0" bIns="0" rtlCol="0" anchor="t"/>
          <a:lstStyle/>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GitHub</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Documentation</a:t>
            </a:r>
            <a:endParaRPr lang="en-US" sz="1050" dirty="0"/>
          </a:p>
          <a:p>
            <a:pPr marL="152400" indent="-152400">
              <a:buSzPct val="100000"/>
              <a:buChar char="•"/>
            </a:pPr>
            <a:r>
              <a:rPr lang="en-US" sz="1050" dirty="0">
                <a:solidFill>
                  <a:srgbClr val="1F2937"/>
                </a:solidFill>
                <a:latin typeface="Calibri" pitchFamily="34" charset="0"/>
                <a:ea typeface="Calibri" pitchFamily="34" charset="-122"/>
                <a:cs typeface="Calibri" pitchFamily="34" charset="-120"/>
              </a:rPr>
              <a:t>Final demonstration</a:t>
            </a:r>
            <a:endParaRPr lang="en-US" sz="1050" dirty="0"/>
          </a:p>
        </p:txBody>
      </p:sp>
      <p:sp>
        <p:nvSpPr>
          <p:cNvPr id="59" name="Text 57"/>
          <p:cNvSpPr txBox="1"/>
          <p:nvPr/>
        </p:nvSpPr>
        <p:spPr>
          <a:xfrm>
            <a:off x="457200" y="4572000"/>
            <a:ext cx="8229600" cy="201168"/>
          </a:xfrm>
          <a:prstGeom prst="rect">
            <a:avLst/>
          </a:prstGeom>
          <a:noFill/>
          <a:ln/>
        </p:spPr>
        <p:txBody>
          <a:bodyPr wrap="square" lIns="0" tIns="0" rIns="0" bIns="0" rtlCol="0" anchor="t"/>
          <a:lstStyle/>
          <a:p>
            <a:pPr algn="ctr" indent="0" marL="0">
              <a:buNone/>
            </a:pPr>
            <a:r>
              <a:rPr lang="en-US" sz="1050" i="1" dirty="0">
                <a:solidFill>
                  <a:srgbClr val="6B7280"/>
                </a:solidFill>
                <a:latin typeface="Calibri" pitchFamily="34" charset="0"/>
                <a:ea typeface="Calibri" pitchFamily="34" charset="-122"/>
                <a:cs typeface="Calibri" pitchFamily="34" charset="-120"/>
              </a:rPr>
              <a:t>All phases are planned; implementation has not started.</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989320" y="219456"/>
            <a:ext cx="2697480" cy="274320"/>
          </a:xfrm>
          <a:prstGeom prst="roundRect">
            <a:avLst>
              <a:gd name="adj" fmla="val 50000"/>
            </a:avLst>
          </a:prstGeom>
          <a:solidFill>
            <a:srgbClr val="B45309"/>
          </a:solidFill>
          <a:ln/>
        </p:spPr>
      </p:sp>
      <p:sp>
        <p:nvSpPr>
          <p:cNvPr id="3" name="Text 1"/>
          <p:cNvSpPr txBox="1"/>
          <p:nvPr/>
        </p:nvSpPr>
        <p:spPr>
          <a:xfrm>
            <a:off x="5989320" y="219456"/>
            <a:ext cx="2697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EXPECTED — NOT YET IMPLEMENTED</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Results</a:t>
            </a:r>
            <a:endParaRPr lang="en-US" sz="2600" dirty="0"/>
          </a:p>
        </p:txBody>
      </p:sp>
      <p:sp>
        <p:nvSpPr>
          <p:cNvPr id="5" name="Text 3"/>
          <p:cNvSpPr txBox="1"/>
          <p:nvPr/>
        </p:nvSpPr>
        <p:spPr>
          <a:xfrm>
            <a:off x="457200" y="1188720"/>
            <a:ext cx="8229600" cy="2743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expected outcome is a working web-based hostel management system capable of:</a:t>
            </a:r>
            <a:endParaRPr lang="en-US" sz="1300" dirty="0"/>
          </a:p>
        </p:txBody>
      </p:sp>
      <p:sp>
        <p:nvSpPr>
          <p:cNvPr id="6" name="Shape 4"/>
          <p:cNvSpPr/>
          <p:nvPr/>
        </p:nvSpPr>
        <p:spPr>
          <a:xfrm>
            <a:off x="457200" y="1572768"/>
            <a:ext cx="2651760" cy="658368"/>
          </a:xfrm>
          <a:prstGeom prst="roundRect">
            <a:avLst>
              <a:gd name="adj" fmla="val 11111"/>
            </a:avLst>
          </a:prstGeom>
          <a:solidFill>
            <a:srgbClr val="F2F4F8"/>
          </a:solidFill>
          <a:ln/>
          <a:effectLst>
            <a:outerShdw sx="100000" sy="100000" kx="0" ky="0" algn="bl" rotWithShape="0" blurRad="76200" dist="25400" dir="5400000">
              <a:srgbClr val="000000">
                <a:alpha val="12000"/>
              </a:srgbClr>
            </a:outerShdw>
          </a:effectLst>
        </p:spPr>
      </p:sp>
      <p:sp>
        <p:nvSpPr>
          <p:cNvPr id="7" name="Shape 5"/>
          <p:cNvSpPr/>
          <p:nvPr/>
        </p:nvSpPr>
        <p:spPr>
          <a:xfrm>
            <a:off x="566928" y="1700784"/>
            <a:ext cx="402336" cy="402336"/>
          </a:xfrm>
          <a:prstGeom prst="ellipse">
            <a:avLst/>
          </a:prstGeom>
          <a:solidFill>
            <a:srgbClr val="13478F"/>
          </a:solidFill>
          <a:ln/>
        </p:spPr>
      </p:sp>
      <p:pic>
        <p:nvPicPr>
          <p:cNvPr id="8" name="Image 0" descr="preencoded.png">    </p:cNvPr>
          <p:cNvPicPr>
            <a:picLocks noChangeAspect="1"/>
          </p:cNvPicPr>
          <p:nvPr/>
        </p:nvPicPr>
        <p:blipFill>
          <a:blip r:embed="rId1"/>
          <a:stretch>
            <a:fillRect/>
          </a:stretch>
        </p:blipFill>
        <p:spPr>
          <a:xfrm>
            <a:off x="663489" y="1797345"/>
            <a:ext cx="209215" cy="209215"/>
          </a:xfrm>
          <a:prstGeom prst="rect">
            <a:avLst/>
          </a:prstGeom>
        </p:spPr>
      </p:pic>
      <p:sp>
        <p:nvSpPr>
          <p:cNvPr id="9" name="Text 6"/>
          <p:cNvSpPr txBox="1"/>
          <p:nvPr/>
        </p:nvSpPr>
        <p:spPr>
          <a:xfrm>
            <a:off x="1078992" y="1572768"/>
            <a:ext cx="1965960" cy="65836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Managing student records</a:t>
            </a:r>
            <a:endParaRPr lang="en-US" sz="1150" dirty="0"/>
          </a:p>
        </p:txBody>
      </p:sp>
      <p:sp>
        <p:nvSpPr>
          <p:cNvPr id="10" name="Shape 7"/>
          <p:cNvSpPr/>
          <p:nvPr/>
        </p:nvSpPr>
        <p:spPr>
          <a:xfrm>
            <a:off x="3246120" y="1572768"/>
            <a:ext cx="2651760" cy="658368"/>
          </a:xfrm>
          <a:prstGeom prst="roundRect">
            <a:avLst>
              <a:gd name="adj" fmla="val 11111"/>
            </a:avLst>
          </a:prstGeom>
          <a:solidFill>
            <a:srgbClr val="F2F4F8"/>
          </a:solidFill>
          <a:ln/>
          <a:effectLst>
            <a:outerShdw sx="100000" sy="100000" kx="0" ky="0" algn="bl" rotWithShape="0" blurRad="76200" dist="25400" dir="5400000">
              <a:srgbClr val="000000">
                <a:alpha val="12000"/>
              </a:srgbClr>
            </a:outerShdw>
          </a:effectLst>
        </p:spPr>
      </p:sp>
      <p:sp>
        <p:nvSpPr>
          <p:cNvPr id="11" name="Shape 8"/>
          <p:cNvSpPr/>
          <p:nvPr/>
        </p:nvSpPr>
        <p:spPr>
          <a:xfrm>
            <a:off x="3355848" y="1700784"/>
            <a:ext cx="402336" cy="402336"/>
          </a:xfrm>
          <a:prstGeom prst="ellipse">
            <a:avLst/>
          </a:prstGeom>
          <a:solidFill>
            <a:srgbClr val="13478F"/>
          </a:solidFill>
          <a:ln/>
        </p:spPr>
      </p:sp>
      <p:pic>
        <p:nvPicPr>
          <p:cNvPr id="12" name="Image 1" descr="preencoded.png">    </p:cNvPr>
          <p:cNvPicPr>
            <a:picLocks noChangeAspect="1"/>
          </p:cNvPicPr>
          <p:nvPr/>
        </p:nvPicPr>
        <p:blipFill>
          <a:blip r:embed="rId2"/>
          <a:stretch>
            <a:fillRect/>
          </a:stretch>
        </p:blipFill>
        <p:spPr>
          <a:xfrm>
            <a:off x="3452409" y="1797345"/>
            <a:ext cx="209215" cy="209215"/>
          </a:xfrm>
          <a:prstGeom prst="rect">
            <a:avLst/>
          </a:prstGeom>
        </p:spPr>
      </p:pic>
      <p:sp>
        <p:nvSpPr>
          <p:cNvPr id="13" name="Text 9"/>
          <p:cNvSpPr txBox="1"/>
          <p:nvPr/>
        </p:nvSpPr>
        <p:spPr>
          <a:xfrm>
            <a:off x="3867912" y="1572768"/>
            <a:ext cx="1965960" cy="65836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Managing room records</a:t>
            </a:r>
            <a:endParaRPr lang="en-US" sz="1150" dirty="0"/>
          </a:p>
        </p:txBody>
      </p:sp>
      <p:sp>
        <p:nvSpPr>
          <p:cNvPr id="14" name="Shape 10"/>
          <p:cNvSpPr/>
          <p:nvPr/>
        </p:nvSpPr>
        <p:spPr>
          <a:xfrm>
            <a:off x="6035040" y="1572768"/>
            <a:ext cx="2651760" cy="658368"/>
          </a:xfrm>
          <a:prstGeom prst="roundRect">
            <a:avLst>
              <a:gd name="adj" fmla="val 11111"/>
            </a:avLst>
          </a:prstGeom>
          <a:solidFill>
            <a:srgbClr val="F2F4F8"/>
          </a:solidFill>
          <a:ln/>
          <a:effectLst>
            <a:outerShdw sx="100000" sy="100000" kx="0" ky="0" algn="bl" rotWithShape="0" blurRad="76200" dist="25400" dir="5400000">
              <a:srgbClr val="000000">
                <a:alpha val="12000"/>
              </a:srgbClr>
            </a:outerShdw>
          </a:effectLst>
        </p:spPr>
      </p:sp>
      <p:sp>
        <p:nvSpPr>
          <p:cNvPr id="15" name="Shape 11"/>
          <p:cNvSpPr/>
          <p:nvPr/>
        </p:nvSpPr>
        <p:spPr>
          <a:xfrm>
            <a:off x="6144768" y="1700784"/>
            <a:ext cx="402336" cy="402336"/>
          </a:xfrm>
          <a:prstGeom prst="ellipse">
            <a:avLst/>
          </a:prstGeom>
          <a:solidFill>
            <a:srgbClr val="13478F"/>
          </a:solidFill>
          <a:ln/>
        </p:spPr>
      </p:sp>
      <p:pic>
        <p:nvPicPr>
          <p:cNvPr id="16" name="Image 2" descr="preencoded.png">    </p:cNvPr>
          <p:cNvPicPr>
            <a:picLocks noChangeAspect="1"/>
          </p:cNvPicPr>
          <p:nvPr/>
        </p:nvPicPr>
        <p:blipFill>
          <a:blip r:embed="rId3"/>
          <a:stretch>
            <a:fillRect/>
          </a:stretch>
        </p:blipFill>
        <p:spPr>
          <a:xfrm>
            <a:off x="6241329" y="1797345"/>
            <a:ext cx="209215" cy="209215"/>
          </a:xfrm>
          <a:prstGeom prst="rect">
            <a:avLst/>
          </a:prstGeom>
        </p:spPr>
      </p:pic>
      <p:sp>
        <p:nvSpPr>
          <p:cNvPr id="17" name="Text 12"/>
          <p:cNvSpPr txBox="1"/>
          <p:nvPr/>
        </p:nvSpPr>
        <p:spPr>
          <a:xfrm>
            <a:off x="6656832" y="1572768"/>
            <a:ext cx="1965960" cy="65836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Checking room availability</a:t>
            </a:r>
            <a:endParaRPr lang="en-US" sz="1150" dirty="0"/>
          </a:p>
        </p:txBody>
      </p:sp>
      <p:sp>
        <p:nvSpPr>
          <p:cNvPr id="18" name="Shape 13"/>
          <p:cNvSpPr/>
          <p:nvPr/>
        </p:nvSpPr>
        <p:spPr>
          <a:xfrm>
            <a:off x="457200" y="2359152"/>
            <a:ext cx="2651760" cy="658368"/>
          </a:xfrm>
          <a:prstGeom prst="roundRect">
            <a:avLst>
              <a:gd name="adj" fmla="val 11111"/>
            </a:avLst>
          </a:prstGeom>
          <a:solidFill>
            <a:srgbClr val="F2F4F8"/>
          </a:solidFill>
          <a:ln/>
          <a:effectLst>
            <a:outerShdw sx="100000" sy="100000" kx="0" ky="0" algn="bl" rotWithShape="0" blurRad="76200" dist="25400" dir="5400000">
              <a:srgbClr val="000000">
                <a:alpha val="12000"/>
              </a:srgbClr>
            </a:outerShdw>
          </a:effectLst>
        </p:spPr>
      </p:sp>
      <p:sp>
        <p:nvSpPr>
          <p:cNvPr id="19" name="Shape 14"/>
          <p:cNvSpPr/>
          <p:nvPr/>
        </p:nvSpPr>
        <p:spPr>
          <a:xfrm>
            <a:off x="566928" y="2487168"/>
            <a:ext cx="402336" cy="402336"/>
          </a:xfrm>
          <a:prstGeom prst="ellipse">
            <a:avLst/>
          </a:prstGeom>
          <a:solidFill>
            <a:srgbClr val="13478F"/>
          </a:solidFill>
          <a:ln/>
        </p:spPr>
      </p:sp>
      <p:pic>
        <p:nvPicPr>
          <p:cNvPr id="20" name="Image 3" descr="preencoded.png">    </p:cNvPr>
          <p:cNvPicPr>
            <a:picLocks noChangeAspect="1"/>
          </p:cNvPicPr>
          <p:nvPr/>
        </p:nvPicPr>
        <p:blipFill>
          <a:blip r:embed="rId4"/>
          <a:stretch>
            <a:fillRect/>
          </a:stretch>
        </p:blipFill>
        <p:spPr>
          <a:xfrm>
            <a:off x="663489" y="2583729"/>
            <a:ext cx="209215" cy="209215"/>
          </a:xfrm>
          <a:prstGeom prst="rect">
            <a:avLst/>
          </a:prstGeom>
        </p:spPr>
      </p:pic>
      <p:sp>
        <p:nvSpPr>
          <p:cNvPr id="21" name="Text 15"/>
          <p:cNvSpPr txBox="1"/>
          <p:nvPr/>
        </p:nvSpPr>
        <p:spPr>
          <a:xfrm>
            <a:off x="1078992" y="2359152"/>
            <a:ext cx="1965960" cy="65836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Managing room allocation</a:t>
            </a:r>
            <a:endParaRPr lang="en-US" sz="1150" dirty="0"/>
          </a:p>
        </p:txBody>
      </p:sp>
      <p:sp>
        <p:nvSpPr>
          <p:cNvPr id="22" name="Shape 16"/>
          <p:cNvSpPr/>
          <p:nvPr/>
        </p:nvSpPr>
        <p:spPr>
          <a:xfrm>
            <a:off x="3246120" y="2359152"/>
            <a:ext cx="2651760" cy="658368"/>
          </a:xfrm>
          <a:prstGeom prst="roundRect">
            <a:avLst>
              <a:gd name="adj" fmla="val 11111"/>
            </a:avLst>
          </a:prstGeom>
          <a:solidFill>
            <a:srgbClr val="F2F4F8"/>
          </a:solidFill>
          <a:ln/>
          <a:effectLst>
            <a:outerShdw sx="100000" sy="100000" kx="0" ky="0" algn="bl" rotWithShape="0" blurRad="76200" dist="25400" dir="5400000">
              <a:srgbClr val="000000">
                <a:alpha val="12000"/>
              </a:srgbClr>
            </a:outerShdw>
          </a:effectLst>
        </p:spPr>
      </p:sp>
      <p:sp>
        <p:nvSpPr>
          <p:cNvPr id="23" name="Shape 17"/>
          <p:cNvSpPr/>
          <p:nvPr/>
        </p:nvSpPr>
        <p:spPr>
          <a:xfrm>
            <a:off x="3355848" y="2487168"/>
            <a:ext cx="402336" cy="402336"/>
          </a:xfrm>
          <a:prstGeom prst="ellipse">
            <a:avLst/>
          </a:prstGeom>
          <a:solidFill>
            <a:srgbClr val="13478F"/>
          </a:solidFill>
          <a:ln/>
        </p:spPr>
      </p:sp>
      <p:pic>
        <p:nvPicPr>
          <p:cNvPr id="24" name="Image 4" descr="preencoded.png">    </p:cNvPr>
          <p:cNvPicPr>
            <a:picLocks noChangeAspect="1"/>
          </p:cNvPicPr>
          <p:nvPr/>
        </p:nvPicPr>
        <p:blipFill>
          <a:blip r:embed="rId5"/>
          <a:stretch>
            <a:fillRect/>
          </a:stretch>
        </p:blipFill>
        <p:spPr>
          <a:xfrm>
            <a:off x="3452409" y="2583729"/>
            <a:ext cx="209215" cy="209215"/>
          </a:xfrm>
          <a:prstGeom prst="rect">
            <a:avLst/>
          </a:prstGeom>
        </p:spPr>
      </p:pic>
      <p:sp>
        <p:nvSpPr>
          <p:cNvPr id="25" name="Text 18"/>
          <p:cNvSpPr txBox="1"/>
          <p:nvPr/>
        </p:nvSpPr>
        <p:spPr>
          <a:xfrm>
            <a:off x="3867912" y="2359152"/>
            <a:ext cx="1965960" cy="65836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Recording fee payments</a:t>
            </a:r>
            <a:endParaRPr lang="en-US" sz="1150" dirty="0"/>
          </a:p>
        </p:txBody>
      </p:sp>
      <p:sp>
        <p:nvSpPr>
          <p:cNvPr id="26" name="Shape 19"/>
          <p:cNvSpPr/>
          <p:nvPr/>
        </p:nvSpPr>
        <p:spPr>
          <a:xfrm>
            <a:off x="6035040" y="2359152"/>
            <a:ext cx="2651760" cy="658368"/>
          </a:xfrm>
          <a:prstGeom prst="roundRect">
            <a:avLst>
              <a:gd name="adj" fmla="val 11111"/>
            </a:avLst>
          </a:prstGeom>
          <a:solidFill>
            <a:srgbClr val="F2F4F8"/>
          </a:solidFill>
          <a:ln/>
          <a:effectLst>
            <a:outerShdw sx="100000" sy="100000" kx="0" ky="0" algn="bl" rotWithShape="0" blurRad="76200" dist="25400" dir="5400000">
              <a:srgbClr val="000000">
                <a:alpha val="12000"/>
              </a:srgbClr>
            </a:outerShdw>
          </a:effectLst>
        </p:spPr>
      </p:sp>
      <p:sp>
        <p:nvSpPr>
          <p:cNvPr id="27" name="Shape 20"/>
          <p:cNvSpPr/>
          <p:nvPr/>
        </p:nvSpPr>
        <p:spPr>
          <a:xfrm>
            <a:off x="6144768" y="2487168"/>
            <a:ext cx="402336" cy="402336"/>
          </a:xfrm>
          <a:prstGeom prst="ellipse">
            <a:avLst/>
          </a:prstGeom>
          <a:solidFill>
            <a:srgbClr val="13478F"/>
          </a:solidFill>
          <a:ln/>
        </p:spPr>
      </p:sp>
      <p:pic>
        <p:nvPicPr>
          <p:cNvPr id="28" name="Image 5" descr="preencoded.png">    </p:cNvPr>
          <p:cNvPicPr>
            <a:picLocks noChangeAspect="1"/>
          </p:cNvPicPr>
          <p:nvPr/>
        </p:nvPicPr>
        <p:blipFill>
          <a:blip r:embed="rId6"/>
          <a:stretch>
            <a:fillRect/>
          </a:stretch>
        </p:blipFill>
        <p:spPr>
          <a:xfrm>
            <a:off x="6241329" y="2583729"/>
            <a:ext cx="209215" cy="209215"/>
          </a:xfrm>
          <a:prstGeom prst="rect">
            <a:avLst/>
          </a:prstGeom>
        </p:spPr>
      </p:pic>
      <p:sp>
        <p:nvSpPr>
          <p:cNvPr id="29" name="Text 21"/>
          <p:cNvSpPr txBox="1"/>
          <p:nvPr/>
        </p:nvSpPr>
        <p:spPr>
          <a:xfrm>
            <a:off x="6656832" y="2359152"/>
            <a:ext cx="1965960" cy="65836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Managing complaints</a:t>
            </a:r>
            <a:endParaRPr lang="en-US" sz="1150" dirty="0"/>
          </a:p>
        </p:txBody>
      </p:sp>
      <p:sp>
        <p:nvSpPr>
          <p:cNvPr id="30" name="Shape 22"/>
          <p:cNvSpPr/>
          <p:nvPr/>
        </p:nvSpPr>
        <p:spPr>
          <a:xfrm>
            <a:off x="457200" y="3145536"/>
            <a:ext cx="2651760" cy="658368"/>
          </a:xfrm>
          <a:prstGeom prst="roundRect">
            <a:avLst>
              <a:gd name="adj" fmla="val 11111"/>
            </a:avLst>
          </a:prstGeom>
          <a:solidFill>
            <a:srgbClr val="F2F4F8"/>
          </a:solidFill>
          <a:ln/>
          <a:effectLst>
            <a:outerShdw sx="100000" sy="100000" kx="0" ky="0" algn="bl" rotWithShape="0" blurRad="76200" dist="25400" dir="5400000">
              <a:srgbClr val="000000">
                <a:alpha val="12000"/>
              </a:srgbClr>
            </a:outerShdw>
          </a:effectLst>
        </p:spPr>
      </p:sp>
      <p:sp>
        <p:nvSpPr>
          <p:cNvPr id="31" name="Shape 23"/>
          <p:cNvSpPr/>
          <p:nvPr/>
        </p:nvSpPr>
        <p:spPr>
          <a:xfrm>
            <a:off x="566928" y="3273552"/>
            <a:ext cx="402336" cy="402336"/>
          </a:xfrm>
          <a:prstGeom prst="ellipse">
            <a:avLst/>
          </a:prstGeom>
          <a:solidFill>
            <a:srgbClr val="13478F"/>
          </a:solidFill>
          <a:ln/>
        </p:spPr>
      </p:sp>
      <p:pic>
        <p:nvPicPr>
          <p:cNvPr id="32" name="Image 6" descr="preencoded.png">    </p:cNvPr>
          <p:cNvPicPr>
            <a:picLocks noChangeAspect="1"/>
          </p:cNvPicPr>
          <p:nvPr/>
        </p:nvPicPr>
        <p:blipFill>
          <a:blip r:embed="rId7"/>
          <a:stretch>
            <a:fillRect/>
          </a:stretch>
        </p:blipFill>
        <p:spPr>
          <a:xfrm>
            <a:off x="663489" y="3370113"/>
            <a:ext cx="209215" cy="209215"/>
          </a:xfrm>
          <a:prstGeom prst="rect">
            <a:avLst/>
          </a:prstGeom>
        </p:spPr>
      </p:pic>
      <p:sp>
        <p:nvSpPr>
          <p:cNvPr id="33" name="Text 24"/>
          <p:cNvSpPr txBox="1"/>
          <p:nvPr/>
        </p:nvSpPr>
        <p:spPr>
          <a:xfrm>
            <a:off x="1078992" y="3145536"/>
            <a:ext cx="1965960" cy="65836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Performing CRUD operations</a:t>
            </a:r>
            <a:endParaRPr lang="en-US" sz="1150" dirty="0"/>
          </a:p>
        </p:txBody>
      </p:sp>
      <p:sp>
        <p:nvSpPr>
          <p:cNvPr id="34" name="Shape 25"/>
          <p:cNvSpPr/>
          <p:nvPr/>
        </p:nvSpPr>
        <p:spPr>
          <a:xfrm>
            <a:off x="3246120" y="3145536"/>
            <a:ext cx="2651760" cy="658368"/>
          </a:xfrm>
          <a:prstGeom prst="roundRect">
            <a:avLst>
              <a:gd name="adj" fmla="val 11111"/>
            </a:avLst>
          </a:prstGeom>
          <a:solidFill>
            <a:srgbClr val="F2F4F8"/>
          </a:solidFill>
          <a:ln/>
          <a:effectLst>
            <a:outerShdw sx="100000" sy="100000" kx="0" ky="0" algn="bl" rotWithShape="0" blurRad="76200" dist="25400" dir="5400000">
              <a:srgbClr val="000000">
                <a:alpha val="12000"/>
              </a:srgbClr>
            </a:outerShdw>
          </a:effectLst>
        </p:spPr>
      </p:sp>
      <p:sp>
        <p:nvSpPr>
          <p:cNvPr id="35" name="Shape 26"/>
          <p:cNvSpPr/>
          <p:nvPr/>
        </p:nvSpPr>
        <p:spPr>
          <a:xfrm>
            <a:off x="3355848" y="3273552"/>
            <a:ext cx="402336" cy="402336"/>
          </a:xfrm>
          <a:prstGeom prst="ellipse">
            <a:avLst/>
          </a:prstGeom>
          <a:solidFill>
            <a:srgbClr val="13478F"/>
          </a:solidFill>
          <a:ln/>
        </p:spPr>
      </p:sp>
      <p:pic>
        <p:nvPicPr>
          <p:cNvPr id="36" name="Image 7" descr="preencoded.png">    </p:cNvPr>
          <p:cNvPicPr>
            <a:picLocks noChangeAspect="1"/>
          </p:cNvPicPr>
          <p:nvPr/>
        </p:nvPicPr>
        <p:blipFill>
          <a:blip r:embed="rId8"/>
          <a:stretch>
            <a:fillRect/>
          </a:stretch>
        </p:blipFill>
        <p:spPr>
          <a:xfrm>
            <a:off x="3452409" y="3370113"/>
            <a:ext cx="209215" cy="209215"/>
          </a:xfrm>
          <a:prstGeom prst="rect">
            <a:avLst/>
          </a:prstGeom>
        </p:spPr>
      </p:pic>
      <p:sp>
        <p:nvSpPr>
          <p:cNvPr id="37" name="Text 27"/>
          <p:cNvSpPr txBox="1"/>
          <p:nvPr/>
        </p:nvSpPr>
        <p:spPr>
          <a:xfrm>
            <a:off x="3867912" y="3145536"/>
            <a:ext cx="1965960" cy="65836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Retrieving information efficiently</a:t>
            </a:r>
            <a:endParaRPr lang="en-US" sz="1150" dirty="0"/>
          </a:p>
        </p:txBody>
      </p:sp>
      <p:sp>
        <p:nvSpPr>
          <p:cNvPr id="38" name="Shape 28"/>
          <p:cNvSpPr/>
          <p:nvPr/>
        </p:nvSpPr>
        <p:spPr>
          <a:xfrm>
            <a:off x="6035040" y="3145536"/>
            <a:ext cx="2651760" cy="658368"/>
          </a:xfrm>
          <a:prstGeom prst="roundRect">
            <a:avLst>
              <a:gd name="adj" fmla="val 11111"/>
            </a:avLst>
          </a:prstGeom>
          <a:solidFill>
            <a:srgbClr val="F2F4F8"/>
          </a:solidFill>
          <a:ln/>
          <a:effectLst>
            <a:outerShdw sx="100000" sy="100000" kx="0" ky="0" algn="bl" rotWithShape="0" blurRad="76200" dist="25400" dir="5400000">
              <a:srgbClr val="000000">
                <a:alpha val="12000"/>
              </a:srgbClr>
            </a:outerShdw>
          </a:effectLst>
        </p:spPr>
      </p:sp>
      <p:sp>
        <p:nvSpPr>
          <p:cNvPr id="39" name="Shape 29"/>
          <p:cNvSpPr/>
          <p:nvPr/>
        </p:nvSpPr>
        <p:spPr>
          <a:xfrm>
            <a:off x="6144768" y="3273552"/>
            <a:ext cx="402336" cy="402336"/>
          </a:xfrm>
          <a:prstGeom prst="ellipse">
            <a:avLst/>
          </a:prstGeom>
          <a:solidFill>
            <a:srgbClr val="13478F"/>
          </a:solidFill>
          <a:ln/>
        </p:spPr>
      </p:sp>
      <p:pic>
        <p:nvPicPr>
          <p:cNvPr id="40" name="Image 8" descr="preencoded.png">    </p:cNvPr>
          <p:cNvPicPr>
            <a:picLocks noChangeAspect="1"/>
          </p:cNvPicPr>
          <p:nvPr/>
        </p:nvPicPr>
        <p:blipFill>
          <a:blip r:embed="rId9"/>
          <a:stretch>
            <a:fillRect/>
          </a:stretch>
        </p:blipFill>
        <p:spPr>
          <a:xfrm>
            <a:off x="6241329" y="3370113"/>
            <a:ext cx="209215" cy="209215"/>
          </a:xfrm>
          <a:prstGeom prst="rect">
            <a:avLst/>
          </a:prstGeom>
        </p:spPr>
      </p:pic>
      <p:sp>
        <p:nvSpPr>
          <p:cNvPr id="41" name="Text 30"/>
          <p:cNvSpPr txBox="1"/>
          <p:nvPr/>
        </p:nvSpPr>
        <p:spPr>
          <a:xfrm>
            <a:off x="6656832" y="3145536"/>
            <a:ext cx="1965960" cy="658368"/>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Maintaining centralized, structured records</a:t>
            </a:r>
            <a:endParaRPr lang="en-US" sz="1150" dirty="0"/>
          </a:p>
        </p:txBody>
      </p:sp>
      <p:sp>
        <p:nvSpPr>
          <p:cNvPr id="42" name="Shape 31"/>
          <p:cNvSpPr/>
          <p:nvPr/>
        </p:nvSpPr>
        <p:spPr>
          <a:xfrm>
            <a:off x="457200" y="4023360"/>
            <a:ext cx="8229600" cy="548640"/>
          </a:xfrm>
          <a:prstGeom prst="roundRect">
            <a:avLst>
              <a:gd name="adj" fmla="val 13333"/>
            </a:avLst>
          </a:prstGeom>
          <a:solidFill>
            <a:srgbClr val="FFFFFF"/>
          </a:solidFill>
          <a:ln w="19050">
            <a:solidFill>
              <a:srgbClr val="B45309"/>
            </a:solidFill>
            <a:prstDash val="dash"/>
          </a:ln>
        </p:spPr>
      </p:sp>
      <p:sp>
        <p:nvSpPr>
          <p:cNvPr id="43" name="Text 32"/>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200" i="1" dirty="0">
                <a:solidFill>
                  <a:srgbClr val="B45309"/>
                </a:solidFill>
                <a:latin typeface="Calibri" pitchFamily="34" charset="0"/>
                <a:ea typeface="Calibri" pitchFamily="34" charset="-122"/>
                <a:cs typeface="Calibri" pitchFamily="34" charset="-120"/>
              </a:rPr>
              <a:t>Results will be updated after implementation and testing.  No screenshots or test results are shown because none exist yet.</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6766560" y="219456"/>
            <a:ext cx="1920240" cy="274320"/>
          </a:xfrm>
          <a:prstGeom prst="roundRect">
            <a:avLst>
              <a:gd name="adj" fmla="val 50000"/>
            </a:avLst>
          </a:prstGeom>
          <a:solidFill>
            <a:srgbClr val="B45309"/>
          </a:solidFill>
          <a:ln/>
        </p:spPr>
      </p:sp>
      <p:sp>
        <p:nvSpPr>
          <p:cNvPr id="3" name="Text 1"/>
          <p:cNvSpPr txBox="1"/>
          <p:nvPr/>
        </p:nvSpPr>
        <p:spPr>
          <a:xfrm>
            <a:off x="6766560" y="219456"/>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FUTURE POSSIBILITIES</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Future Work</a:t>
            </a:r>
            <a:endParaRPr lang="en-US" sz="2600" dirty="0"/>
          </a:p>
        </p:txBody>
      </p:sp>
      <p:sp>
        <p:nvSpPr>
          <p:cNvPr id="5" name="Shape 3"/>
          <p:cNvSpPr/>
          <p:nvPr/>
        </p:nvSpPr>
        <p:spPr>
          <a:xfrm>
            <a:off x="457200" y="128016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6" name="Shape 4"/>
          <p:cNvSpPr/>
          <p:nvPr/>
        </p:nvSpPr>
        <p:spPr>
          <a:xfrm>
            <a:off x="566928" y="1499616"/>
            <a:ext cx="420624" cy="420624"/>
          </a:xfrm>
          <a:prstGeom prst="ellipse">
            <a:avLst/>
          </a:prstGeom>
          <a:solidFill>
            <a:srgbClr val="B45309"/>
          </a:solidFill>
          <a:ln/>
        </p:spPr>
      </p:sp>
      <p:pic>
        <p:nvPicPr>
          <p:cNvPr id="7" name="Image 0" descr="preencoded.png">    </p:cNvPr>
          <p:cNvPicPr>
            <a:picLocks noChangeAspect="1"/>
          </p:cNvPicPr>
          <p:nvPr/>
        </p:nvPicPr>
        <p:blipFill>
          <a:blip r:embed="rId1"/>
          <a:stretch>
            <a:fillRect/>
          </a:stretch>
        </p:blipFill>
        <p:spPr>
          <a:xfrm>
            <a:off x="667878" y="1600566"/>
            <a:ext cx="218724" cy="218724"/>
          </a:xfrm>
          <a:prstGeom prst="rect">
            <a:avLst/>
          </a:prstGeom>
        </p:spPr>
      </p:pic>
      <p:sp>
        <p:nvSpPr>
          <p:cNvPr id="8" name="Text 5"/>
          <p:cNvSpPr txBox="1"/>
          <p:nvPr/>
        </p:nvSpPr>
        <p:spPr>
          <a:xfrm>
            <a:off x="1078992" y="128016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Mobile application</a:t>
            </a:r>
            <a:endParaRPr lang="en-US" sz="1100" dirty="0"/>
          </a:p>
        </p:txBody>
      </p:sp>
      <p:sp>
        <p:nvSpPr>
          <p:cNvPr id="9" name="Shape 6"/>
          <p:cNvSpPr/>
          <p:nvPr/>
        </p:nvSpPr>
        <p:spPr>
          <a:xfrm>
            <a:off x="2560320" y="128016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10" name="Shape 7"/>
          <p:cNvSpPr/>
          <p:nvPr/>
        </p:nvSpPr>
        <p:spPr>
          <a:xfrm>
            <a:off x="2670048" y="1499616"/>
            <a:ext cx="420624" cy="420624"/>
          </a:xfrm>
          <a:prstGeom prst="ellipse">
            <a:avLst/>
          </a:prstGeom>
          <a:solidFill>
            <a:srgbClr val="B45309"/>
          </a:solidFill>
          <a:ln/>
        </p:spPr>
      </p:sp>
      <p:pic>
        <p:nvPicPr>
          <p:cNvPr id="11" name="Image 1" descr="preencoded.png">    </p:cNvPr>
          <p:cNvPicPr>
            <a:picLocks noChangeAspect="1"/>
          </p:cNvPicPr>
          <p:nvPr/>
        </p:nvPicPr>
        <p:blipFill>
          <a:blip r:embed="rId2"/>
          <a:stretch>
            <a:fillRect/>
          </a:stretch>
        </p:blipFill>
        <p:spPr>
          <a:xfrm>
            <a:off x="2770998" y="1600566"/>
            <a:ext cx="218724" cy="218724"/>
          </a:xfrm>
          <a:prstGeom prst="rect">
            <a:avLst/>
          </a:prstGeom>
        </p:spPr>
      </p:pic>
      <p:sp>
        <p:nvSpPr>
          <p:cNvPr id="12" name="Text 8"/>
          <p:cNvSpPr txBox="1"/>
          <p:nvPr/>
        </p:nvSpPr>
        <p:spPr>
          <a:xfrm>
            <a:off x="3182112" y="128016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Online fee payment integration</a:t>
            </a:r>
            <a:endParaRPr lang="en-US" sz="1100" dirty="0"/>
          </a:p>
        </p:txBody>
      </p:sp>
      <p:sp>
        <p:nvSpPr>
          <p:cNvPr id="13" name="Shape 9"/>
          <p:cNvSpPr/>
          <p:nvPr/>
        </p:nvSpPr>
        <p:spPr>
          <a:xfrm>
            <a:off x="4663440" y="128016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14" name="Shape 10"/>
          <p:cNvSpPr/>
          <p:nvPr/>
        </p:nvSpPr>
        <p:spPr>
          <a:xfrm>
            <a:off x="4773168" y="1499616"/>
            <a:ext cx="420624" cy="420624"/>
          </a:xfrm>
          <a:prstGeom prst="ellipse">
            <a:avLst/>
          </a:prstGeom>
          <a:solidFill>
            <a:srgbClr val="B45309"/>
          </a:solidFill>
          <a:ln/>
        </p:spPr>
      </p:sp>
      <p:pic>
        <p:nvPicPr>
          <p:cNvPr id="15" name="Image 2" descr="preencoded.png">    </p:cNvPr>
          <p:cNvPicPr>
            <a:picLocks noChangeAspect="1"/>
          </p:cNvPicPr>
          <p:nvPr/>
        </p:nvPicPr>
        <p:blipFill>
          <a:blip r:embed="rId3"/>
          <a:stretch>
            <a:fillRect/>
          </a:stretch>
        </p:blipFill>
        <p:spPr>
          <a:xfrm>
            <a:off x="4874118" y="1600566"/>
            <a:ext cx="218724" cy="218724"/>
          </a:xfrm>
          <a:prstGeom prst="rect">
            <a:avLst/>
          </a:prstGeom>
        </p:spPr>
      </p:pic>
      <p:sp>
        <p:nvSpPr>
          <p:cNvPr id="16" name="Text 11"/>
          <p:cNvSpPr txBox="1"/>
          <p:nvPr/>
        </p:nvSpPr>
        <p:spPr>
          <a:xfrm>
            <a:off x="5285232" y="128016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Email / SMS notifications</a:t>
            </a:r>
            <a:endParaRPr lang="en-US" sz="1100" dirty="0"/>
          </a:p>
        </p:txBody>
      </p:sp>
      <p:sp>
        <p:nvSpPr>
          <p:cNvPr id="17" name="Shape 12"/>
          <p:cNvSpPr/>
          <p:nvPr/>
        </p:nvSpPr>
        <p:spPr>
          <a:xfrm>
            <a:off x="6766560" y="128016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18" name="Shape 13"/>
          <p:cNvSpPr/>
          <p:nvPr/>
        </p:nvSpPr>
        <p:spPr>
          <a:xfrm>
            <a:off x="6876288" y="1499616"/>
            <a:ext cx="420624" cy="420624"/>
          </a:xfrm>
          <a:prstGeom prst="ellipse">
            <a:avLst/>
          </a:prstGeom>
          <a:solidFill>
            <a:srgbClr val="B45309"/>
          </a:solidFill>
          <a:ln/>
        </p:spPr>
      </p:sp>
      <p:pic>
        <p:nvPicPr>
          <p:cNvPr id="19" name="Image 3" descr="preencoded.png">    </p:cNvPr>
          <p:cNvPicPr>
            <a:picLocks noChangeAspect="1"/>
          </p:cNvPicPr>
          <p:nvPr/>
        </p:nvPicPr>
        <p:blipFill>
          <a:blip r:embed="rId4"/>
          <a:stretch>
            <a:fillRect/>
          </a:stretch>
        </p:blipFill>
        <p:spPr>
          <a:xfrm>
            <a:off x="6977238" y="1600566"/>
            <a:ext cx="218724" cy="218724"/>
          </a:xfrm>
          <a:prstGeom prst="rect">
            <a:avLst/>
          </a:prstGeom>
        </p:spPr>
      </p:pic>
      <p:sp>
        <p:nvSpPr>
          <p:cNvPr id="20" name="Text 14"/>
          <p:cNvSpPr txBox="1"/>
          <p:nvPr/>
        </p:nvSpPr>
        <p:spPr>
          <a:xfrm>
            <a:off x="7388352" y="128016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QR-based hostel attendance</a:t>
            </a:r>
            <a:endParaRPr lang="en-US" sz="1100" dirty="0"/>
          </a:p>
        </p:txBody>
      </p:sp>
      <p:sp>
        <p:nvSpPr>
          <p:cNvPr id="21" name="Shape 15"/>
          <p:cNvSpPr/>
          <p:nvPr/>
        </p:nvSpPr>
        <p:spPr>
          <a:xfrm>
            <a:off x="457200" y="228600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22" name="Shape 16"/>
          <p:cNvSpPr/>
          <p:nvPr/>
        </p:nvSpPr>
        <p:spPr>
          <a:xfrm>
            <a:off x="566928" y="2505456"/>
            <a:ext cx="420624" cy="420624"/>
          </a:xfrm>
          <a:prstGeom prst="ellipse">
            <a:avLst/>
          </a:prstGeom>
          <a:solidFill>
            <a:srgbClr val="B45309"/>
          </a:solidFill>
          <a:ln/>
        </p:spPr>
      </p:sp>
      <p:pic>
        <p:nvPicPr>
          <p:cNvPr id="23" name="Image 4" descr="preencoded.png">    </p:cNvPr>
          <p:cNvPicPr>
            <a:picLocks noChangeAspect="1"/>
          </p:cNvPicPr>
          <p:nvPr/>
        </p:nvPicPr>
        <p:blipFill>
          <a:blip r:embed="rId5"/>
          <a:stretch>
            <a:fillRect/>
          </a:stretch>
        </p:blipFill>
        <p:spPr>
          <a:xfrm>
            <a:off x="667878" y="2606406"/>
            <a:ext cx="218724" cy="218724"/>
          </a:xfrm>
          <a:prstGeom prst="rect">
            <a:avLst/>
          </a:prstGeom>
        </p:spPr>
      </p:pic>
      <p:sp>
        <p:nvSpPr>
          <p:cNvPr id="24" name="Text 17"/>
          <p:cNvSpPr txBox="1"/>
          <p:nvPr/>
        </p:nvSpPr>
        <p:spPr>
          <a:xfrm>
            <a:off x="1078992" y="228600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Advanced analytics dashboard</a:t>
            </a:r>
            <a:endParaRPr lang="en-US" sz="1100" dirty="0"/>
          </a:p>
        </p:txBody>
      </p:sp>
      <p:sp>
        <p:nvSpPr>
          <p:cNvPr id="25" name="Shape 18"/>
          <p:cNvSpPr/>
          <p:nvPr/>
        </p:nvSpPr>
        <p:spPr>
          <a:xfrm>
            <a:off x="2560320" y="228600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26" name="Shape 19"/>
          <p:cNvSpPr/>
          <p:nvPr/>
        </p:nvSpPr>
        <p:spPr>
          <a:xfrm>
            <a:off x="2670048" y="2505456"/>
            <a:ext cx="420624" cy="420624"/>
          </a:xfrm>
          <a:prstGeom prst="ellipse">
            <a:avLst/>
          </a:prstGeom>
          <a:solidFill>
            <a:srgbClr val="B45309"/>
          </a:solidFill>
          <a:ln/>
        </p:spPr>
      </p:sp>
      <p:pic>
        <p:nvPicPr>
          <p:cNvPr id="27" name="Image 5" descr="preencoded.png">    </p:cNvPr>
          <p:cNvPicPr>
            <a:picLocks noChangeAspect="1"/>
          </p:cNvPicPr>
          <p:nvPr/>
        </p:nvPicPr>
        <p:blipFill>
          <a:blip r:embed="rId6"/>
          <a:stretch>
            <a:fillRect/>
          </a:stretch>
        </p:blipFill>
        <p:spPr>
          <a:xfrm>
            <a:off x="2770998" y="2606406"/>
            <a:ext cx="218724" cy="218724"/>
          </a:xfrm>
          <a:prstGeom prst="rect">
            <a:avLst/>
          </a:prstGeom>
        </p:spPr>
      </p:pic>
      <p:sp>
        <p:nvSpPr>
          <p:cNvPr id="28" name="Text 20"/>
          <p:cNvSpPr txBox="1"/>
          <p:nvPr/>
        </p:nvSpPr>
        <p:spPr>
          <a:xfrm>
            <a:off x="3182112" y="228600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Automated reports</a:t>
            </a:r>
            <a:endParaRPr lang="en-US" sz="1100" dirty="0"/>
          </a:p>
        </p:txBody>
      </p:sp>
      <p:sp>
        <p:nvSpPr>
          <p:cNvPr id="29" name="Shape 21"/>
          <p:cNvSpPr/>
          <p:nvPr/>
        </p:nvSpPr>
        <p:spPr>
          <a:xfrm>
            <a:off x="4663440" y="228600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30" name="Shape 22"/>
          <p:cNvSpPr/>
          <p:nvPr/>
        </p:nvSpPr>
        <p:spPr>
          <a:xfrm>
            <a:off x="4773168" y="2505456"/>
            <a:ext cx="420624" cy="420624"/>
          </a:xfrm>
          <a:prstGeom prst="ellipse">
            <a:avLst/>
          </a:prstGeom>
          <a:solidFill>
            <a:srgbClr val="B45309"/>
          </a:solidFill>
          <a:ln/>
        </p:spPr>
      </p:sp>
      <p:pic>
        <p:nvPicPr>
          <p:cNvPr id="31" name="Image 6" descr="preencoded.png">    </p:cNvPr>
          <p:cNvPicPr>
            <a:picLocks noChangeAspect="1"/>
          </p:cNvPicPr>
          <p:nvPr/>
        </p:nvPicPr>
        <p:blipFill>
          <a:blip r:embed="rId7"/>
          <a:stretch>
            <a:fillRect/>
          </a:stretch>
        </p:blipFill>
        <p:spPr>
          <a:xfrm>
            <a:off x="4874118" y="2606406"/>
            <a:ext cx="218724" cy="218724"/>
          </a:xfrm>
          <a:prstGeom prst="rect">
            <a:avLst/>
          </a:prstGeom>
        </p:spPr>
      </p:pic>
      <p:sp>
        <p:nvSpPr>
          <p:cNvPr id="32" name="Text 23"/>
          <p:cNvSpPr txBox="1"/>
          <p:nvPr/>
        </p:nvSpPr>
        <p:spPr>
          <a:xfrm>
            <a:off x="5285232" y="228600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Role-based access expansion</a:t>
            </a:r>
            <a:endParaRPr lang="en-US" sz="1100" dirty="0"/>
          </a:p>
        </p:txBody>
      </p:sp>
      <p:sp>
        <p:nvSpPr>
          <p:cNvPr id="33" name="Shape 24"/>
          <p:cNvSpPr/>
          <p:nvPr/>
        </p:nvSpPr>
        <p:spPr>
          <a:xfrm>
            <a:off x="6766560" y="228600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34" name="Shape 25"/>
          <p:cNvSpPr/>
          <p:nvPr/>
        </p:nvSpPr>
        <p:spPr>
          <a:xfrm>
            <a:off x="6876288" y="2505456"/>
            <a:ext cx="420624" cy="420624"/>
          </a:xfrm>
          <a:prstGeom prst="ellipse">
            <a:avLst/>
          </a:prstGeom>
          <a:solidFill>
            <a:srgbClr val="B45309"/>
          </a:solidFill>
          <a:ln/>
        </p:spPr>
      </p:sp>
      <p:pic>
        <p:nvPicPr>
          <p:cNvPr id="35" name="Image 7" descr="preencoded.png">    </p:cNvPr>
          <p:cNvPicPr>
            <a:picLocks noChangeAspect="1"/>
          </p:cNvPicPr>
          <p:nvPr/>
        </p:nvPicPr>
        <p:blipFill>
          <a:blip r:embed="rId8"/>
          <a:stretch>
            <a:fillRect/>
          </a:stretch>
        </p:blipFill>
        <p:spPr>
          <a:xfrm>
            <a:off x="6977238" y="2606406"/>
            <a:ext cx="218724" cy="218724"/>
          </a:xfrm>
          <a:prstGeom prst="rect">
            <a:avLst/>
          </a:prstGeom>
        </p:spPr>
      </p:pic>
      <p:sp>
        <p:nvSpPr>
          <p:cNvPr id="36" name="Text 26"/>
          <p:cNvSpPr txBox="1"/>
          <p:nvPr/>
        </p:nvSpPr>
        <p:spPr>
          <a:xfrm>
            <a:off x="7388352" y="228600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Cloud deployment</a:t>
            </a:r>
            <a:endParaRPr lang="en-US" sz="1100" dirty="0"/>
          </a:p>
        </p:txBody>
      </p:sp>
      <p:sp>
        <p:nvSpPr>
          <p:cNvPr id="37" name="Shape 27"/>
          <p:cNvSpPr/>
          <p:nvPr/>
        </p:nvSpPr>
        <p:spPr>
          <a:xfrm>
            <a:off x="457200" y="329184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38" name="Shape 28"/>
          <p:cNvSpPr/>
          <p:nvPr/>
        </p:nvSpPr>
        <p:spPr>
          <a:xfrm>
            <a:off x="566928" y="3511296"/>
            <a:ext cx="420624" cy="420624"/>
          </a:xfrm>
          <a:prstGeom prst="ellipse">
            <a:avLst/>
          </a:prstGeom>
          <a:solidFill>
            <a:srgbClr val="B45309"/>
          </a:solidFill>
          <a:ln/>
        </p:spPr>
      </p:sp>
      <p:pic>
        <p:nvPicPr>
          <p:cNvPr id="39" name="Image 8" descr="preencoded.png">    </p:cNvPr>
          <p:cNvPicPr>
            <a:picLocks noChangeAspect="1"/>
          </p:cNvPicPr>
          <p:nvPr/>
        </p:nvPicPr>
        <p:blipFill>
          <a:blip r:embed="rId9"/>
          <a:stretch>
            <a:fillRect/>
          </a:stretch>
        </p:blipFill>
        <p:spPr>
          <a:xfrm>
            <a:off x="667878" y="3612246"/>
            <a:ext cx="218724" cy="218724"/>
          </a:xfrm>
          <a:prstGeom prst="rect">
            <a:avLst/>
          </a:prstGeom>
        </p:spPr>
      </p:pic>
      <p:sp>
        <p:nvSpPr>
          <p:cNvPr id="40" name="Text 29"/>
          <p:cNvSpPr txBox="1"/>
          <p:nvPr/>
        </p:nvSpPr>
        <p:spPr>
          <a:xfrm>
            <a:off x="1078992" y="329184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MongoDB / NoSQL integration where appropriate</a:t>
            </a:r>
            <a:endParaRPr lang="en-US" sz="1100" dirty="0"/>
          </a:p>
        </p:txBody>
      </p:sp>
      <p:sp>
        <p:nvSpPr>
          <p:cNvPr id="41" name="Shape 30"/>
          <p:cNvSpPr/>
          <p:nvPr/>
        </p:nvSpPr>
        <p:spPr>
          <a:xfrm>
            <a:off x="2560320" y="329184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42" name="Shape 31"/>
          <p:cNvSpPr/>
          <p:nvPr/>
        </p:nvSpPr>
        <p:spPr>
          <a:xfrm>
            <a:off x="2670048" y="3511296"/>
            <a:ext cx="420624" cy="420624"/>
          </a:xfrm>
          <a:prstGeom prst="ellipse">
            <a:avLst/>
          </a:prstGeom>
          <a:solidFill>
            <a:srgbClr val="B45309"/>
          </a:solidFill>
          <a:ln/>
        </p:spPr>
      </p:sp>
      <p:pic>
        <p:nvPicPr>
          <p:cNvPr id="43" name="Image 9" descr="preencoded.png">    </p:cNvPr>
          <p:cNvPicPr>
            <a:picLocks noChangeAspect="1"/>
          </p:cNvPicPr>
          <p:nvPr/>
        </p:nvPicPr>
        <p:blipFill>
          <a:blip r:embed="rId10"/>
          <a:stretch>
            <a:fillRect/>
          </a:stretch>
        </p:blipFill>
        <p:spPr>
          <a:xfrm>
            <a:off x="2770998" y="3612246"/>
            <a:ext cx="218724" cy="218724"/>
          </a:xfrm>
          <a:prstGeom prst="rect">
            <a:avLst/>
          </a:prstGeom>
        </p:spPr>
      </p:pic>
      <p:sp>
        <p:nvSpPr>
          <p:cNvPr id="44" name="Text 32"/>
          <p:cNvSpPr txBox="1"/>
          <p:nvPr/>
        </p:nvSpPr>
        <p:spPr>
          <a:xfrm>
            <a:off x="3182112" y="329184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Microservice-based architecture</a:t>
            </a:r>
            <a:endParaRPr lang="en-US" sz="1100" dirty="0"/>
          </a:p>
        </p:txBody>
      </p:sp>
      <p:sp>
        <p:nvSpPr>
          <p:cNvPr id="45" name="Shape 33"/>
          <p:cNvSpPr/>
          <p:nvPr/>
        </p:nvSpPr>
        <p:spPr>
          <a:xfrm>
            <a:off x="4663440" y="3291840"/>
            <a:ext cx="1920240" cy="868680"/>
          </a:xfrm>
          <a:prstGeom prst="roundRect">
            <a:avLst>
              <a:gd name="adj" fmla="val 8421"/>
            </a:avLst>
          </a:prstGeom>
          <a:solidFill>
            <a:srgbClr val="F2F4F8"/>
          </a:solidFill>
          <a:ln/>
          <a:effectLst>
            <a:outerShdw sx="100000" sy="100000" kx="0" ky="0" algn="bl" rotWithShape="0" blurRad="76200" dist="25400" dir="5400000">
              <a:srgbClr val="000000">
                <a:alpha val="12000"/>
              </a:srgbClr>
            </a:outerShdw>
          </a:effectLst>
        </p:spPr>
      </p:sp>
      <p:sp>
        <p:nvSpPr>
          <p:cNvPr id="46" name="Shape 34"/>
          <p:cNvSpPr/>
          <p:nvPr/>
        </p:nvSpPr>
        <p:spPr>
          <a:xfrm>
            <a:off x="4773168" y="3511296"/>
            <a:ext cx="420624" cy="420624"/>
          </a:xfrm>
          <a:prstGeom prst="ellipse">
            <a:avLst/>
          </a:prstGeom>
          <a:solidFill>
            <a:srgbClr val="B45309"/>
          </a:solidFill>
          <a:ln/>
        </p:spPr>
      </p:sp>
      <p:pic>
        <p:nvPicPr>
          <p:cNvPr id="47" name="Image 10" descr="preencoded.png">    </p:cNvPr>
          <p:cNvPicPr>
            <a:picLocks noChangeAspect="1"/>
          </p:cNvPicPr>
          <p:nvPr/>
        </p:nvPicPr>
        <p:blipFill>
          <a:blip r:embed="rId11"/>
          <a:stretch>
            <a:fillRect/>
          </a:stretch>
        </p:blipFill>
        <p:spPr>
          <a:xfrm>
            <a:off x="4874118" y="3612246"/>
            <a:ext cx="218724" cy="218724"/>
          </a:xfrm>
          <a:prstGeom prst="rect">
            <a:avLst/>
          </a:prstGeom>
        </p:spPr>
      </p:pic>
      <p:sp>
        <p:nvSpPr>
          <p:cNvPr id="48" name="Text 35"/>
          <p:cNvSpPr txBox="1"/>
          <p:nvPr/>
        </p:nvSpPr>
        <p:spPr>
          <a:xfrm>
            <a:off x="5285232" y="3291840"/>
            <a:ext cx="1234440" cy="868680"/>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Docker containerization</a:t>
            </a:r>
            <a:endParaRPr lang="en-US" sz="1100" dirty="0"/>
          </a:p>
        </p:txBody>
      </p:sp>
      <p:sp>
        <p:nvSpPr>
          <p:cNvPr id="49" name="Shape 36"/>
          <p:cNvSpPr/>
          <p:nvPr/>
        </p:nvSpPr>
        <p:spPr>
          <a:xfrm>
            <a:off x="6766560" y="3291840"/>
            <a:ext cx="1920240" cy="868680"/>
          </a:xfrm>
          <a:prstGeom prst="roundRect">
            <a:avLst>
              <a:gd name="adj" fmla="val 8421"/>
            </a:avLst>
          </a:prstGeom>
          <a:solidFill>
            <a:srgbClr val="FEF3C7"/>
          </a:solidFill>
          <a:ln/>
        </p:spPr>
      </p:sp>
      <p:sp>
        <p:nvSpPr>
          <p:cNvPr id="50" name="Text 37"/>
          <p:cNvSpPr txBox="1"/>
          <p:nvPr/>
        </p:nvSpPr>
        <p:spPr>
          <a:xfrm>
            <a:off x="6876288" y="3291840"/>
            <a:ext cx="1719072" cy="868680"/>
          </a:xfrm>
          <a:prstGeom prst="rect">
            <a:avLst/>
          </a:prstGeom>
          <a:noFill/>
          <a:ln/>
        </p:spPr>
        <p:txBody>
          <a:bodyPr wrap="square" lIns="0" tIns="0" rIns="0" bIns="0" rtlCol="0" anchor="ctr"/>
          <a:lstStyle/>
          <a:p>
            <a:pPr indent="0" marL="0">
              <a:buNone/>
            </a:pPr>
            <a:r>
              <a:rPr lang="en-US" sz="1100" i="1" dirty="0">
                <a:solidFill>
                  <a:srgbClr val="B45309"/>
                </a:solidFill>
                <a:latin typeface="Calibri" pitchFamily="34" charset="0"/>
                <a:ea typeface="Calibri" pitchFamily="34" charset="-122"/>
                <a:cs typeface="Calibri" pitchFamily="34" charset="-120"/>
              </a:rPr>
              <a:t>Possible future extensions — not current features.</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7155180" y="219456"/>
            <a:ext cx="1531620" cy="274320"/>
          </a:xfrm>
          <a:prstGeom prst="roundRect">
            <a:avLst>
              <a:gd name="adj" fmla="val 50000"/>
            </a:avLst>
          </a:prstGeom>
          <a:solidFill>
            <a:srgbClr val="2F6DB5"/>
          </a:solidFill>
          <a:ln/>
        </p:spPr>
      </p:sp>
      <p:sp>
        <p:nvSpPr>
          <p:cNvPr id="3" name="Text 1"/>
          <p:cNvSpPr txBox="1"/>
          <p:nvPr/>
        </p:nvSpPr>
        <p:spPr>
          <a:xfrm>
            <a:off x="7155180" y="219456"/>
            <a:ext cx="15316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PROPOSED SYSTEM</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Conclusion</a:t>
            </a:r>
            <a:endParaRPr lang="en-US" sz="2600" dirty="0"/>
          </a:p>
        </p:txBody>
      </p:sp>
      <p:sp>
        <p:nvSpPr>
          <p:cNvPr id="5" name="Text 3"/>
          <p:cNvSpPr txBox="1"/>
          <p:nvPr/>
        </p:nvSpPr>
        <p:spPr>
          <a:xfrm>
            <a:off x="457200" y="1280160"/>
            <a:ext cx="4846320" cy="7772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The Smart Hostel Management System is proposed as a centralized, database-driven solution for improving hostel administration.</a:t>
            </a:r>
            <a:endParaRPr lang="en-US" sz="1350" dirty="0"/>
          </a:p>
        </p:txBody>
      </p:sp>
      <p:sp>
        <p:nvSpPr>
          <p:cNvPr id="6" name="Text 4"/>
          <p:cNvSpPr txBox="1"/>
          <p:nvPr/>
        </p:nvSpPr>
        <p:spPr>
          <a:xfrm>
            <a:off x="457200" y="2148840"/>
            <a:ext cx="4572000" cy="256032"/>
          </a:xfrm>
          <a:prstGeom prst="rect">
            <a:avLst/>
          </a:prstGeom>
          <a:noFill/>
          <a:ln/>
        </p:spPr>
        <p:txBody>
          <a:bodyPr wrap="square" lIns="0" tIns="0" rIns="0" bIns="0" rtlCol="0" anchor="t"/>
          <a:lstStyle/>
          <a:p>
            <a:pPr indent="0" marL="0">
              <a:buNone/>
            </a:pPr>
            <a:r>
              <a:rPr lang="en-US" sz="1250" b="1" dirty="0">
                <a:solidFill>
                  <a:srgbClr val="CADCFC"/>
                </a:solidFill>
                <a:latin typeface="Calibri" pitchFamily="34" charset="0"/>
                <a:ea typeface="Calibri" pitchFamily="34" charset="-122"/>
                <a:cs typeface="Calibri" pitchFamily="34" charset="-120"/>
              </a:rPr>
              <a:t>The system aims to:</a:t>
            </a:r>
            <a:endParaRPr lang="en-US" sz="1250" dirty="0"/>
          </a:p>
        </p:txBody>
      </p:sp>
      <p:sp>
        <p:nvSpPr>
          <p:cNvPr id="7" name="Shape 5"/>
          <p:cNvSpPr/>
          <p:nvPr/>
        </p:nvSpPr>
        <p:spPr>
          <a:xfrm>
            <a:off x="457200" y="2487168"/>
            <a:ext cx="256032" cy="256032"/>
          </a:xfrm>
          <a:prstGeom prst="ellipse">
            <a:avLst/>
          </a:prstGeom>
          <a:solidFill>
            <a:srgbClr val="2F6DB5"/>
          </a:solidFill>
          <a:ln/>
        </p:spPr>
      </p:sp>
      <p:pic>
        <p:nvPicPr>
          <p:cNvPr id="8" name="Image 0" descr="preencoded.png">    </p:cNvPr>
          <p:cNvPicPr>
            <a:picLocks noChangeAspect="1"/>
          </p:cNvPicPr>
          <p:nvPr/>
        </p:nvPicPr>
        <p:blipFill>
          <a:blip r:embed="rId1"/>
          <a:stretch>
            <a:fillRect/>
          </a:stretch>
        </p:blipFill>
        <p:spPr>
          <a:xfrm>
            <a:off x="518648" y="2548616"/>
            <a:ext cx="133137" cy="133137"/>
          </a:xfrm>
          <a:prstGeom prst="rect">
            <a:avLst/>
          </a:prstGeom>
        </p:spPr>
      </p:pic>
      <p:sp>
        <p:nvSpPr>
          <p:cNvPr id="9" name="Text 6"/>
          <p:cNvSpPr txBox="1"/>
          <p:nvPr/>
        </p:nvSpPr>
        <p:spPr>
          <a:xfrm>
            <a:off x="822960" y="2487168"/>
            <a:ext cx="4480560" cy="2560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Reduce manual effort</a:t>
            </a:r>
            <a:endParaRPr lang="en-US" sz="1250" dirty="0"/>
          </a:p>
        </p:txBody>
      </p:sp>
      <p:sp>
        <p:nvSpPr>
          <p:cNvPr id="10" name="Shape 7"/>
          <p:cNvSpPr/>
          <p:nvPr/>
        </p:nvSpPr>
        <p:spPr>
          <a:xfrm>
            <a:off x="457200" y="2852928"/>
            <a:ext cx="256032" cy="256032"/>
          </a:xfrm>
          <a:prstGeom prst="ellipse">
            <a:avLst/>
          </a:prstGeom>
          <a:solidFill>
            <a:srgbClr val="2F6DB5"/>
          </a:solidFill>
          <a:ln/>
        </p:spPr>
      </p:sp>
      <p:pic>
        <p:nvPicPr>
          <p:cNvPr id="11" name="Image 1" descr="preencoded.png">    </p:cNvPr>
          <p:cNvPicPr>
            <a:picLocks noChangeAspect="1"/>
          </p:cNvPicPr>
          <p:nvPr/>
        </p:nvPicPr>
        <p:blipFill>
          <a:blip r:embed="rId2"/>
          <a:stretch>
            <a:fillRect/>
          </a:stretch>
        </p:blipFill>
        <p:spPr>
          <a:xfrm>
            <a:off x="518648" y="2914376"/>
            <a:ext cx="133137" cy="133137"/>
          </a:xfrm>
          <a:prstGeom prst="rect">
            <a:avLst/>
          </a:prstGeom>
        </p:spPr>
      </p:pic>
      <p:sp>
        <p:nvSpPr>
          <p:cNvPr id="12" name="Text 8"/>
          <p:cNvSpPr txBox="1"/>
          <p:nvPr/>
        </p:nvSpPr>
        <p:spPr>
          <a:xfrm>
            <a:off x="822960" y="2852928"/>
            <a:ext cx="4480560" cy="2560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Improve data organization</a:t>
            </a:r>
            <a:endParaRPr lang="en-US" sz="1250" dirty="0"/>
          </a:p>
        </p:txBody>
      </p:sp>
      <p:sp>
        <p:nvSpPr>
          <p:cNvPr id="13" name="Shape 9"/>
          <p:cNvSpPr/>
          <p:nvPr/>
        </p:nvSpPr>
        <p:spPr>
          <a:xfrm>
            <a:off x="457200" y="3218688"/>
            <a:ext cx="256032" cy="256032"/>
          </a:xfrm>
          <a:prstGeom prst="ellipse">
            <a:avLst/>
          </a:prstGeom>
          <a:solidFill>
            <a:srgbClr val="2F6DB5"/>
          </a:solidFill>
          <a:ln/>
        </p:spPr>
      </p:sp>
      <p:pic>
        <p:nvPicPr>
          <p:cNvPr id="14" name="Image 2" descr="preencoded.png">    </p:cNvPr>
          <p:cNvPicPr>
            <a:picLocks noChangeAspect="1"/>
          </p:cNvPicPr>
          <p:nvPr/>
        </p:nvPicPr>
        <p:blipFill>
          <a:blip r:embed="rId3"/>
          <a:stretch>
            <a:fillRect/>
          </a:stretch>
        </p:blipFill>
        <p:spPr>
          <a:xfrm>
            <a:off x="518648" y="3280136"/>
            <a:ext cx="133137" cy="133137"/>
          </a:xfrm>
          <a:prstGeom prst="rect">
            <a:avLst/>
          </a:prstGeom>
        </p:spPr>
      </p:pic>
      <p:sp>
        <p:nvSpPr>
          <p:cNvPr id="15" name="Text 10"/>
          <p:cNvSpPr txBox="1"/>
          <p:nvPr/>
        </p:nvSpPr>
        <p:spPr>
          <a:xfrm>
            <a:off x="822960" y="3218688"/>
            <a:ext cx="4480560" cy="2560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Reduce redundancy</a:t>
            </a:r>
            <a:endParaRPr lang="en-US" sz="1250" dirty="0"/>
          </a:p>
        </p:txBody>
      </p:sp>
      <p:sp>
        <p:nvSpPr>
          <p:cNvPr id="16" name="Shape 11"/>
          <p:cNvSpPr/>
          <p:nvPr/>
        </p:nvSpPr>
        <p:spPr>
          <a:xfrm>
            <a:off x="457200" y="3584448"/>
            <a:ext cx="256032" cy="256032"/>
          </a:xfrm>
          <a:prstGeom prst="ellipse">
            <a:avLst/>
          </a:prstGeom>
          <a:solidFill>
            <a:srgbClr val="2F6DB5"/>
          </a:solidFill>
          <a:ln/>
        </p:spPr>
      </p:sp>
      <p:pic>
        <p:nvPicPr>
          <p:cNvPr id="17" name="Image 3" descr="preencoded.png">    </p:cNvPr>
          <p:cNvPicPr>
            <a:picLocks noChangeAspect="1"/>
          </p:cNvPicPr>
          <p:nvPr/>
        </p:nvPicPr>
        <p:blipFill>
          <a:blip r:embed="rId4"/>
          <a:stretch>
            <a:fillRect/>
          </a:stretch>
        </p:blipFill>
        <p:spPr>
          <a:xfrm>
            <a:off x="518648" y="3645896"/>
            <a:ext cx="133137" cy="133137"/>
          </a:xfrm>
          <a:prstGeom prst="rect">
            <a:avLst/>
          </a:prstGeom>
        </p:spPr>
      </p:pic>
      <p:sp>
        <p:nvSpPr>
          <p:cNvPr id="18" name="Text 12"/>
          <p:cNvSpPr txBox="1"/>
          <p:nvPr/>
        </p:nvSpPr>
        <p:spPr>
          <a:xfrm>
            <a:off x="822960" y="3584448"/>
            <a:ext cx="4480560" cy="2560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Improve information retrieval</a:t>
            </a:r>
            <a:endParaRPr lang="en-US" sz="1250" dirty="0"/>
          </a:p>
        </p:txBody>
      </p:sp>
      <p:sp>
        <p:nvSpPr>
          <p:cNvPr id="19" name="Shape 13"/>
          <p:cNvSpPr/>
          <p:nvPr/>
        </p:nvSpPr>
        <p:spPr>
          <a:xfrm>
            <a:off x="457200" y="3950208"/>
            <a:ext cx="256032" cy="256032"/>
          </a:xfrm>
          <a:prstGeom prst="ellipse">
            <a:avLst/>
          </a:prstGeom>
          <a:solidFill>
            <a:srgbClr val="2F6DB5"/>
          </a:solidFill>
          <a:ln/>
        </p:spPr>
      </p:sp>
      <p:pic>
        <p:nvPicPr>
          <p:cNvPr id="20" name="Image 4" descr="preencoded.png">    </p:cNvPr>
          <p:cNvPicPr>
            <a:picLocks noChangeAspect="1"/>
          </p:cNvPicPr>
          <p:nvPr/>
        </p:nvPicPr>
        <p:blipFill>
          <a:blip r:embed="rId5"/>
          <a:stretch>
            <a:fillRect/>
          </a:stretch>
        </p:blipFill>
        <p:spPr>
          <a:xfrm>
            <a:off x="518648" y="4011656"/>
            <a:ext cx="133137" cy="133137"/>
          </a:xfrm>
          <a:prstGeom prst="rect">
            <a:avLst/>
          </a:prstGeom>
        </p:spPr>
      </p:pic>
      <p:sp>
        <p:nvSpPr>
          <p:cNvPr id="21" name="Text 14"/>
          <p:cNvSpPr txBox="1"/>
          <p:nvPr/>
        </p:nvSpPr>
        <p:spPr>
          <a:xfrm>
            <a:off x="822960" y="3950208"/>
            <a:ext cx="4480560" cy="2560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Manage hostel activities systematically</a:t>
            </a:r>
            <a:endParaRPr lang="en-US" sz="1250" dirty="0"/>
          </a:p>
        </p:txBody>
      </p:sp>
      <p:sp>
        <p:nvSpPr>
          <p:cNvPr id="22" name="Shape 15"/>
          <p:cNvSpPr/>
          <p:nvPr/>
        </p:nvSpPr>
        <p:spPr>
          <a:xfrm>
            <a:off x="457200" y="4315968"/>
            <a:ext cx="256032" cy="256032"/>
          </a:xfrm>
          <a:prstGeom prst="ellipse">
            <a:avLst/>
          </a:prstGeom>
          <a:solidFill>
            <a:srgbClr val="2F6DB5"/>
          </a:solidFill>
          <a:ln/>
        </p:spPr>
      </p:sp>
      <p:pic>
        <p:nvPicPr>
          <p:cNvPr id="23" name="Image 5" descr="preencoded.png">    </p:cNvPr>
          <p:cNvPicPr>
            <a:picLocks noChangeAspect="1"/>
          </p:cNvPicPr>
          <p:nvPr/>
        </p:nvPicPr>
        <p:blipFill>
          <a:blip r:embed="rId6"/>
          <a:stretch>
            <a:fillRect/>
          </a:stretch>
        </p:blipFill>
        <p:spPr>
          <a:xfrm>
            <a:off x="518648" y="4377416"/>
            <a:ext cx="133137" cy="133137"/>
          </a:xfrm>
          <a:prstGeom prst="rect">
            <a:avLst/>
          </a:prstGeom>
        </p:spPr>
      </p:pic>
      <p:sp>
        <p:nvSpPr>
          <p:cNvPr id="24" name="Text 16"/>
          <p:cNvSpPr txBox="1"/>
          <p:nvPr/>
        </p:nvSpPr>
        <p:spPr>
          <a:xfrm>
            <a:off x="822960" y="4315968"/>
            <a:ext cx="4480560" cy="25603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Provide a foundation for backend API integration</a:t>
            </a:r>
            <a:endParaRPr lang="en-US" sz="1250" dirty="0"/>
          </a:p>
        </p:txBody>
      </p:sp>
      <p:sp>
        <p:nvSpPr>
          <p:cNvPr id="25" name="Shape 17"/>
          <p:cNvSpPr/>
          <p:nvPr/>
        </p:nvSpPr>
        <p:spPr>
          <a:xfrm>
            <a:off x="5669280" y="1280160"/>
            <a:ext cx="3017520" cy="3291840"/>
          </a:xfrm>
          <a:prstGeom prst="roundRect">
            <a:avLst>
              <a:gd name="adj" fmla="val 2424"/>
            </a:avLst>
          </a:prstGeom>
          <a:solidFill>
            <a:srgbClr val="12335F"/>
          </a:solidFill>
          <a:ln/>
        </p:spPr>
      </p:sp>
      <p:sp>
        <p:nvSpPr>
          <p:cNvPr id="26" name="Text 18"/>
          <p:cNvSpPr txBox="1"/>
          <p:nvPr/>
        </p:nvSpPr>
        <p:spPr>
          <a:xfrm>
            <a:off x="5852160" y="1371600"/>
            <a:ext cx="2743200"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Next phase</a:t>
            </a:r>
            <a:endParaRPr lang="en-US" sz="1500" dirty="0"/>
          </a:p>
        </p:txBody>
      </p:sp>
      <p:sp>
        <p:nvSpPr>
          <p:cNvPr id="27" name="Shape 19"/>
          <p:cNvSpPr/>
          <p:nvPr/>
        </p:nvSpPr>
        <p:spPr>
          <a:xfrm>
            <a:off x="5852160" y="1828800"/>
            <a:ext cx="2651760" cy="384048"/>
          </a:xfrm>
          <a:prstGeom prst="roundRect">
            <a:avLst>
              <a:gd name="adj" fmla="val 19048"/>
            </a:avLst>
          </a:prstGeom>
          <a:solidFill>
            <a:srgbClr val="0B2545"/>
          </a:solidFill>
          <a:ln w="12700">
            <a:solidFill>
              <a:srgbClr val="3B6FB0"/>
            </a:solidFill>
            <a:prstDash val="solid"/>
          </a:ln>
        </p:spPr>
      </p:sp>
      <p:sp>
        <p:nvSpPr>
          <p:cNvPr id="28" name="Shape 20"/>
          <p:cNvSpPr/>
          <p:nvPr/>
        </p:nvSpPr>
        <p:spPr>
          <a:xfrm>
            <a:off x="5925312" y="1883664"/>
            <a:ext cx="274320" cy="274320"/>
          </a:xfrm>
          <a:prstGeom prst="ellipse">
            <a:avLst/>
          </a:prstGeom>
          <a:solidFill>
            <a:srgbClr val="2F6DB5"/>
          </a:solidFill>
          <a:ln/>
        </p:spPr>
      </p:sp>
      <p:sp>
        <p:nvSpPr>
          <p:cNvPr id="29" name="Text 21"/>
          <p:cNvSpPr txBox="1"/>
          <p:nvPr/>
        </p:nvSpPr>
        <p:spPr>
          <a:xfrm>
            <a:off x="5925312" y="188366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30" name="Text 22"/>
          <p:cNvSpPr txBox="1"/>
          <p:nvPr/>
        </p:nvSpPr>
        <p:spPr>
          <a:xfrm>
            <a:off x="6309360" y="1828800"/>
            <a:ext cx="210312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Database design</a:t>
            </a:r>
            <a:endParaRPr lang="en-US" sz="1200" dirty="0"/>
          </a:p>
        </p:txBody>
      </p:sp>
      <p:sp>
        <p:nvSpPr>
          <p:cNvPr id="31" name="Shape 23"/>
          <p:cNvSpPr/>
          <p:nvPr/>
        </p:nvSpPr>
        <p:spPr>
          <a:xfrm>
            <a:off x="7178040" y="2221992"/>
            <a:ext cx="0" cy="128016"/>
          </a:xfrm>
          <a:prstGeom prst="line">
            <a:avLst/>
          </a:prstGeom>
          <a:noFill/>
          <a:ln w="19050">
            <a:solidFill>
              <a:srgbClr val="CADCFC"/>
            </a:solidFill>
            <a:prstDash val="solid"/>
            <a:tailEnd type="triangle"/>
          </a:ln>
        </p:spPr>
      </p:sp>
      <p:sp>
        <p:nvSpPr>
          <p:cNvPr id="32" name="Shape 24"/>
          <p:cNvSpPr/>
          <p:nvPr/>
        </p:nvSpPr>
        <p:spPr>
          <a:xfrm>
            <a:off x="5852160" y="2359152"/>
            <a:ext cx="2651760" cy="384048"/>
          </a:xfrm>
          <a:prstGeom prst="roundRect">
            <a:avLst>
              <a:gd name="adj" fmla="val 19048"/>
            </a:avLst>
          </a:prstGeom>
          <a:solidFill>
            <a:srgbClr val="0B2545"/>
          </a:solidFill>
          <a:ln w="12700">
            <a:solidFill>
              <a:srgbClr val="3B6FB0"/>
            </a:solidFill>
            <a:prstDash val="solid"/>
          </a:ln>
        </p:spPr>
      </p:sp>
      <p:sp>
        <p:nvSpPr>
          <p:cNvPr id="33" name="Shape 25"/>
          <p:cNvSpPr/>
          <p:nvPr/>
        </p:nvSpPr>
        <p:spPr>
          <a:xfrm>
            <a:off x="5925312" y="2414016"/>
            <a:ext cx="274320" cy="274320"/>
          </a:xfrm>
          <a:prstGeom prst="ellipse">
            <a:avLst/>
          </a:prstGeom>
          <a:solidFill>
            <a:srgbClr val="2F6DB5"/>
          </a:solidFill>
          <a:ln/>
        </p:spPr>
      </p:sp>
      <p:sp>
        <p:nvSpPr>
          <p:cNvPr id="34" name="Text 26"/>
          <p:cNvSpPr txBox="1"/>
          <p:nvPr/>
        </p:nvSpPr>
        <p:spPr>
          <a:xfrm>
            <a:off x="5925312" y="241401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35" name="Text 27"/>
          <p:cNvSpPr txBox="1"/>
          <p:nvPr/>
        </p:nvSpPr>
        <p:spPr>
          <a:xfrm>
            <a:off x="6309360" y="2359152"/>
            <a:ext cx="210312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Backend implementation</a:t>
            </a:r>
            <a:endParaRPr lang="en-US" sz="1200" dirty="0"/>
          </a:p>
        </p:txBody>
      </p:sp>
      <p:sp>
        <p:nvSpPr>
          <p:cNvPr id="36" name="Shape 28"/>
          <p:cNvSpPr/>
          <p:nvPr/>
        </p:nvSpPr>
        <p:spPr>
          <a:xfrm>
            <a:off x="7178040" y="2752344"/>
            <a:ext cx="0" cy="128016"/>
          </a:xfrm>
          <a:prstGeom prst="line">
            <a:avLst/>
          </a:prstGeom>
          <a:noFill/>
          <a:ln w="19050">
            <a:solidFill>
              <a:srgbClr val="CADCFC"/>
            </a:solidFill>
            <a:prstDash val="solid"/>
            <a:tailEnd type="triangle"/>
          </a:ln>
        </p:spPr>
      </p:sp>
      <p:sp>
        <p:nvSpPr>
          <p:cNvPr id="37" name="Shape 29"/>
          <p:cNvSpPr/>
          <p:nvPr/>
        </p:nvSpPr>
        <p:spPr>
          <a:xfrm>
            <a:off x="5852160" y="2889504"/>
            <a:ext cx="2651760" cy="384048"/>
          </a:xfrm>
          <a:prstGeom prst="roundRect">
            <a:avLst>
              <a:gd name="adj" fmla="val 19048"/>
            </a:avLst>
          </a:prstGeom>
          <a:solidFill>
            <a:srgbClr val="0B2545"/>
          </a:solidFill>
          <a:ln w="12700">
            <a:solidFill>
              <a:srgbClr val="3B6FB0"/>
            </a:solidFill>
            <a:prstDash val="solid"/>
          </a:ln>
        </p:spPr>
      </p:sp>
      <p:sp>
        <p:nvSpPr>
          <p:cNvPr id="38" name="Shape 30"/>
          <p:cNvSpPr/>
          <p:nvPr/>
        </p:nvSpPr>
        <p:spPr>
          <a:xfrm>
            <a:off x="5925312" y="2944368"/>
            <a:ext cx="274320" cy="274320"/>
          </a:xfrm>
          <a:prstGeom prst="ellipse">
            <a:avLst/>
          </a:prstGeom>
          <a:solidFill>
            <a:srgbClr val="2F6DB5"/>
          </a:solidFill>
          <a:ln/>
        </p:spPr>
      </p:sp>
      <p:sp>
        <p:nvSpPr>
          <p:cNvPr id="39" name="Text 31"/>
          <p:cNvSpPr txBox="1"/>
          <p:nvPr/>
        </p:nvSpPr>
        <p:spPr>
          <a:xfrm>
            <a:off x="5925312" y="294436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40" name="Text 32"/>
          <p:cNvSpPr txBox="1"/>
          <p:nvPr/>
        </p:nvSpPr>
        <p:spPr>
          <a:xfrm>
            <a:off x="6309360" y="2889504"/>
            <a:ext cx="210312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Frontend development</a:t>
            </a:r>
            <a:endParaRPr lang="en-US" sz="1200" dirty="0"/>
          </a:p>
        </p:txBody>
      </p:sp>
      <p:sp>
        <p:nvSpPr>
          <p:cNvPr id="41" name="Shape 33"/>
          <p:cNvSpPr/>
          <p:nvPr/>
        </p:nvSpPr>
        <p:spPr>
          <a:xfrm>
            <a:off x="7178040" y="3282696"/>
            <a:ext cx="0" cy="128016"/>
          </a:xfrm>
          <a:prstGeom prst="line">
            <a:avLst/>
          </a:prstGeom>
          <a:noFill/>
          <a:ln w="19050">
            <a:solidFill>
              <a:srgbClr val="CADCFC"/>
            </a:solidFill>
            <a:prstDash val="solid"/>
            <a:tailEnd type="triangle"/>
          </a:ln>
        </p:spPr>
      </p:sp>
      <p:sp>
        <p:nvSpPr>
          <p:cNvPr id="42" name="Shape 34"/>
          <p:cNvSpPr/>
          <p:nvPr/>
        </p:nvSpPr>
        <p:spPr>
          <a:xfrm>
            <a:off x="5852160" y="3419856"/>
            <a:ext cx="2651760" cy="384048"/>
          </a:xfrm>
          <a:prstGeom prst="roundRect">
            <a:avLst>
              <a:gd name="adj" fmla="val 19048"/>
            </a:avLst>
          </a:prstGeom>
          <a:solidFill>
            <a:srgbClr val="0B2545"/>
          </a:solidFill>
          <a:ln w="12700">
            <a:solidFill>
              <a:srgbClr val="3B6FB0"/>
            </a:solidFill>
            <a:prstDash val="solid"/>
          </a:ln>
        </p:spPr>
      </p:sp>
      <p:sp>
        <p:nvSpPr>
          <p:cNvPr id="43" name="Shape 35"/>
          <p:cNvSpPr/>
          <p:nvPr/>
        </p:nvSpPr>
        <p:spPr>
          <a:xfrm>
            <a:off x="5925312" y="3474720"/>
            <a:ext cx="274320" cy="274320"/>
          </a:xfrm>
          <a:prstGeom prst="ellipse">
            <a:avLst/>
          </a:prstGeom>
          <a:solidFill>
            <a:srgbClr val="2F6DB5"/>
          </a:solidFill>
          <a:ln/>
        </p:spPr>
      </p:sp>
      <p:sp>
        <p:nvSpPr>
          <p:cNvPr id="44" name="Text 36"/>
          <p:cNvSpPr txBox="1"/>
          <p:nvPr/>
        </p:nvSpPr>
        <p:spPr>
          <a:xfrm>
            <a:off x="5925312" y="347472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45" name="Text 37"/>
          <p:cNvSpPr txBox="1"/>
          <p:nvPr/>
        </p:nvSpPr>
        <p:spPr>
          <a:xfrm>
            <a:off x="6309360" y="3419856"/>
            <a:ext cx="210312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Integration</a:t>
            </a:r>
            <a:endParaRPr lang="en-US" sz="1200" dirty="0"/>
          </a:p>
        </p:txBody>
      </p:sp>
      <p:sp>
        <p:nvSpPr>
          <p:cNvPr id="46" name="Shape 38"/>
          <p:cNvSpPr/>
          <p:nvPr/>
        </p:nvSpPr>
        <p:spPr>
          <a:xfrm>
            <a:off x="7178040" y="3813048"/>
            <a:ext cx="0" cy="128016"/>
          </a:xfrm>
          <a:prstGeom prst="line">
            <a:avLst/>
          </a:prstGeom>
          <a:noFill/>
          <a:ln w="19050">
            <a:solidFill>
              <a:srgbClr val="CADCFC"/>
            </a:solidFill>
            <a:prstDash val="solid"/>
            <a:tailEnd type="triangle"/>
          </a:ln>
        </p:spPr>
      </p:sp>
      <p:sp>
        <p:nvSpPr>
          <p:cNvPr id="47" name="Shape 39"/>
          <p:cNvSpPr/>
          <p:nvPr/>
        </p:nvSpPr>
        <p:spPr>
          <a:xfrm>
            <a:off x="5852160" y="3950208"/>
            <a:ext cx="2651760" cy="384048"/>
          </a:xfrm>
          <a:prstGeom prst="roundRect">
            <a:avLst>
              <a:gd name="adj" fmla="val 19048"/>
            </a:avLst>
          </a:prstGeom>
          <a:solidFill>
            <a:srgbClr val="0B2545"/>
          </a:solidFill>
          <a:ln w="12700">
            <a:solidFill>
              <a:srgbClr val="3B6FB0"/>
            </a:solidFill>
            <a:prstDash val="solid"/>
          </a:ln>
        </p:spPr>
      </p:sp>
      <p:sp>
        <p:nvSpPr>
          <p:cNvPr id="48" name="Shape 40"/>
          <p:cNvSpPr/>
          <p:nvPr/>
        </p:nvSpPr>
        <p:spPr>
          <a:xfrm>
            <a:off x="5925312" y="4005072"/>
            <a:ext cx="274320" cy="274320"/>
          </a:xfrm>
          <a:prstGeom prst="ellipse">
            <a:avLst/>
          </a:prstGeom>
          <a:solidFill>
            <a:srgbClr val="2F6DB5"/>
          </a:solidFill>
          <a:ln/>
        </p:spPr>
      </p:sp>
      <p:sp>
        <p:nvSpPr>
          <p:cNvPr id="49" name="Text 41"/>
          <p:cNvSpPr txBox="1"/>
          <p:nvPr/>
        </p:nvSpPr>
        <p:spPr>
          <a:xfrm>
            <a:off x="5925312" y="400507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50" name="Text 42"/>
          <p:cNvSpPr txBox="1"/>
          <p:nvPr/>
        </p:nvSpPr>
        <p:spPr>
          <a:xfrm>
            <a:off x="6309360" y="3950208"/>
            <a:ext cx="210312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Testing</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911596" y="219456"/>
            <a:ext cx="2775204" cy="274320"/>
          </a:xfrm>
          <a:prstGeom prst="roundRect">
            <a:avLst>
              <a:gd name="adj" fmla="val 50000"/>
            </a:avLst>
          </a:prstGeom>
          <a:solidFill>
            <a:srgbClr val="6B7280"/>
          </a:solidFill>
          <a:ln/>
        </p:spPr>
      </p:sp>
      <p:sp>
        <p:nvSpPr>
          <p:cNvPr id="3" name="Text 1"/>
          <p:cNvSpPr txBox="1"/>
          <p:nvPr/>
        </p:nvSpPr>
        <p:spPr>
          <a:xfrm>
            <a:off x="5911596" y="219456"/>
            <a:ext cx="27752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ACADEMIC REFERENCES TO BE ADDED</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References</a:t>
            </a:r>
            <a:endParaRPr lang="en-US" sz="2600" dirty="0"/>
          </a:p>
        </p:txBody>
      </p:sp>
      <p:sp>
        <p:nvSpPr>
          <p:cNvPr id="5" name="Shape 3"/>
          <p:cNvSpPr/>
          <p:nvPr/>
        </p:nvSpPr>
        <p:spPr>
          <a:xfrm>
            <a:off x="457200" y="1280160"/>
            <a:ext cx="4023360" cy="713232"/>
          </a:xfrm>
          <a:prstGeom prst="roundRect">
            <a:avLst>
              <a:gd name="adj" fmla="val 10256"/>
            </a:avLst>
          </a:prstGeom>
          <a:solidFill>
            <a:srgbClr val="F2F4F8"/>
          </a:solidFill>
          <a:ln/>
        </p:spPr>
      </p:sp>
      <p:sp>
        <p:nvSpPr>
          <p:cNvPr id="6" name="Shape 4"/>
          <p:cNvSpPr/>
          <p:nvPr/>
        </p:nvSpPr>
        <p:spPr>
          <a:xfrm>
            <a:off x="566928" y="1481328"/>
            <a:ext cx="310896" cy="310896"/>
          </a:xfrm>
          <a:prstGeom prst="ellipse">
            <a:avLst/>
          </a:prstGeom>
          <a:solidFill>
            <a:srgbClr val="13478F"/>
          </a:solidFill>
          <a:ln/>
        </p:spPr>
      </p:sp>
      <p:sp>
        <p:nvSpPr>
          <p:cNvPr id="7" name="Text 5"/>
          <p:cNvSpPr txBox="1"/>
          <p:nvPr/>
        </p:nvSpPr>
        <p:spPr>
          <a:xfrm>
            <a:off x="566928" y="148132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8" name="Text 6"/>
          <p:cNvSpPr txBox="1"/>
          <p:nvPr/>
        </p:nvSpPr>
        <p:spPr>
          <a:xfrm>
            <a:off x="1024128" y="1280160"/>
            <a:ext cx="3383280" cy="71323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Course Handout</a:t>
            </a:r>
            <a:endParaRPr lang="en-US" sz="1200" dirty="0"/>
          </a:p>
          <a:p>
            <a:pPr indent="0" marL="0">
              <a:buNone/>
            </a:pPr>
            <a:r>
              <a:rPr lang="en-US" sz="1050" dirty="0">
                <a:solidFill>
                  <a:srgbClr val="6B7280"/>
                </a:solidFill>
                <a:latin typeface="Calibri" pitchFamily="34" charset="0"/>
                <a:ea typeface="Calibri" pitchFamily="34" charset="-122"/>
                <a:cs typeface="Calibri" pitchFamily="34" charset="-120"/>
              </a:rPr>
              <a:t>Database Systems Engineering and Distributed Backend Development (25CS1302E), KL University</a:t>
            </a:r>
            <a:endParaRPr lang="en-US" sz="1200" dirty="0"/>
          </a:p>
        </p:txBody>
      </p:sp>
      <p:sp>
        <p:nvSpPr>
          <p:cNvPr id="9" name="Shape 7"/>
          <p:cNvSpPr/>
          <p:nvPr/>
        </p:nvSpPr>
        <p:spPr>
          <a:xfrm>
            <a:off x="457200" y="2103120"/>
            <a:ext cx="4023360" cy="713232"/>
          </a:xfrm>
          <a:prstGeom prst="roundRect">
            <a:avLst>
              <a:gd name="adj" fmla="val 10256"/>
            </a:avLst>
          </a:prstGeom>
          <a:solidFill>
            <a:srgbClr val="F2F4F8"/>
          </a:solidFill>
          <a:ln/>
        </p:spPr>
      </p:sp>
      <p:sp>
        <p:nvSpPr>
          <p:cNvPr id="10" name="Shape 8"/>
          <p:cNvSpPr/>
          <p:nvPr/>
        </p:nvSpPr>
        <p:spPr>
          <a:xfrm>
            <a:off x="566928" y="2304288"/>
            <a:ext cx="310896" cy="310896"/>
          </a:xfrm>
          <a:prstGeom prst="ellipse">
            <a:avLst/>
          </a:prstGeom>
          <a:solidFill>
            <a:srgbClr val="13478F"/>
          </a:solidFill>
          <a:ln/>
        </p:spPr>
      </p:sp>
      <p:sp>
        <p:nvSpPr>
          <p:cNvPr id="11" name="Text 9"/>
          <p:cNvSpPr txBox="1"/>
          <p:nvPr/>
        </p:nvSpPr>
        <p:spPr>
          <a:xfrm>
            <a:off x="566928" y="230428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Text 10"/>
          <p:cNvSpPr txBox="1"/>
          <p:nvPr/>
        </p:nvSpPr>
        <p:spPr>
          <a:xfrm>
            <a:off x="1024128" y="2103120"/>
            <a:ext cx="3383280" cy="71323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Project Abstract Submission Form</a:t>
            </a:r>
            <a:endParaRPr lang="en-US" sz="1200" dirty="0"/>
          </a:p>
          <a:p>
            <a:pPr indent="0" marL="0">
              <a:buNone/>
            </a:pPr>
            <a:r>
              <a:rPr lang="en-US" sz="1050" dirty="0">
                <a:solidFill>
                  <a:srgbClr val="6B7280"/>
                </a:solidFill>
                <a:latin typeface="Calibri" pitchFamily="34" charset="0"/>
                <a:ea typeface="Calibri" pitchFamily="34" charset="-122"/>
                <a:cs typeface="Calibri" pitchFamily="34" charset="-120"/>
              </a:rPr>
              <a:t>Smart Hostel Management System, Team 2, Section 13</a:t>
            </a:r>
            <a:endParaRPr lang="en-US" sz="1200" dirty="0"/>
          </a:p>
        </p:txBody>
      </p:sp>
      <p:sp>
        <p:nvSpPr>
          <p:cNvPr id="13" name="Shape 11"/>
          <p:cNvSpPr/>
          <p:nvPr/>
        </p:nvSpPr>
        <p:spPr>
          <a:xfrm>
            <a:off x="457200" y="2926080"/>
            <a:ext cx="4023360" cy="713232"/>
          </a:xfrm>
          <a:prstGeom prst="roundRect">
            <a:avLst>
              <a:gd name="adj" fmla="val 10256"/>
            </a:avLst>
          </a:prstGeom>
          <a:solidFill>
            <a:srgbClr val="F2F4F8"/>
          </a:solidFill>
          <a:ln/>
        </p:spPr>
      </p:sp>
      <p:sp>
        <p:nvSpPr>
          <p:cNvPr id="14" name="Shape 12"/>
          <p:cNvSpPr/>
          <p:nvPr/>
        </p:nvSpPr>
        <p:spPr>
          <a:xfrm>
            <a:off x="566928" y="3127248"/>
            <a:ext cx="310896" cy="310896"/>
          </a:xfrm>
          <a:prstGeom prst="ellipse">
            <a:avLst/>
          </a:prstGeom>
          <a:solidFill>
            <a:srgbClr val="13478F"/>
          </a:solidFill>
          <a:ln/>
        </p:spPr>
      </p:sp>
      <p:sp>
        <p:nvSpPr>
          <p:cNvPr id="15" name="Text 13"/>
          <p:cNvSpPr txBox="1"/>
          <p:nvPr/>
        </p:nvSpPr>
        <p:spPr>
          <a:xfrm>
            <a:off x="566928" y="312724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6" name="Text 14"/>
          <p:cNvSpPr txBox="1"/>
          <p:nvPr/>
        </p:nvSpPr>
        <p:spPr>
          <a:xfrm>
            <a:off x="1024128" y="2926080"/>
            <a:ext cx="3383280" cy="71323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MySQL Documentation</a:t>
            </a:r>
            <a:endParaRPr lang="en-US" sz="1200" dirty="0"/>
          </a:p>
          <a:p>
            <a:pPr indent="0" marL="0">
              <a:buNone/>
            </a:pPr>
            <a:r>
              <a:rPr lang="en-US" sz="1050" dirty="0">
                <a:solidFill>
                  <a:srgbClr val="6B7280"/>
                </a:solidFill>
                <a:latin typeface="Calibri" pitchFamily="34" charset="0"/>
                <a:ea typeface="Calibri" pitchFamily="34" charset="-122"/>
                <a:cs typeface="Calibri" pitchFamily="34" charset="-120"/>
              </a:rPr>
              <a:t>MySQL Reference Manual — dev.mysql.com/doc</a:t>
            </a:r>
            <a:endParaRPr lang="en-US" sz="1200" dirty="0"/>
          </a:p>
        </p:txBody>
      </p:sp>
      <p:sp>
        <p:nvSpPr>
          <p:cNvPr id="17" name="Shape 15"/>
          <p:cNvSpPr/>
          <p:nvPr/>
        </p:nvSpPr>
        <p:spPr>
          <a:xfrm>
            <a:off x="457200" y="3749040"/>
            <a:ext cx="4023360" cy="713232"/>
          </a:xfrm>
          <a:prstGeom prst="roundRect">
            <a:avLst>
              <a:gd name="adj" fmla="val 10256"/>
            </a:avLst>
          </a:prstGeom>
          <a:solidFill>
            <a:srgbClr val="F2F4F8"/>
          </a:solidFill>
          <a:ln/>
        </p:spPr>
      </p:sp>
      <p:sp>
        <p:nvSpPr>
          <p:cNvPr id="18" name="Shape 16"/>
          <p:cNvSpPr/>
          <p:nvPr/>
        </p:nvSpPr>
        <p:spPr>
          <a:xfrm>
            <a:off x="566928" y="3950208"/>
            <a:ext cx="310896" cy="310896"/>
          </a:xfrm>
          <a:prstGeom prst="ellipse">
            <a:avLst/>
          </a:prstGeom>
          <a:solidFill>
            <a:srgbClr val="13478F"/>
          </a:solidFill>
          <a:ln/>
        </p:spPr>
      </p:sp>
      <p:sp>
        <p:nvSpPr>
          <p:cNvPr id="19" name="Text 17"/>
          <p:cNvSpPr txBox="1"/>
          <p:nvPr/>
        </p:nvSpPr>
        <p:spPr>
          <a:xfrm>
            <a:off x="566928" y="395020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0" name="Text 18"/>
          <p:cNvSpPr txBox="1"/>
          <p:nvPr/>
        </p:nvSpPr>
        <p:spPr>
          <a:xfrm>
            <a:off x="1024128" y="3749040"/>
            <a:ext cx="3383280" cy="71323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Node.js Documentation</a:t>
            </a:r>
            <a:endParaRPr lang="en-US" sz="1200" dirty="0"/>
          </a:p>
          <a:p>
            <a:pPr indent="0" marL="0">
              <a:buNone/>
            </a:pPr>
            <a:r>
              <a:rPr lang="en-US" sz="1050" dirty="0">
                <a:solidFill>
                  <a:srgbClr val="6B7280"/>
                </a:solidFill>
                <a:latin typeface="Calibri" pitchFamily="34" charset="0"/>
                <a:ea typeface="Calibri" pitchFamily="34" charset="-122"/>
                <a:cs typeface="Calibri" pitchFamily="34" charset="-120"/>
              </a:rPr>
              <a:t>nodejs.org/docs</a:t>
            </a:r>
            <a:endParaRPr lang="en-US" sz="1200" dirty="0"/>
          </a:p>
        </p:txBody>
      </p:sp>
      <p:sp>
        <p:nvSpPr>
          <p:cNvPr id="21" name="Shape 19"/>
          <p:cNvSpPr/>
          <p:nvPr/>
        </p:nvSpPr>
        <p:spPr>
          <a:xfrm>
            <a:off x="4663440" y="1280160"/>
            <a:ext cx="4023360" cy="713232"/>
          </a:xfrm>
          <a:prstGeom prst="roundRect">
            <a:avLst>
              <a:gd name="adj" fmla="val 10256"/>
            </a:avLst>
          </a:prstGeom>
          <a:solidFill>
            <a:srgbClr val="F2F4F8"/>
          </a:solidFill>
          <a:ln/>
        </p:spPr>
      </p:sp>
      <p:sp>
        <p:nvSpPr>
          <p:cNvPr id="22" name="Shape 20"/>
          <p:cNvSpPr/>
          <p:nvPr/>
        </p:nvSpPr>
        <p:spPr>
          <a:xfrm>
            <a:off x="4773168" y="1481328"/>
            <a:ext cx="310896" cy="310896"/>
          </a:xfrm>
          <a:prstGeom prst="ellipse">
            <a:avLst/>
          </a:prstGeom>
          <a:solidFill>
            <a:srgbClr val="13478F"/>
          </a:solidFill>
          <a:ln/>
        </p:spPr>
      </p:sp>
      <p:sp>
        <p:nvSpPr>
          <p:cNvPr id="23" name="Text 21"/>
          <p:cNvSpPr txBox="1"/>
          <p:nvPr/>
        </p:nvSpPr>
        <p:spPr>
          <a:xfrm>
            <a:off x="4773168" y="148132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4" name="Text 22"/>
          <p:cNvSpPr txBox="1"/>
          <p:nvPr/>
        </p:nvSpPr>
        <p:spPr>
          <a:xfrm>
            <a:off x="5230368" y="1280160"/>
            <a:ext cx="3383280" cy="71323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Express.js Documentation</a:t>
            </a:r>
            <a:endParaRPr lang="en-US" sz="1200" dirty="0"/>
          </a:p>
          <a:p>
            <a:pPr indent="0" marL="0">
              <a:buNone/>
            </a:pPr>
            <a:r>
              <a:rPr lang="en-US" sz="1050" dirty="0">
                <a:solidFill>
                  <a:srgbClr val="6B7280"/>
                </a:solidFill>
                <a:latin typeface="Calibri" pitchFamily="34" charset="0"/>
                <a:ea typeface="Calibri" pitchFamily="34" charset="-122"/>
                <a:cs typeface="Calibri" pitchFamily="34" charset="-120"/>
              </a:rPr>
              <a:t>expressjs.com</a:t>
            </a:r>
            <a:endParaRPr lang="en-US" sz="1200" dirty="0"/>
          </a:p>
        </p:txBody>
      </p:sp>
      <p:sp>
        <p:nvSpPr>
          <p:cNvPr id="25" name="Shape 23"/>
          <p:cNvSpPr/>
          <p:nvPr/>
        </p:nvSpPr>
        <p:spPr>
          <a:xfrm>
            <a:off x="4663440" y="2103120"/>
            <a:ext cx="4023360" cy="713232"/>
          </a:xfrm>
          <a:prstGeom prst="roundRect">
            <a:avLst>
              <a:gd name="adj" fmla="val 10256"/>
            </a:avLst>
          </a:prstGeom>
          <a:solidFill>
            <a:srgbClr val="F2F4F8"/>
          </a:solidFill>
          <a:ln/>
        </p:spPr>
      </p:sp>
      <p:sp>
        <p:nvSpPr>
          <p:cNvPr id="26" name="Shape 24"/>
          <p:cNvSpPr/>
          <p:nvPr/>
        </p:nvSpPr>
        <p:spPr>
          <a:xfrm>
            <a:off x="4773168" y="2304288"/>
            <a:ext cx="310896" cy="310896"/>
          </a:xfrm>
          <a:prstGeom prst="ellipse">
            <a:avLst/>
          </a:prstGeom>
          <a:solidFill>
            <a:srgbClr val="13478F"/>
          </a:solidFill>
          <a:ln/>
        </p:spPr>
      </p:sp>
      <p:sp>
        <p:nvSpPr>
          <p:cNvPr id="27" name="Text 25"/>
          <p:cNvSpPr txBox="1"/>
          <p:nvPr/>
        </p:nvSpPr>
        <p:spPr>
          <a:xfrm>
            <a:off x="4773168" y="230428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28" name="Text 26"/>
          <p:cNvSpPr txBox="1"/>
          <p:nvPr/>
        </p:nvSpPr>
        <p:spPr>
          <a:xfrm>
            <a:off x="5230368" y="2103120"/>
            <a:ext cx="3383280" cy="71323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HTML / CSS / JavaScript Documentation</a:t>
            </a:r>
            <a:endParaRPr lang="en-US" sz="1200" dirty="0"/>
          </a:p>
          <a:p>
            <a:pPr indent="0" marL="0">
              <a:buNone/>
            </a:pPr>
            <a:r>
              <a:rPr lang="en-US" sz="1050" dirty="0">
                <a:solidFill>
                  <a:srgbClr val="6B7280"/>
                </a:solidFill>
                <a:latin typeface="Calibri" pitchFamily="34" charset="0"/>
                <a:ea typeface="Calibri" pitchFamily="34" charset="-122"/>
                <a:cs typeface="Calibri" pitchFamily="34" charset="-120"/>
              </a:rPr>
              <a:t>MDN Web Docs — developer.mozilla.org</a:t>
            </a:r>
            <a:endParaRPr lang="en-US" sz="1200" dirty="0"/>
          </a:p>
        </p:txBody>
      </p:sp>
      <p:sp>
        <p:nvSpPr>
          <p:cNvPr id="29" name="Shape 27"/>
          <p:cNvSpPr/>
          <p:nvPr/>
        </p:nvSpPr>
        <p:spPr>
          <a:xfrm>
            <a:off x="4663440" y="2926080"/>
            <a:ext cx="4023360" cy="713232"/>
          </a:xfrm>
          <a:prstGeom prst="roundRect">
            <a:avLst>
              <a:gd name="adj" fmla="val 10256"/>
            </a:avLst>
          </a:prstGeom>
          <a:solidFill>
            <a:srgbClr val="F2F4F8"/>
          </a:solidFill>
          <a:ln/>
        </p:spPr>
      </p:sp>
      <p:sp>
        <p:nvSpPr>
          <p:cNvPr id="30" name="Shape 28"/>
          <p:cNvSpPr/>
          <p:nvPr/>
        </p:nvSpPr>
        <p:spPr>
          <a:xfrm>
            <a:off x="4773168" y="3127248"/>
            <a:ext cx="310896" cy="310896"/>
          </a:xfrm>
          <a:prstGeom prst="ellipse">
            <a:avLst/>
          </a:prstGeom>
          <a:solidFill>
            <a:srgbClr val="13478F"/>
          </a:solidFill>
          <a:ln/>
        </p:spPr>
      </p:sp>
      <p:sp>
        <p:nvSpPr>
          <p:cNvPr id="31" name="Text 29"/>
          <p:cNvSpPr txBox="1"/>
          <p:nvPr/>
        </p:nvSpPr>
        <p:spPr>
          <a:xfrm>
            <a:off x="4773168" y="312724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7</a:t>
            </a:r>
            <a:endParaRPr lang="en-US" sz="1150" dirty="0"/>
          </a:p>
        </p:txBody>
      </p:sp>
      <p:sp>
        <p:nvSpPr>
          <p:cNvPr id="32" name="Text 30"/>
          <p:cNvSpPr txBox="1"/>
          <p:nvPr/>
        </p:nvSpPr>
        <p:spPr>
          <a:xfrm>
            <a:off x="5230368" y="2926080"/>
            <a:ext cx="3383280" cy="71323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Git and GitHub Documentation</a:t>
            </a:r>
            <a:endParaRPr lang="en-US" sz="1200" dirty="0"/>
          </a:p>
          <a:p>
            <a:pPr indent="0" marL="0">
              <a:buNone/>
            </a:pPr>
            <a:r>
              <a:rPr lang="en-US" sz="1050" dirty="0">
                <a:solidFill>
                  <a:srgbClr val="6B7280"/>
                </a:solidFill>
                <a:latin typeface="Calibri" pitchFamily="34" charset="0"/>
                <a:ea typeface="Calibri" pitchFamily="34" charset="-122"/>
                <a:cs typeface="Calibri" pitchFamily="34" charset="-120"/>
              </a:rPr>
              <a:t>git-scm.com/doc  ·  docs.github.com</a:t>
            </a:r>
            <a:endParaRPr lang="en-US" sz="1200" dirty="0"/>
          </a:p>
        </p:txBody>
      </p:sp>
      <p:sp>
        <p:nvSpPr>
          <p:cNvPr id="33" name="Shape 31"/>
          <p:cNvSpPr/>
          <p:nvPr/>
        </p:nvSpPr>
        <p:spPr>
          <a:xfrm>
            <a:off x="4663440" y="3749040"/>
            <a:ext cx="4023360" cy="713232"/>
          </a:xfrm>
          <a:prstGeom prst="roundRect">
            <a:avLst>
              <a:gd name="adj" fmla="val 10256"/>
            </a:avLst>
          </a:prstGeom>
          <a:solidFill>
            <a:srgbClr val="FEF3C7"/>
          </a:solidFill>
          <a:ln w="12700">
            <a:solidFill>
              <a:srgbClr val="B45309"/>
            </a:solidFill>
            <a:prstDash val="dash"/>
          </a:ln>
        </p:spPr>
      </p:sp>
      <p:sp>
        <p:nvSpPr>
          <p:cNvPr id="34" name="Shape 32"/>
          <p:cNvSpPr/>
          <p:nvPr/>
        </p:nvSpPr>
        <p:spPr>
          <a:xfrm>
            <a:off x="4773168" y="3950208"/>
            <a:ext cx="310896" cy="310896"/>
          </a:xfrm>
          <a:prstGeom prst="ellipse">
            <a:avLst/>
          </a:prstGeom>
          <a:solidFill>
            <a:srgbClr val="B45309"/>
          </a:solidFill>
          <a:ln/>
        </p:spPr>
      </p:sp>
      <p:sp>
        <p:nvSpPr>
          <p:cNvPr id="35" name="Text 33"/>
          <p:cNvSpPr txBox="1"/>
          <p:nvPr/>
        </p:nvSpPr>
        <p:spPr>
          <a:xfrm>
            <a:off x="4773168" y="3950208"/>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8</a:t>
            </a:r>
            <a:endParaRPr lang="en-US" sz="1150" dirty="0"/>
          </a:p>
        </p:txBody>
      </p:sp>
      <p:sp>
        <p:nvSpPr>
          <p:cNvPr id="36" name="Text 34"/>
          <p:cNvSpPr txBox="1"/>
          <p:nvPr/>
        </p:nvSpPr>
        <p:spPr>
          <a:xfrm>
            <a:off x="5230368" y="3749040"/>
            <a:ext cx="3383280" cy="713232"/>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Academic papers</a:t>
            </a:r>
            <a:endParaRPr lang="en-US" sz="1200" dirty="0"/>
          </a:p>
          <a:p>
            <a:pPr indent="0" marL="0">
              <a:buNone/>
            </a:pPr>
            <a:r>
              <a:rPr lang="en-US" sz="1050" dirty="0">
                <a:solidFill>
                  <a:srgbClr val="6B7280"/>
                </a:solidFill>
                <a:latin typeface="Calibri" pitchFamily="34" charset="0"/>
                <a:ea typeface="Calibri" pitchFamily="34" charset="-122"/>
                <a:cs typeface="Calibri" pitchFamily="34" charset="-120"/>
              </a:rPr>
              <a:t>To be added after an actual literature search</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7232904" y="219456"/>
            <a:ext cx="1453896" cy="274320"/>
          </a:xfrm>
          <a:prstGeom prst="roundRect">
            <a:avLst>
              <a:gd name="adj" fmla="val 50000"/>
            </a:avLst>
          </a:prstGeom>
          <a:solidFill>
            <a:srgbClr val="2F6DB5"/>
          </a:solidFill>
          <a:ln/>
        </p:spPr>
      </p:sp>
      <p:sp>
        <p:nvSpPr>
          <p:cNvPr id="3" name="Text 1"/>
          <p:cNvSpPr txBox="1"/>
          <p:nvPr/>
        </p:nvSpPr>
        <p:spPr>
          <a:xfrm>
            <a:off x="7232904" y="219456"/>
            <a:ext cx="14538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 REVIEW</a:t>
            </a:r>
            <a:endParaRPr lang="en-US" sz="1000" dirty="0"/>
          </a:p>
        </p:txBody>
      </p:sp>
      <p:sp>
        <p:nvSpPr>
          <p:cNvPr id="4" name="Text 2"/>
          <p:cNvSpPr txBox="1"/>
          <p:nvPr/>
        </p:nvSpPr>
        <p:spPr>
          <a:xfrm>
            <a:off x="548640" y="1371600"/>
            <a:ext cx="530352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548640" y="2194560"/>
            <a:ext cx="5303520" cy="41148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Questions &amp; Discussion</a:t>
            </a:r>
            <a:endParaRPr lang="en-US" sz="2000" dirty="0"/>
          </a:p>
        </p:txBody>
      </p:sp>
      <p:sp>
        <p:nvSpPr>
          <p:cNvPr id="6" name="Text 4"/>
          <p:cNvSpPr txBox="1"/>
          <p:nvPr/>
        </p:nvSpPr>
        <p:spPr>
          <a:xfrm>
            <a:off x="548640" y="3017520"/>
            <a:ext cx="5303520" cy="100584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Smart Hostel Management System</a:t>
            </a:r>
            <a:endParaRPr lang="en-US" sz="1200" dirty="0"/>
          </a:p>
          <a:p>
            <a:pPr indent="0" marL="0">
              <a:spcAft>
                <a:spcPts val="400"/>
              </a:spcAft>
              <a:buNone/>
            </a:pPr>
            <a:r>
              <a:rPr lang="en-US" sz="1300" dirty="0">
                <a:solidFill>
                  <a:srgbClr val="CADCFC"/>
                </a:solidFill>
                <a:latin typeface="Calibri" pitchFamily="34" charset="0"/>
                <a:ea typeface="Calibri" pitchFamily="34" charset="-122"/>
                <a:cs typeface="Calibri" pitchFamily="34" charset="-120"/>
              </a:rPr>
              <a:t>Team:  Ananya  |  Srivalli  |  Shanmukhi</a:t>
            </a:r>
            <a:endParaRPr lang="en-US" sz="1200" dirty="0"/>
          </a:p>
          <a:p>
            <a:pPr indent="0" marL="0">
              <a:spcAft>
                <a:spcPts val="400"/>
              </a:spcAft>
              <a:buNone/>
            </a:pPr>
            <a:r>
              <a:rPr lang="en-US" sz="1300" dirty="0">
                <a:solidFill>
                  <a:srgbClr val="CADCFC"/>
                </a:solidFill>
                <a:latin typeface="Calibri" pitchFamily="34" charset="0"/>
                <a:ea typeface="Calibri" pitchFamily="34" charset="-122"/>
                <a:cs typeface="Calibri" pitchFamily="34" charset="-120"/>
              </a:rPr>
              <a:t>Section 13  |  Team 2</a:t>
            </a:r>
            <a:endParaRPr lang="en-US" sz="1200" dirty="0"/>
          </a:p>
        </p:txBody>
      </p:sp>
      <p:sp>
        <p:nvSpPr>
          <p:cNvPr id="7" name="Shape 5"/>
          <p:cNvSpPr/>
          <p:nvPr/>
        </p:nvSpPr>
        <p:spPr>
          <a:xfrm>
            <a:off x="5760720" y="1463040"/>
            <a:ext cx="2651760" cy="2651760"/>
          </a:xfrm>
          <a:prstGeom prst="ellipse">
            <a:avLst/>
          </a:prstGeom>
          <a:ln w="15875">
            <a:solidFill>
              <a:srgbClr val="3B6FB0"/>
            </a:solidFill>
            <a:prstDash val="dash"/>
          </a:ln>
        </p:spPr>
      </p:sp>
      <p:sp>
        <p:nvSpPr>
          <p:cNvPr id="8" name="Shape 6"/>
          <p:cNvSpPr/>
          <p:nvPr/>
        </p:nvSpPr>
        <p:spPr>
          <a:xfrm>
            <a:off x="6172200" y="1874520"/>
            <a:ext cx="1828800" cy="1828800"/>
          </a:xfrm>
          <a:prstGeom prst="ellipse">
            <a:avLst/>
          </a:prstGeom>
          <a:solidFill>
            <a:srgbClr val="12335F"/>
          </a:solidFill>
          <a:ln/>
        </p:spPr>
      </p:sp>
      <p:sp>
        <p:nvSpPr>
          <p:cNvPr id="9" name="Shape 7"/>
          <p:cNvSpPr/>
          <p:nvPr/>
        </p:nvSpPr>
        <p:spPr>
          <a:xfrm>
            <a:off x="6583680" y="2286000"/>
            <a:ext cx="1005840" cy="1005840"/>
          </a:xfrm>
          <a:prstGeom prst="ellipse">
            <a:avLst/>
          </a:prstGeom>
          <a:solidFill>
            <a:srgbClr val="2F6DB5"/>
          </a:solidFill>
          <a:ln/>
        </p:spPr>
      </p:sp>
      <p:pic>
        <p:nvPicPr>
          <p:cNvPr id="10" name="Image 0" descr="preencoded.png">    </p:cNvPr>
          <p:cNvPicPr>
            <a:picLocks noChangeAspect="1"/>
          </p:cNvPicPr>
          <p:nvPr/>
        </p:nvPicPr>
        <p:blipFill>
          <a:blip r:embed="rId1"/>
          <a:stretch>
            <a:fillRect/>
          </a:stretch>
        </p:blipFill>
        <p:spPr>
          <a:xfrm>
            <a:off x="6825082" y="2527402"/>
            <a:ext cx="523037" cy="523037"/>
          </a:xfrm>
          <a:prstGeom prst="rect">
            <a:avLst/>
          </a:prstGeom>
        </p:spPr>
      </p:pic>
      <p:sp>
        <p:nvSpPr>
          <p:cNvPr id="11" name="Shape 8"/>
          <p:cNvSpPr/>
          <p:nvPr/>
        </p:nvSpPr>
        <p:spPr>
          <a:xfrm>
            <a:off x="6821424" y="1197864"/>
            <a:ext cx="530352" cy="530352"/>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6948708" y="1325148"/>
            <a:ext cx="275783" cy="275783"/>
          </a:xfrm>
          <a:prstGeom prst="rect">
            <a:avLst/>
          </a:prstGeom>
        </p:spPr>
      </p:pic>
      <p:sp>
        <p:nvSpPr>
          <p:cNvPr id="13" name="Shape 9"/>
          <p:cNvSpPr/>
          <p:nvPr/>
        </p:nvSpPr>
        <p:spPr>
          <a:xfrm>
            <a:off x="7969670" y="1860804"/>
            <a:ext cx="530352" cy="530352"/>
          </a:xfrm>
          <a:prstGeom prst="ellipse">
            <a:avLst/>
          </a:prstGeom>
          <a:solidFill>
            <a:srgbClr val="FFFFFF"/>
          </a:solidFill>
          <a:ln/>
        </p:spPr>
      </p:sp>
      <p:pic>
        <p:nvPicPr>
          <p:cNvPr id="14" name="Image 2" descr="preencoded.png">    </p:cNvPr>
          <p:cNvPicPr>
            <a:picLocks noChangeAspect="1"/>
          </p:cNvPicPr>
          <p:nvPr/>
        </p:nvPicPr>
        <p:blipFill>
          <a:blip r:embed="rId3"/>
          <a:stretch>
            <a:fillRect/>
          </a:stretch>
        </p:blipFill>
        <p:spPr>
          <a:xfrm>
            <a:off x="8096954" y="1988088"/>
            <a:ext cx="275783" cy="275783"/>
          </a:xfrm>
          <a:prstGeom prst="rect">
            <a:avLst/>
          </a:prstGeom>
        </p:spPr>
      </p:pic>
      <p:sp>
        <p:nvSpPr>
          <p:cNvPr id="15" name="Shape 10"/>
          <p:cNvSpPr/>
          <p:nvPr/>
        </p:nvSpPr>
        <p:spPr>
          <a:xfrm>
            <a:off x="7969670" y="3186684"/>
            <a:ext cx="530352" cy="530352"/>
          </a:xfrm>
          <a:prstGeom prst="ellipse">
            <a:avLst/>
          </a:prstGeom>
          <a:solidFill>
            <a:srgbClr val="FFFFFF"/>
          </a:solidFill>
          <a:ln/>
        </p:spPr>
      </p:sp>
      <p:pic>
        <p:nvPicPr>
          <p:cNvPr id="16" name="Image 3" descr="preencoded.png">    </p:cNvPr>
          <p:cNvPicPr>
            <a:picLocks noChangeAspect="1"/>
          </p:cNvPicPr>
          <p:nvPr/>
        </p:nvPicPr>
        <p:blipFill>
          <a:blip r:embed="rId4"/>
          <a:stretch>
            <a:fillRect/>
          </a:stretch>
        </p:blipFill>
        <p:spPr>
          <a:xfrm>
            <a:off x="8096954" y="3313968"/>
            <a:ext cx="275783" cy="275783"/>
          </a:xfrm>
          <a:prstGeom prst="rect">
            <a:avLst/>
          </a:prstGeom>
        </p:spPr>
      </p:pic>
      <p:sp>
        <p:nvSpPr>
          <p:cNvPr id="17" name="Shape 11"/>
          <p:cNvSpPr/>
          <p:nvPr/>
        </p:nvSpPr>
        <p:spPr>
          <a:xfrm>
            <a:off x="6821424" y="3849624"/>
            <a:ext cx="530352" cy="530352"/>
          </a:xfrm>
          <a:prstGeom prst="ellipse">
            <a:avLst/>
          </a:prstGeom>
          <a:solidFill>
            <a:srgbClr val="FFFFFF"/>
          </a:solidFill>
          <a:ln/>
        </p:spPr>
      </p:sp>
      <p:pic>
        <p:nvPicPr>
          <p:cNvPr id="18" name="Image 4" descr="preencoded.png">    </p:cNvPr>
          <p:cNvPicPr>
            <a:picLocks noChangeAspect="1"/>
          </p:cNvPicPr>
          <p:nvPr/>
        </p:nvPicPr>
        <p:blipFill>
          <a:blip r:embed="rId5"/>
          <a:stretch>
            <a:fillRect/>
          </a:stretch>
        </p:blipFill>
        <p:spPr>
          <a:xfrm>
            <a:off x="6948708" y="3976908"/>
            <a:ext cx="275783" cy="275783"/>
          </a:xfrm>
          <a:prstGeom prst="rect">
            <a:avLst/>
          </a:prstGeom>
        </p:spPr>
      </p:pic>
      <p:sp>
        <p:nvSpPr>
          <p:cNvPr id="19" name="Shape 12"/>
          <p:cNvSpPr/>
          <p:nvPr/>
        </p:nvSpPr>
        <p:spPr>
          <a:xfrm>
            <a:off x="5673178" y="3186684"/>
            <a:ext cx="530352" cy="530352"/>
          </a:xfrm>
          <a:prstGeom prst="ellipse">
            <a:avLst/>
          </a:prstGeom>
          <a:solidFill>
            <a:srgbClr val="FFFFFF"/>
          </a:solidFill>
          <a:ln/>
        </p:spPr>
      </p:sp>
      <p:pic>
        <p:nvPicPr>
          <p:cNvPr id="20" name="Image 5" descr="preencoded.png">    </p:cNvPr>
          <p:cNvPicPr>
            <a:picLocks noChangeAspect="1"/>
          </p:cNvPicPr>
          <p:nvPr/>
        </p:nvPicPr>
        <p:blipFill>
          <a:blip r:embed="rId6"/>
          <a:stretch>
            <a:fillRect/>
          </a:stretch>
        </p:blipFill>
        <p:spPr>
          <a:xfrm>
            <a:off x="5800463" y="3313968"/>
            <a:ext cx="275783" cy="275783"/>
          </a:xfrm>
          <a:prstGeom prst="rect">
            <a:avLst/>
          </a:prstGeom>
        </p:spPr>
      </p:pic>
      <p:sp>
        <p:nvSpPr>
          <p:cNvPr id="21" name="Shape 13"/>
          <p:cNvSpPr/>
          <p:nvPr/>
        </p:nvSpPr>
        <p:spPr>
          <a:xfrm>
            <a:off x="5673178" y="1860804"/>
            <a:ext cx="530352" cy="530352"/>
          </a:xfrm>
          <a:prstGeom prst="ellipse">
            <a:avLst/>
          </a:prstGeom>
          <a:solidFill>
            <a:srgbClr val="FFFFFF"/>
          </a:solidFill>
          <a:ln/>
        </p:spPr>
      </p:sp>
      <p:pic>
        <p:nvPicPr>
          <p:cNvPr id="22" name="Image 6" descr="preencoded.png">    </p:cNvPr>
          <p:cNvPicPr>
            <a:picLocks noChangeAspect="1"/>
          </p:cNvPicPr>
          <p:nvPr/>
        </p:nvPicPr>
        <p:blipFill>
          <a:blip r:embed="rId7"/>
          <a:stretch>
            <a:fillRect/>
          </a:stretch>
        </p:blipFill>
        <p:spPr>
          <a:xfrm>
            <a:off x="5800463" y="1988088"/>
            <a:ext cx="275783" cy="275783"/>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155180" y="219456"/>
            <a:ext cx="1531620" cy="274320"/>
          </a:xfrm>
          <a:prstGeom prst="roundRect">
            <a:avLst>
              <a:gd name="adj" fmla="val 50000"/>
            </a:avLst>
          </a:prstGeom>
          <a:solidFill>
            <a:srgbClr val="13478F"/>
          </a:solidFill>
          <a:ln/>
        </p:spPr>
      </p:sp>
      <p:sp>
        <p:nvSpPr>
          <p:cNvPr id="3" name="Text 1"/>
          <p:cNvSpPr txBox="1"/>
          <p:nvPr/>
        </p:nvSpPr>
        <p:spPr>
          <a:xfrm>
            <a:off x="7155180" y="219456"/>
            <a:ext cx="15316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PROJECT ABSTRACT</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Abstract</a:t>
            </a:r>
            <a:endParaRPr lang="en-US" sz="2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
        <p:nvSpPr>
          <p:cNvPr id="20" name="Info strip"/>
          <p:cNvSpPr/>
          <p:nvPr/>
        </p:nvSpPr>
        <p:spPr>
          <a:xfrm>
            <a:off x="457200" y="1115568"/>
            <a:ext cx="8229600" cy="274320"/>
          </a:xfrm>
          <a:prstGeom prst="roundRect">
            <a:avLst>
              <a:gd name="adj" fmla="val 6000"/>
            </a:avLst>
          </a:prstGeom>
          <a:solidFill>
            <a:srgbClr val="E8EEF8"/>
          </a:solidFill>
          <a:ln>
            <a:noFill/>
          </a:ln>
        </p:spPr>
        <p:txBody>
          <a:bodyPr wrap="square" lIns="91440" tIns="91440" rIns="91440" bIns="91440" rtlCol="0" anchor="ctr">
            <a:normAutofit/>
          </a:bodyPr>
          <a:lstStyle/>
          <a:p>
            <a:pPr algn="l" indent="0" marL="0">
              <a:spcAft>
                <a:spcPts val="0"/>
              </a:spcAft>
              <a:buNone/>
            </a:pPr>
            <a:r>
              <a:rPr lang="en-US" sz="1000" dirty="0">
                <a:solidFill>
                  <a:srgbClr val="1F2937"/>
                </a:solidFill>
                <a:latin typeface="Calibri"/>
                <a:ea typeface="Calibri"/>
                <a:cs typeface="Calibri"/>
              </a:rPr>
              <a:t>Sec No: 13   |   Team No: 2   |   Project Title: </a:t>
            </a:r>
            <a:r>
              <a:rPr lang="en-US" sz="1000" b="1" dirty="0">
                <a:solidFill>
                  <a:srgbClr val="13478F"/>
                </a:solidFill>
                <a:latin typeface="Calibri"/>
                <a:ea typeface="Calibri"/>
                <a:cs typeface="Calibri"/>
              </a:rPr>
              <a:t>Smart Hostel Management System</a:t>
            </a:r>
            <a:r>
              <a:rPr lang="en-US" sz="1000" dirty="0">
                <a:solidFill>
                  <a:srgbClr val="6B7280"/>
                </a:solidFill>
                <a:latin typeface="Calibri"/>
                <a:ea typeface="Calibri"/>
                <a:cs typeface="Calibri"/>
              </a:rPr>
              <a:t>   |   Y25 · 2026-27 · Trimester 4</a:t>
            </a:r>
          </a:p>
        </p:txBody>
      </p:sp>
      <p:sp>
        <p:nvSpPr>
          <p:cNvPr id="21" name="Abstract card"/>
          <p:cNvSpPr/>
          <p:nvPr/>
        </p:nvSpPr>
        <p:spPr>
          <a:xfrm>
            <a:off x="457200" y="1481328"/>
            <a:ext cx="8229600" cy="3200400"/>
          </a:xfrm>
          <a:prstGeom prst="roundRect">
            <a:avLst>
              <a:gd name="adj" fmla="val 6000"/>
            </a:avLst>
          </a:prstGeom>
          <a:solidFill>
            <a:srgbClr val="F2F4F8"/>
          </a:solidFill>
          <a:ln>
            <a:noFill/>
          </a:ln>
        </p:spPr>
        <p:txBody>
          <a:bodyPr wrap="square" lIns="228600" tIns="137160" rIns="228600" bIns="137160" rtlCol="0" anchor="t">
            <a:normAutofit/>
          </a:bodyPr>
          <a:lstStyle/>
          <a:p>
            <a:pPr algn="l" indent="0" marL="0">
              <a:spcAft>
                <a:spcPts val="300"/>
              </a:spcAft>
              <a:buNone/>
            </a:pPr>
            <a:r>
              <a:rPr lang="en-US" sz="1200" b="1" dirty="0">
                <a:solidFill>
                  <a:srgbClr val="13478F"/>
                </a:solidFill>
                <a:latin typeface="Cambria"/>
                <a:ea typeface="Cambria"/>
                <a:cs typeface="Cambria"/>
              </a:rPr>
              <a:t>Abstract</a:t>
            </a:r>
          </a:p>
          <a:p>
            <a:pPr algn="l" indent="0" marL="0">
              <a:lnSpc>
                <a:spcPct val="100000"/>
              </a:lnSpc>
              <a:spcAft>
                <a:spcPts val="400"/>
              </a:spcAft>
              <a:buNone/>
            </a:pPr>
            <a:r>
              <a:rPr lang="en-US" sz="1250" dirty="0">
                <a:solidFill>
                  <a:srgbClr val="1F2937"/>
                </a:solidFill>
                <a:latin typeface="Calibri"/>
                <a:ea typeface="Calibri"/>
                <a:cs typeface="Calibri"/>
              </a:rPr>
              <a:t>The Smart Hostel Management System is a database-based application designed to manage hostel activities in an organized, efficient, and reliable manner. In many hostels, student information, room allocation, fee details, complaints, and other records may be maintained manually. Managing these records manually can result in data duplication, errors, difficulty in finding information, and delays in updating records.</a:t>
            </a:r>
          </a:p>
          <a:p>
            <a:pPr algn="l" indent="0" marL="0">
              <a:lnSpc>
                <a:spcPct val="100000"/>
              </a:lnSpc>
              <a:spcAft>
                <a:spcPts val="400"/>
              </a:spcAft>
              <a:buNone/>
            </a:pPr>
            <a:r>
              <a:rPr lang="en-US" sz="1250" dirty="0">
                <a:solidFill>
                  <a:srgbClr val="1F2937"/>
                </a:solidFill>
                <a:latin typeface="Calibri"/>
                <a:ea typeface="Calibri"/>
                <a:cs typeface="Calibri"/>
              </a:rPr>
              <a:t>The proposed system provides a centralized platform for storing and managing hostel-related information. It maintains student details, room information, room allocation, fee payment records, complaints, and other important hostel records in a structured database. Authorized users can add, update, delete, and retrieve information whenever required. The system can also help administrators check room availability and maintain accurate records of students and hostel facilities.</a:t>
            </a:r>
          </a:p>
          <a:p>
            <a:pPr algn="l" indent="0" marL="0">
              <a:lnSpc>
                <a:spcPct val="100000"/>
              </a:lnSpc>
              <a:spcAft>
                <a:spcPts val="400"/>
              </a:spcAft>
              <a:buNone/>
            </a:pPr>
            <a:r>
              <a:rPr lang="en-US" sz="1250" dirty="0">
                <a:solidFill>
                  <a:srgbClr val="1F2937"/>
                </a:solidFill>
                <a:latin typeface="Calibri"/>
                <a:ea typeface="Calibri"/>
                <a:cs typeface="Calibri"/>
              </a:rPr>
              <a:t>The main objective of the project is to simplify hostel administration and reduce manual effort. By using a centralized database, the system improves data consistency, reduces redundancy, and enables faster information retrieval.</a:t>
            </a:r>
          </a:p>
          <a:p>
            <a:pPr algn="l" indent="0" marL="0">
              <a:lnSpc>
                <a:spcPct val="100000"/>
              </a:lnSpc>
              <a:spcAft>
                <a:spcPts val="400"/>
              </a:spcAft>
              <a:buNone/>
            </a:pPr>
            <a:r>
              <a:rPr lang="en-US" sz="1250" dirty="0">
                <a:solidFill>
                  <a:srgbClr val="1F2937"/>
                </a:solidFill>
                <a:latin typeface="Calibri"/>
                <a:ea typeface="Calibri"/>
                <a:cs typeface="Calibri"/>
              </a:rPr>
              <a:t>Overall, the Smart Hostel Management System aims to provide a simple, secure, and efficient solution for managing day-to-day hostel operations, improving the accuracy of hostel records and saving administrative time.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989320" y="219456"/>
            <a:ext cx="2697480" cy="274320"/>
          </a:xfrm>
          <a:prstGeom prst="roundRect">
            <a:avLst>
              <a:gd name="adj" fmla="val 50000"/>
            </a:avLst>
          </a:prstGeom>
          <a:solidFill>
            <a:srgbClr val="B45309"/>
          </a:solidFill>
          <a:ln/>
        </p:spPr>
      </p:sp>
      <p:sp>
        <p:nvSpPr>
          <p:cNvPr id="3" name="Text 1"/>
          <p:cNvSpPr txBox="1"/>
          <p:nvPr/>
        </p:nvSpPr>
        <p:spPr>
          <a:xfrm>
            <a:off x="5989320" y="219456"/>
            <a:ext cx="2697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EXPECTED — NOT YET IMPLEMENTED</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Screenshots / Working Demo</a:t>
            </a:r>
            <a:endParaRPr lang="en-US" sz="2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24</a:t>
            </a:fld>
            <a:endParaRPr lang="en-US"/>
          </a:p>
        </p:txBody>
      </p:sp>
      <p:sp>
        <p:nvSpPr>
          <p:cNvPr id="20" name="Screenshot frame 1"/>
          <p:cNvSpPr/>
          <p:nvPr/>
        </p:nvSpPr>
        <p:spPr>
          <a:xfrm>
            <a:off x="457200" y="1234440"/>
            <a:ext cx="4023360" cy="2514600"/>
          </a:xfrm>
          <a:prstGeom prst="roundRect">
            <a:avLst>
              <a:gd name="adj" fmla="val 6000"/>
            </a:avLst>
          </a:prstGeom>
          <a:solidFill>
            <a:srgbClr val="F7F9FC"/>
          </a:solidFill>
          <a:ln w="15875">
            <a:solidFill>
              <a:srgbClr val="9AA9C2"/>
            </a:solidFill>
            <a:prstDash val="dash"/>
          </a:ln>
        </p:spPr>
        <p:txBody>
          <a:bodyPr wrap="square" lIns="137160" tIns="137160" rIns="137160" bIns="137160" rtlCol="0" anchor="ctr">
            <a:normAutofit/>
          </a:bodyPr>
          <a:lstStyle/>
          <a:p>
            <a:pPr algn="ctr" indent="0" marL="0">
              <a:spcAft>
                <a:spcPts val="400"/>
              </a:spcAft>
              <a:buNone/>
            </a:pPr>
            <a:r>
              <a:rPr lang="en-US" sz="1400" b="1" dirty="0">
                <a:solidFill>
                  <a:srgbClr val="0B2545"/>
                </a:solidFill>
                <a:latin typeface="Cambria"/>
                <a:ea typeface="Cambria"/>
                <a:cs typeface="Cambria"/>
              </a:rPr>
              <a:t>Screenshot 1: Admin Dashboard</a:t>
            </a:r>
          </a:p>
          <a:p>
            <a:pPr algn="ctr" indent="0" marL="0">
              <a:spcAft>
                <a:spcPts val="0"/>
              </a:spcAft>
              <a:buNone/>
            </a:pPr>
            <a:r>
              <a:rPr lang="en-US" sz="1100" i="1" dirty="0">
                <a:solidFill>
                  <a:srgbClr val="6B7280"/>
                </a:solidFill>
                <a:latin typeface="Calibri"/>
                <a:ea typeface="Calibri"/>
                <a:cs typeface="Calibri"/>
              </a:rPr>
              <a:t>(to be added after implementation)</a:t>
            </a:r>
          </a:p>
        </p:txBody>
      </p:sp>
      <p:sp>
        <p:nvSpPr>
          <p:cNvPr id="21" name="Screenshot frame 2"/>
          <p:cNvSpPr/>
          <p:nvPr/>
        </p:nvSpPr>
        <p:spPr>
          <a:xfrm>
            <a:off x="4663440" y="1234440"/>
            <a:ext cx="4023360" cy="2514600"/>
          </a:xfrm>
          <a:prstGeom prst="roundRect">
            <a:avLst>
              <a:gd name="adj" fmla="val 6000"/>
            </a:avLst>
          </a:prstGeom>
          <a:solidFill>
            <a:srgbClr val="F7F9FC"/>
          </a:solidFill>
          <a:ln w="15875">
            <a:solidFill>
              <a:srgbClr val="9AA9C2"/>
            </a:solidFill>
            <a:prstDash val="dash"/>
          </a:ln>
        </p:spPr>
        <p:txBody>
          <a:bodyPr wrap="square" lIns="137160" tIns="137160" rIns="137160" bIns="137160" rtlCol="0" anchor="ctr">
            <a:normAutofit/>
          </a:bodyPr>
          <a:lstStyle/>
          <a:p>
            <a:pPr algn="ctr" indent="0" marL="0">
              <a:spcAft>
                <a:spcPts val="400"/>
              </a:spcAft>
              <a:buNone/>
            </a:pPr>
            <a:r>
              <a:rPr lang="en-US" sz="1400" b="1" dirty="0">
                <a:solidFill>
                  <a:srgbClr val="0B2545"/>
                </a:solidFill>
                <a:latin typeface="Cambria"/>
                <a:ea typeface="Cambria"/>
                <a:cs typeface="Cambria"/>
              </a:rPr>
              <a:t>Screenshot 2: Room Allocation</a:t>
            </a:r>
          </a:p>
          <a:p>
            <a:pPr algn="ctr" indent="0" marL="0">
              <a:spcAft>
                <a:spcPts val="0"/>
              </a:spcAft>
              <a:buNone/>
            </a:pPr>
            <a:r>
              <a:rPr lang="en-US" sz="1100" i="1" dirty="0">
                <a:solidFill>
                  <a:srgbClr val="6B7280"/>
                </a:solidFill>
                <a:latin typeface="Calibri"/>
                <a:ea typeface="Calibri"/>
                <a:cs typeface="Calibri"/>
              </a:rPr>
              <a:t>(to be added after implementation)</a:t>
            </a:r>
          </a:p>
        </p:txBody>
      </p:sp>
      <p:sp>
        <p:nvSpPr>
          <p:cNvPr id="22" name="Demo note"/>
          <p:cNvSpPr/>
          <p:nvPr/>
        </p:nvSpPr>
        <p:spPr>
          <a:xfrm>
            <a:off x="457200" y="3931920"/>
            <a:ext cx="8229600" cy="548640"/>
          </a:xfrm>
          <a:prstGeom prst="roundRect">
            <a:avLst>
              <a:gd name="adj" fmla="val 6000"/>
            </a:avLst>
          </a:prstGeom>
          <a:solidFill>
            <a:srgbClr val="FFF6E5"/>
          </a:solidFill>
          <a:ln w="15875">
            <a:solidFill>
              <a:srgbClr val="D9A441"/>
            </a:solidFill>
            <a:prstDash val="dash"/>
          </a:ln>
        </p:spPr>
        <p:txBody>
          <a:bodyPr wrap="square" lIns="109728" tIns="109728" rIns="109728" bIns="109728" rtlCol="0" anchor="ctr">
            <a:normAutofit/>
          </a:bodyPr>
          <a:lstStyle/>
          <a:p>
            <a:pPr algn="ctr" indent="0" marL="0">
              <a:spcAft>
                <a:spcPts val="0"/>
              </a:spcAft>
              <a:buNone/>
            </a:pPr>
            <a:r>
              <a:rPr lang="en-US" sz="1100" b="1" dirty="0">
                <a:solidFill>
                  <a:srgbClr val="8A5A00"/>
                </a:solidFill>
                <a:latin typeface="Calibri"/>
                <a:ea typeface="Calibri"/>
                <a:cs typeface="Calibri"/>
              </a:rPr>
              <a:t>No working demo exists yet. </a:t>
            </a:r>
            <a:r>
              <a:rPr lang="en-US" sz="1100" dirty="0">
                <a:solidFill>
                  <a:srgbClr val="8A5A00"/>
                </a:solidFill>
                <a:latin typeface="Calibri"/>
                <a:ea typeface="Calibri"/>
                <a:cs typeface="Calibri"/>
              </a:rPr>
              <a:t>Screenshots and the live demo (GitHub repository) will be added once the modules are implemented and tested.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1112" y="219456"/>
            <a:ext cx="2075688" cy="274320"/>
          </a:xfrm>
          <a:prstGeom prst="roundRect">
            <a:avLst>
              <a:gd name="adj" fmla="val 50000"/>
            </a:avLst>
          </a:prstGeom>
          <a:solidFill>
            <a:srgbClr val="B3261E"/>
          </a:solidFill>
          <a:ln/>
        </p:spPr>
      </p:sp>
      <p:sp>
        <p:nvSpPr>
          <p:cNvPr id="3" name="Text 1"/>
          <p:cNvSpPr txBox="1"/>
          <p:nvPr/>
        </p:nvSpPr>
        <p:spPr>
          <a:xfrm>
            <a:off x="6611112" y="219456"/>
            <a:ext cx="207568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ANTICIPATED</a:t>
            </a:r>
            <a:endParaRPr lang="en-US" sz="1000" dirty="0"/>
          </a:p>
        </p:txBody>
      </p:sp>
      <p:sp>
        <p:nvSpPr>
          <p:cNvPr id="4" name="Text 2"/>
          <p:cNvSpPr txBox="1"/>
          <p:nvPr/>
        </p:nvSpPr>
        <p:spPr>
          <a:xfrm>
            <a:off x="457200" y="731520"/>
            <a:ext cx="8229600" cy="457200"/>
          </a:xfrm>
          <a:prstGeom prst="rect">
            <a:avLst/>
          </a:prstGeom>
          <a:noFill/>
          <a:ln/>
        </p:spPr>
        <p:txBody>
          <a:bodyPr wrap="square" lIns="0" tIns="0" rIns="0" bIns="0" rtlCol="0" anchor="ctr"/>
          <a:lstStyle/>
          <a:p>
            <a:pPr indent="0" marL="0">
              <a:buNone/>
            </a:pPr>
            <a:r>
              <a:rPr lang="en-US" sz="2600" b="1" dirty="0">
                <a:solidFill>
                  <a:srgbClr val="0B2545"/>
                </a:solidFill>
                <a:latin typeface="Cambria" pitchFamily="34" charset="0"/>
                <a:ea typeface="Cambria" pitchFamily="34" charset="-122"/>
                <a:cs typeface="Cambria" pitchFamily="34" charset="-120"/>
              </a:rPr>
              <a:t>Challenges &amp; Solutions</a:t>
            </a:r>
            <a:endParaRPr lang="en-US" sz="2600" dirty="0"/>
          </a:p>
        </p:txBody>
      </p:sp>
      <p:sp>
        <p:nvSpPr>
          <p:cNvPr id="5" name="Shape 3"/>
          <p:cNvSpPr/>
          <p:nvPr/>
        </p:nvSpPr>
        <p:spPr>
          <a:xfrm>
            <a:off x="457200" y="128016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6" name="Shape 4"/>
          <p:cNvSpPr/>
          <p:nvPr/>
        </p:nvSpPr>
        <p:spPr>
          <a:xfrm>
            <a:off x="594360" y="1417320"/>
            <a:ext cx="457200" cy="457200"/>
          </a:xfrm>
          <a:prstGeom prst="ellipse">
            <a:avLst/>
          </a:prstGeom>
          <a:solidFill>
            <a:srgbClr val="B3261E"/>
          </a:solidFill>
          <a:ln/>
        </p:spPr>
      </p:sp>
      <p:pic>
        <p:nvPicPr>
          <p:cNvPr id="7" name="Image 0" descr="preencoded.png">    </p:cNvPr>
          <p:cNvPicPr>
            <a:picLocks noChangeAspect="1"/>
          </p:cNvPicPr>
          <p:nvPr/>
        </p:nvPicPr>
        <p:blipFill>
          <a:blip r:embed="rId1"/>
          <a:stretch>
            <a:fillRect/>
          </a:stretch>
        </p:blipFill>
        <p:spPr>
          <a:xfrm>
            <a:off x="704088" y="1527048"/>
            <a:ext cx="237744" cy="237744"/>
          </a:xfrm>
          <a:prstGeom prst="rect">
            <a:avLst/>
          </a:prstGeom>
        </p:spPr>
      </p:pic>
      <p:sp>
        <p:nvSpPr>
          <p:cNvPr id="8" name="Text 5"/>
          <p:cNvSpPr txBox="1"/>
          <p:nvPr/>
        </p:nvSpPr>
        <p:spPr>
          <a:xfrm>
            <a:off x="594360" y="199339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Data redundancy</a:t>
            </a:r>
            <a:pPr indent="0" marL="0">
              <a:buNone/>
            </a:pPr>
            <a:r>
              <a:rPr lang="en-US" sz="1200" dirty="0">
                <a:solidFill>
                  <a:srgbClr val="1F2937"/>
                </a:solidFill>
                <a:latin typeface="Calibri" pitchFamily="34" charset="0"/>
                <a:ea typeface="Calibri" pitchFamily="34" charset="-122"/>
                <a:cs typeface="Calibri" pitchFamily="34" charset="-120"/>
              </a:rPr>
              <a:t> – fixed by normalization (1NF–3NF)</a:t>
            </a:r>
            <a:endParaRPr lang="en-US" sz="1200" dirty="0"/>
          </a:p>
        </p:txBody>
      </p:sp>
      <p:sp>
        <p:nvSpPr>
          <p:cNvPr id="9" name="Shape 6"/>
          <p:cNvSpPr/>
          <p:nvPr/>
        </p:nvSpPr>
        <p:spPr>
          <a:xfrm>
            <a:off x="2560320" y="128016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10" name="Shape 7"/>
          <p:cNvSpPr/>
          <p:nvPr/>
        </p:nvSpPr>
        <p:spPr>
          <a:xfrm>
            <a:off x="2697480" y="1417320"/>
            <a:ext cx="457200" cy="457200"/>
          </a:xfrm>
          <a:prstGeom prst="ellipse">
            <a:avLst/>
          </a:prstGeom>
          <a:solidFill>
            <a:srgbClr val="B3261E"/>
          </a:solidFill>
          <a:ln/>
        </p:spPr>
      </p:sp>
      <p:pic>
        <p:nvPicPr>
          <p:cNvPr id="11" name="Image 1" descr="preencoded.png">    </p:cNvPr>
          <p:cNvPicPr>
            <a:picLocks noChangeAspect="1"/>
          </p:cNvPicPr>
          <p:nvPr/>
        </p:nvPicPr>
        <p:blipFill>
          <a:blip r:embed="rId2"/>
          <a:stretch>
            <a:fillRect/>
          </a:stretch>
        </p:blipFill>
        <p:spPr>
          <a:xfrm>
            <a:off x="2807208" y="1527048"/>
            <a:ext cx="237744" cy="237744"/>
          </a:xfrm>
          <a:prstGeom prst="rect">
            <a:avLst/>
          </a:prstGeom>
        </p:spPr>
      </p:pic>
      <p:sp>
        <p:nvSpPr>
          <p:cNvPr id="12" name="Text 8"/>
          <p:cNvSpPr txBox="1"/>
          <p:nvPr/>
        </p:nvSpPr>
        <p:spPr>
          <a:xfrm>
            <a:off x="2697480" y="199339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Linking records</a:t>
            </a:r>
            <a:pPr indent="0" marL="0">
              <a:buNone/>
            </a:pPr>
            <a:r>
              <a:rPr lang="en-US" sz="1200" dirty="0">
                <a:solidFill>
                  <a:srgbClr val="1F2937"/>
                </a:solidFill>
                <a:latin typeface="Calibri" pitchFamily="34" charset="0"/>
                <a:ea typeface="Calibri" pitchFamily="34" charset="-122"/>
                <a:cs typeface="Calibri" pitchFamily="34" charset="-120"/>
              </a:rPr>
              <a:t> – solved with primary and foreign keys</a:t>
            </a:r>
            <a:endParaRPr lang="en-US" sz="1200" dirty="0"/>
          </a:p>
        </p:txBody>
      </p:sp>
      <p:sp>
        <p:nvSpPr>
          <p:cNvPr id="13" name="Shape 9"/>
          <p:cNvSpPr/>
          <p:nvPr/>
        </p:nvSpPr>
        <p:spPr>
          <a:xfrm>
            <a:off x="4663440" y="128016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14" name="Shape 10"/>
          <p:cNvSpPr/>
          <p:nvPr/>
        </p:nvSpPr>
        <p:spPr>
          <a:xfrm>
            <a:off x="4800600" y="1417320"/>
            <a:ext cx="457200" cy="457200"/>
          </a:xfrm>
          <a:prstGeom prst="ellipse">
            <a:avLst/>
          </a:prstGeom>
          <a:solidFill>
            <a:srgbClr val="B3261E"/>
          </a:solidFill>
          <a:ln/>
        </p:spPr>
      </p:sp>
      <p:pic>
        <p:nvPicPr>
          <p:cNvPr id="15" name="Image 2" descr="preencoded.png">    </p:cNvPr>
          <p:cNvPicPr>
            <a:picLocks noChangeAspect="1"/>
          </p:cNvPicPr>
          <p:nvPr/>
        </p:nvPicPr>
        <p:blipFill>
          <a:blip r:embed="rId3"/>
          <a:stretch>
            <a:fillRect/>
          </a:stretch>
        </p:blipFill>
        <p:spPr>
          <a:xfrm>
            <a:off x="4910328" y="1527048"/>
            <a:ext cx="237744" cy="237744"/>
          </a:xfrm>
          <a:prstGeom prst="rect">
            <a:avLst/>
          </a:prstGeom>
        </p:spPr>
      </p:pic>
      <p:sp>
        <p:nvSpPr>
          <p:cNvPr id="16" name="Text 11"/>
          <p:cNvSpPr txBox="1"/>
          <p:nvPr/>
        </p:nvSpPr>
        <p:spPr>
          <a:xfrm>
            <a:off x="4800600" y="199339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Room overbooking</a:t>
            </a:r>
            <a:pPr indent="0" marL="0">
              <a:buNone/>
            </a:pPr>
            <a:r>
              <a:rPr lang="en-US" sz="1200" dirty="0">
                <a:solidFill>
                  <a:srgbClr val="1F2937"/>
                </a:solidFill>
                <a:latin typeface="Calibri" pitchFamily="34" charset="0"/>
                <a:ea typeface="Calibri" pitchFamily="34" charset="-122"/>
                <a:cs typeface="Calibri" pitchFamily="34" charset="-120"/>
              </a:rPr>
              <a:t> – prevented by capacity and occupancy checks</a:t>
            </a:r>
            <a:endParaRPr lang="en-US" sz="1200" dirty="0"/>
          </a:p>
        </p:txBody>
      </p:sp>
      <p:sp>
        <p:nvSpPr>
          <p:cNvPr id="17" name="Shape 12"/>
          <p:cNvSpPr/>
          <p:nvPr/>
        </p:nvSpPr>
        <p:spPr>
          <a:xfrm>
            <a:off x="6766560" y="128016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18" name="Shape 13"/>
          <p:cNvSpPr/>
          <p:nvPr/>
        </p:nvSpPr>
        <p:spPr>
          <a:xfrm>
            <a:off x="6903720" y="1417320"/>
            <a:ext cx="457200" cy="457200"/>
          </a:xfrm>
          <a:prstGeom prst="ellipse">
            <a:avLst/>
          </a:prstGeom>
          <a:solidFill>
            <a:srgbClr val="B3261E"/>
          </a:solidFill>
          <a:ln/>
        </p:spPr>
      </p:sp>
      <p:pic>
        <p:nvPicPr>
          <p:cNvPr id="19" name="Image 3" descr="preencoded.png">    </p:cNvPr>
          <p:cNvPicPr>
            <a:picLocks noChangeAspect="1"/>
          </p:cNvPicPr>
          <p:nvPr/>
        </p:nvPicPr>
        <p:blipFill>
          <a:blip r:embed="rId4"/>
          <a:stretch>
            <a:fillRect/>
          </a:stretch>
        </p:blipFill>
        <p:spPr>
          <a:xfrm>
            <a:off x="7013448" y="1527048"/>
            <a:ext cx="237744" cy="237744"/>
          </a:xfrm>
          <a:prstGeom prst="rect">
            <a:avLst/>
          </a:prstGeom>
        </p:spPr>
      </p:pic>
      <p:sp>
        <p:nvSpPr>
          <p:cNvPr id="20" name="Text 14"/>
          <p:cNvSpPr txBox="1"/>
          <p:nvPr/>
        </p:nvSpPr>
        <p:spPr>
          <a:xfrm>
            <a:off x="6903720" y="199339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Unauthorized access</a:t>
            </a:r>
            <a:pPr indent="0" marL="0">
              <a:buNone/>
            </a:pPr>
            <a:r>
              <a:rPr lang="en-US" sz="1200" dirty="0">
                <a:solidFill>
                  <a:srgbClr val="1F2937"/>
                </a:solidFill>
                <a:latin typeface="Calibri" pitchFamily="34" charset="0"/>
                <a:ea typeface="Calibri" pitchFamily="34" charset="-122"/>
                <a:cs typeface="Calibri" pitchFamily="34" charset="-120"/>
              </a:rPr>
              <a:t> – login and role-based access</a:t>
            </a:r>
            <a:endParaRPr lang="en-US" sz="1200" dirty="0"/>
          </a:p>
        </p:txBody>
      </p:sp>
      <p:sp>
        <p:nvSpPr>
          <p:cNvPr id="21" name="Shape 15"/>
          <p:cNvSpPr/>
          <p:nvPr/>
        </p:nvSpPr>
        <p:spPr>
          <a:xfrm>
            <a:off x="457200" y="274320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22" name="Shape 16"/>
          <p:cNvSpPr/>
          <p:nvPr/>
        </p:nvSpPr>
        <p:spPr>
          <a:xfrm>
            <a:off x="594360" y="2880360"/>
            <a:ext cx="457200" cy="457200"/>
          </a:xfrm>
          <a:prstGeom prst="ellipse">
            <a:avLst/>
          </a:prstGeom>
          <a:solidFill>
            <a:srgbClr val="B3261E"/>
          </a:solidFill>
          <a:ln/>
        </p:spPr>
      </p:sp>
      <p:pic>
        <p:nvPicPr>
          <p:cNvPr id="23" name="Image 4" descr="preencoded.png">    </p:cNvPr>
          <p:cNvPicPr>
            <a:picLocks noChangeAspect="1"/>
          </p:cNvPicPr>
          <p:nvPr/>
        </p:nvPicPr>
        <p:blipFill>
          <a:blip r:embed="rId5"/>
          <a:stretch>
            <a:fillRect/>
          </a:stretch>
        </p:blipFill>
        <p:spPr>
          <a:xfrm>
            <a:off x="704088" y="2990088"/>
            <a:ext cx="237744" cy="237744"/>
          </a:xfrm>
          <a:prstGeom prst="rect">
            <a:avLst/>
          </a:prstGeom>
        </p:spPr>
      </p:pic>
      <p:sp>
        <p:nvSpPr>
          <p:cNvPr id="24" name="Text 17"/>
          <p:cNvSpPr txBox="1"/>
          <p:nvPr/>
        </p:nvSpPr>
        <p:spPr>
          <a:xfrm>
            <a:off x="594360" y="345643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Wrong or incomplete input</a:t>
            </a:r>
            <a:pPr indent="0" marL="0">
              <a:buNone/>
            </a:pPr>
            <a:r>
              <a:rPr lang="en-US" sz="1200" dirty="0">
                <a:solidFill>
                  <a:srgbClr val="1F2937"/>
                </a:solidFill>
                <a:latin typeface="Calibri" pitchFamily="34" charset="0"/>
                <a:ea typeface="Calibri" pitchFamily="34" charset="-122"/>
                <a:cs typeface="Calibri" pitchFamily="34" charset="-120"/>
              </a:rPr>
              <a:t> – frontend and backend validation</a:t>
            </a:r>
            <a:endParaRPr lang="en-US" sz="1200" dirty="0"/>
          </a:p>
        </p:txBody>
      </p:sp>
      <p:sp>
        <p:nvSpPr>
          <p:cNvPr id="25" name="Shape 18"/>
          <p:cNvSpPr/>
          <p:nvPr/>
        </p:nvSpPr>
        <p:spPr>
          <a:xfrm>
            <a:off x="2560320" y="274320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26" name="Shape 19"/>
          <p:cNvSpPr/>
          <p:nvPr/>
        </p:nvSpPr>
        <p:spPr>
          <a:xfrm>
            <a:off x="2697480" y="2880360"/>
            <a:ext cx="457200" cy="457200"/>
          </a:xfrm>
          <a:prstGeom prst="ellipse">
            <a:avLst/>
          </a:prstGeom>
          <a:solidFill>
            <a:srgbClr val="B3261E"/>
          </a:solidFill>
          <a:ln/>
        </p:spPr>
      </p:sp>
      <p:pic>
        <p:nvPicPr>
          <p:cNvPr id="27" name="Image 5" descr="preencoded.png">    </p:cNvPr>
          <p:cNvPicPr>
            <a:picLocks noChangeAspect="1"/>
          </p:cNvPicPr>
          <p:nvPr/>
        </p:nvPicPr>
        <p:blipFill>
          <a:blip r:embed="rId6"/>
          <a:stretch>
            <a:fillRect/>
          </a:stretch>
        </p:blipFill>
        <p:spPr>
          <a:xfrm>
            <a:off x="2807208" y="2990088"/>
            <a:ext cx="237744" cy="237744"/>
          </a:xfrm>
          <a:prstGeom prst="rect">
            <a:avLst/>
          </a:prstGeom>
        </p:spPr>
      </p:pic>
      <p:sp>
        <p:nvSpPr>
          <p:cNvPr id="28" name="Text 20"/>
          <p:cNvSpPr txBox="1"/>
          <p:nvPr/>
        </p:nvSpPr>
        <p:spPr>
          <a:xfrm>
            <a:off x="2697480" y="3456432"/>
            <a:ext cx="1664208" cy="56692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Parameterized queries stop </a:t>
            </a:r>
            <a:pPr indent="0" marL="0">
              <a:buNone/>
            </a:pPr>
            <a:r>
              <a:rPr lang="en-US" sz="1200" b="1" dirty="0">
                <a:solidFill>
                  <a:srgbClr val="B3261E"/>
                </a:solidFill>
                <a:latin typeface="Calibri" pitchFamily="34" charset="0"/>
                <a:ea typeface="Calibri" pitchFamily="34" charset="-122"/>
                <a:cs typeface="Calibri" pitchFamily="34" charset="-120"/>
              </a:rPr>
              <a:t>SQL injection</a:t>
            </a:r>
            <a:endParaRPr lang="en-US" sz="1200" dirty="0"/>
          </a:p>
        </p:txBody>
      </p:sp>
      <p:sp>
        <p:nvSpPr>
          <p:cNvPr id="29" name="Shape 21"/>
          <p:cNvSpPr/>
          <p:nvPr/>
        </p:nvSpPr>
        <p:spPr>
          <a:xfrm>
            <a:off x="4663440" y="274320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30" name="Shape 22"/>
          <p:cNvSpPr/>
          <p:nvPr/>
        </p:nvSpPr>
        <p:spPr>
          <a:xfrm>
            <a:off x="4800600" y="2880360"/>
            <a:ext cx="457200" cy="457200"/>
          </a:xfrm>
          <a:prstGeom prst="ellipse">
            <a:avLst/>
          </a:prstGeom>
          <a:solidFill>
            <a:srgbClr val="B3261E"/>
          </a:solidFill>
          <a:ln/>
        </p:spPr>
      </p:sp>
      <p:pic>
        <p:nvPicPr>
          <p:cNvPr id="31" name="Image 6" descr="preencoded.png">    </p:cNvPr>
          <p:cNvPicPr>
            <a:picLocks noChangeAspect="1"/>
          </p:cNvPicPr>
          <p:nvPr/>
        </p:nvPicPr>
        <p:blipFill>
          <a:blip r:embed="rId7"/>
          <a:stretch>
            <a:fillRect/>
          </a:stretch>
        </p:blipFill>
        <p:spPr>
          <a:xfrm>
            <a:off x="4910328" y="2990088"/>
            <a:ext cx="237744" cy="237744"/>
          </a:xfrm>
          <a:prstGeom prst="rect">
            <a:avLst/>
          </a:prstGeom>
        </p:spPr>
      </p:pic>
      <p:sp>
        <p:nvSpPr>
          <p:cNvPr id="32" name="Text 23"/>
          <p:cNvSpPr txBox="1"/>
          <p:nvPr/>
        </p:nvSpPr>
        <p:spPr>
          <a:xfrm>
            <a:off x="4800600" y="345643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Storing passwords</a:t>
            </a:r>
            <a:pPr indent="0" marL="0">
              <a:buNone/>
            </a:pPr>
            <a:r>
              <a:rPr lang="en-US" sz="1200" dirty="0">
                <a:solidFill>
                  <a:srgbClr val="1F2937"/>
                </a:solidFill>
                <a:latin typeface="Calibri" pitchFamily="34" charset="0"/>
                <a:ea typeface="Calibri" pitchFamily="34" charset="-122"/>
                <a:cs typeface="Calibri" pitchFamily="34" charset="-120"/>
              </a:rPr>
              <a:t> – hashing instead of plain text</a:t>
            </a:r>
            <a:endParaRPr lang="en-US" sz="1200" dirty="0"/>
          </a:p>
        </p:txBody>
      </p:sp>
      <p:sp>
        <p:nvSpPr>
          <p:cNvPr id="33" name="Shape 24"/>
          <p:cNvSpPr/>
          <p:nvPr/>
        </p:nvSpPr>
        <p:spPr>
          <a:xfrm>
            <a:off x="6766560" y="2743200"/>
            <a:ext cx="1920240" cy="1325880"/>
          </a:xfrm>
          <a:prstGeom prst="roundRect">
            <a:avLst>
              <a:gd name="adj" fmla="val 5517"/>
            </a:avLst>
          </a:prstGeom>
          <a:solidFill>
            <a:srgbClr val="FBEAEA"/>
          </a:solidFill>
          <a:ln/>
          <a:effectLst>
            <a:outerShdw sx="100000" sy="100000" kx="0" ky="0" algn="bl" rotWithShape="0" blurRad="76200" dist="25400" dir="5400000">
              <a:srgbClr val="000000">
                <a:alpha val="12000"/>
              </a:srgbClr>
            </a:outerShdw>
          </a:effectLst>
        </p:spPr>
      </p:sp>
      <p:sp>
        <p:nvSpPr>
          <p:cNvPr id="34" name="Shape 25"/>
          <p:cNvSpPr/>
          <p:nvPr/>
        </p:nvSpPr>
        <p:spPr>
          <a:xfrm>
            <a:off x="6903720" y="2880360"/>
            <a:ext cx="457200" cy="457200"/>
          </a:xfrm>
          <a:prstGeom prst="ellipse">
            <a:avLst/>
          </a:prstGeom>
          <a:solidFill>
            <a:srgbClr val="B3261E"/>
          </a:solidFill>
          <a:ln/>
        </p:spPr>
      </p:sp>
      <p:pic>
        <p:nvPicPr>
          <p:cNvPr id="35" name="Image 7" descr="preencoded.png">    </p:cNvPr>
          <p:cNvPicPr>
            <a:picLocks noChangeAspect="1"/>
          </p:cNvPicPr>
          <p:nvPr/>
        </p:nvPicPr>
        <p:blipFill>
          <a:blip r:embed="rId8"/>
          <a:stretch>
            <a:fillRect/>
          </a:stretch>
        </p:blipFill>
        <p:spPr>
          <a:xfrm>
            <a:off x="7013448" y="2990088"/>
            <a:ext cx="237744" cy="237744"/>
          </a:xfrm>
          <a:prstGeom prst="rect">
            <a:avLst/>
          </a:prstGeom>
        </p:spPr>
      </p:pic>
      <p:sp>
        <p:nvSpPr>
          <p:cNvPr id="36" name="Text 26"/>
          <p:cNvSpPr txBox="1"/>
          <p:nvPr/>
        </p:nvSpPr>
        <p:spPr>
          <a:xfrm>
            <a:off x="6903720" y="3456432"/>
            <a:ext cx="1664208" cy="566928"/>
          </a:xfrm>
          <a:prstGeom prst="rect">
            <a:avLst/>
          </a:prstGeom>
          <a:noFill/>
          <a:ln/>
        </p:spPr>
        <p:txBody>
          <a:bodyPr wrap="square" lIns="0" tIns="0" rIns="0" bIns="0" rtlCol="0" anchor="t"/>
          <a:lstStyle/>
          <a:p>
            <a:pPr indent="0" marL="0">
              <a:buNone/>
            </a:pPr>
            <a:r>
              <a:rPr lang="en-US" sz="1200" b="1" dirty="0">
                <a:solidFill>
                  <a:srgbClr val="B3261E"/>
                </a:solidFill>
                <a:latin typeface="Calibri" pitchFamily="34" charset="0"/>
                <a:ea typeface="Calibri" pitchFamily="34" charset="-122"/>
                <a:cs typeface="Calibri" pitchFamily="34" charset="-120"/>
              </a:rPr>
              <a:t>Frontend–backend integration</a:t>
            </a:r>
            <a:pPr indent="0" marL="0">
              <a:buNone/>
            </a:pPr>
            <a:r>
              <a:rPr lang="en-US" sz="1200" dirty="0">
                <a:solidFill>
                  <a:srgbClr val="1F2937"/>
                </a:solidFill>
                <a:latin typeface="Calibri" pitchFamily="34" charset="0"/>
                <a:ea typeface="Calibri" pitchFamily="34" charset="-122"/>
                <a:cs typeface="Calibri" pitchFamily="34" charset="-120"/>
              </a:rPr>
              <a:t> – REST API design and testing</a:t>
            </a:r>
            <a:endParaRPr lang="en-US" sz="1200" dirty="0"/>
          </a:p>
        </p:txBody>
      </p:sp>
      <p:sp>
        <p:nvSpPr>
          <p:cNvPr id="37" name="Shape 27"/>
          <p:cNvSpPr/>
          <p:nvPr/>
        </p:nvSpPr>
        <p:spPr>
          <a:xfrm>
            <a:off x="457200" y="4251960"/>
            <a:ext cx="8229600" cy="384048"/>
          </a:xfrm>
          <a:prstGeom prst="roundRect">
            <a:avLst>
              <a:gd name="adj" fmla="val 19048"/>
            </a:avLst>
          </a:prstGeom>
          <a:solidFill>
            <a:srgbClr val="B3261E"/>
          </a:solidFill>
          <a:ln/>
        </p:spPr>
      </p:sp>
      <p:sp>
        <p:nvSpPr>
          <p:cNvPr id="38" name="Text 28"/>
          <p:cNvSpPr txBox="1"/>
          <p:nvPr/>
        </p:nvSpPr>
        <p:spPr>
          <a:xfrm>
            <a:off x="457200" y="4251960"/>
            <a:ext cx="82296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Anticipated challenges  →  planned solutions  (not yet implemented or tested)</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Hostel Management System - Project Review</dc:title>
  <dc:subject>PptxGenJS Presentation</dc:subject>
  <dc:creator>Team 2, Section 13</dc:creator>
  <cp:lastModifiedBy>Team 2, Section 13</cp:lastModifiedBy>
  <cp:revision>1</cp:revision>
  <dcterms:created xsi:type="dcterms:W3CDTF">2026-09-24T05:14:19Z</dcterms:created>
  <dcterms:modified xsi:type="dcterms:W3CDTF">2026-09-24T05:14:19Z</dcterms:modified>
</cp:coreProperties>
</file>